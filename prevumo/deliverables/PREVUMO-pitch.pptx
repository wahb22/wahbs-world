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85bf4e3a-5cef-095a-bf22-0e2ef7eedada}">
          <p14:sldIdLst>
            <p14:sldId id="256"/>
            <p14:sldId id="257"/>
            <p14:sldId id="258"/>
            <p14:sldId id="259"/>
            <p14:sldId id="260"/>
            <p14:sldId id="261"/>
            <p14:sldId id="262"/>
            <p14:sldId id="263"/>
            <p14:sldId id="264"/>
            <p14:sldId id="265"/>
            <p14:sldId id="266"/>
          </p14:sldIdLst>
        </p14:section>
        <p14:section name="Appendix (Q&amp;A)" id="{42d25621-524b-e740-1796-c36d65ecbdae}">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0:00 to 0:20 (20 s, about 45 words)
Speakers: A = [FILL IN], B = [FILL IN], C = [FILL IN], D = [FILL IN], E = [FILL IN].
Picture the welder in your school's makerspace. Expensive. Shared. Booked every single day.
Everyone knows who reserved it. Nobody knows what is happening inside it.
That gap is why we built PREVUMO, the preventive usage monitor. Let me show you what that gap costs.
CUE: click on "what that gap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0:20 to 0:45 (25 s, about 50 words)
A three thousand dollar welder dies on a Tuesday.
[pause]
Nobody saw it coming.
[pause]
The owner can open the booking software and see exactly who booked it that morning. But not what happened to it, and not whether it had been showing warning signs for weeks.
CUE: click on "warning signs for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0:45 to 1:45 (60 s, about 130 words)
More and more makerspaces, university labs and shared kitchens now rent out expensive electric equipment. We talked to the people who run them, and three pains kept coming up.
First, repairs. A makerspace director told us a breakdown costs "hundreds if not thousands of dollars." Industry data puts the average emergency repair call at seven hundred and fifty four dollars.
Second, lost customers. When machines keep breaking, members cancel, and each member is worth six hundred to six thousand dollars to that space.
Third, the blind spot. Booking tools only work, in his words, "when people actually use the software." And no sensor is watching the machine itself. So when it fails, there is no history to learn from.
CUE: click on "no history to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then hand off to B · 1:45 to 2:15 (30 s, about 65 words)
So our customer is the owner or manager of a shared space with costly electric equipment: makerspaces, labs and shared kitchens. Often one owner runs several locations.
Our promise to them fits in one sentence: catch failures before they happen, know who used each machine and how much, and shut it down safely from anywhere.
TRANSITION (A): B, so how do we actually see inside the machine?
B: Let me show you.
CUE: B clicks on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 2:15 to 3:00 (45 s, about 98 words)
It starts with a small box on each machine's power line: a keypad, a current sensor and a relay, run by an ESP32 with Wi-Fi.
A member types their PIN, and only then does the machine power on. While they work, the box measures the current every second and sends it to the PREVUMO cloud.
Over its first week, the app learns that machine's normal curve. When the curve breaks pattern, the owner gets an alert and chooses: shut it down, call a technician, or mark it OK.
And two safety rules: nothing restarts on its own after a shutdown, and fridges are never cut.
CUE: click on "fridges are never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 3:00 to 4:15 (75 s). The video is 67 s with no sound. Click the video to start it, then narrate on the cues in brackets (video time).
Before you click: "Here is the owner app. Everything you'll see works today."
[CLICK THE VIDEO]
[0:00] The owner logs in. uOttawa Engineering has three locations.
[0:06] Three machines are running: one started with a PIN, one unassigned, one booked to a capstone team. Below, the whole day on one timeline.
[0:11] Now Welder 2 starts drawing more than twice its normal current.
[0:15] Within seconds, this banner.
[0:19] Review shows the live curve against this welder's normal range, in green. Orange dots are the irregular points. Third time this month, 74 days since its last service.
[0:26] The owner calls a technician. The best match is preselected, and the machine's history goes with the request.
[0:35] Meanwhile, a 3D printer has been idle for 45 minutes, still drawing power. One tap shuts it down, for good.
[0:46] The owner gives Beta Inc. the laser cutter for this afternoon.
[0:56] And at the end of the day, the report builds itself, per machine and per member, ready to export.
[1:05] That's the loop: warning, decision, record. Scan the QR code to try it yourself.
TRANSITION (B): C, who else is going to want this?
C: Let's talk about the market.
CUE: C clicks on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 4:15 to 5:00 (45 s, about 98 words)
Let's size our first markets.
In Ontario alone, there are thirty one shared-use commercial kitchens, each one full of ovens, mixers and fridges that run all day. And kitchens matter, because restaurants use five to seven times more energy per square foot than other commercial buildings. Idle equipment there is expensive.
The method itself is proven. The U.S. Department of Energy reports that predictive maintenance saves about thirty to forty percent compared with fixing machines after they break.
Our path: start with one makerspace, grow into university networks with several labs, then move into shared kitchens.
[FILL IN: add a sourced makerspace count here if the team finds one; otherwise leave it out.]
CUE: click on "shared kitchens".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then hand off to D · 5:00 to 5:45 (45 s, about 98 words)
So who's already out there? Every competitor knows one piece of the story.
Skedda, from about two hundred and fifty US dollars a month, knows who booked.
Fabman knows who switched the machine on.
Emporia, around two hundred dollars, knows how much energy.
MachineMetrics knows machine health, but it's built for factories, with hardware from about fourteen hundred dollars a kit.
PREVUMO puts who used it, how much, machine health and remote shutdown together, built for shared spaces.
And Skedda can be a partner: a Skedda booking becomes a PIN on our box.
TRANSITION (C): D, so how does this make money?
D: Here's our model.
CUE: D clicks on "our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 5:45 to 6:45 (60 s, about 125 words)
Our business model changed a lot.
On the left is our first canvas, Plan A: a usage tracker that bills members for the electricity they use. On the right is today's canvas, Plan B: safety and predictive maintenance. The orange blocks are the ones that changed.
Revenue is a box at about three hundred dollars per machine, one time, plus a subscription of about twenty five dollars per machine per month. We took the per machine idea from Fabman's pricing. A possible extra is a referral fee on the technician jobs we send out.
To be clear, these prices are assumptions we still have to validate.
Our key partners are electricians and technicians, component suppliers, and booking platforms like Skedda.
[FILL IN: confirm with the team which BMC blocks changed between Plan A and Plan B; the slide highlights value proposition, key partners and revenue streams.]
TRANSITION (D): E, what have we learned so far?
E: More than we expected.
CUE: E clicks on "more than we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 · 6:45 to 7:40 (55 s, about 115 words)
Here's where we are. We reverse engineered three competitors, built two business model canvases, sent forty nine outreach emails to kitchens and makerspaces in Canada, the US and Europe, and ran [FILL IN: N] interviews.
The executive director of an Ontario makerspace told us: "Managing equipment is one of the biggest tasks we have." He also said they are "currently working on a system to track electricity usage on the welders."
So the problem is real. But one of our assumptions failed. Owners don't bill electricity per user, because it's built into membership fees. So we moved our headline from billing to predictive maintenance. Billing stays as a bonus.
[FILL IN: only name the interviewee if he agrees; otherwise keep "Executive Director, Ontario makerspace".]
CUE: click on "Billing stays as a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 · 7:40 to 8:00 (20 s, about 40 words)
Skedda tells you who booked it.
[pause]
PREVUMO tells you who used it, and when it's about to fail.
[pause]
Thank you. We'd love your questions, and you can try the app right now with this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Remote shutdown hardware.
The box's own relay is certified for up to 15 A at 120 V, which covers 3D printers, laser cutters and most bench tools. For 240 V or 3-phase machines like large welders and ovens, the box drives a contactor, installed by a licensed electrician. Before we sell, the box needs CSA certification. Safety rules in software: nothing restarts on its own after a shutdown, and fridges and freezers are never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Learning, privacy, limits.
The AI needs about 7 days of normal use to learn a new machine's current pattern, so alerts switch on after that. Data is private to the owner's account. And electricity data can't see gas equipment, so gas ranges and burners are outside what PREVUMO can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Full validation board.
[FILL IN: success criteria for each row, the interview count, and the result for the second row once the team agrees.]
[FILL IN: confirm the problem wording in each row against the team's board.]
Only the first row's result is stated in our research: owners don't bill electricity per user, so that assumption is invalidated.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Q&amp;A prep. Short answers, then the fuller version.
1. "Why wouldn't owners just use a smart plug?"
A smart plug knows energy and can switch off. It doesn't know who used the machine, because there's no PIN. It doesn't learn the machine's normal pattern, so it can't warn you before a failure. And most plugs are for small 120 V loads, not a welder or an oven.
2. "What about heavy 240 V equipment?"
Our relay is certified up to 15 A at 120 V. For 240 V or 3-phase machines, the box drives a contactor installed by a licensed electrician, and we'd need CSA certification before selling.
3. "Who's liable if a remote shutdown ruins a job?"
The owner makes the call, or sets the rule. Every shutdown is logged with who decided and why, nothing restarts on its own, and fridges are never cut. Before we sell, our terms would set out responsibility, reviewed by a lawyer. [FILL IN if the team has a better answer.]
4. "How does the AI know what normal is?"
It watches each machine for about 7 days of normal use and learns its own current pattern, including duty cycles like an oven's heater. Then it flags sustained changes, a spike, a sag or erratic swings, not one noisy reading. We plan to use the owner's "mark as OK" decisions as feedback.
5. "Why would a not-for-profit makerspace pay $25 per machine?"
That's about $300 per machine per year. One avoided emergency repair call averages $754, and one member kept is worth $600 to $6,000. They could also put only their two or three most expensive machines on it. The price is still an assumption we're testing.
6. "How is this different from Fabman?"
Fabman controls access and knows who switched a machine on. PREVUMO also learns each machine's normal current, flags irregularities before a breakdown, detects idle machines and connects the owner to a technician with the machine's history.
7. "What did the interviews change?"
We started with billing members for the electricity they use. Owners told us they don't bill electricity per user, it's built into membership fees. So we moved the headline to predictive maintenance and kept billing as a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Sources for every number in the deck. Prices for PREVUMO are assumptions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EVUMO Dark">
    <p:bg>
      <p:bgPr>
        <a:solidFill>
          <a:srgbClr val="1F3D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EVUMO Content">
    <p:bg>
      <p:bgPr>
        <a:solidFill>
          <a:srgbClr val="F3EBD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rtlCol="0"/>
          <a:lstStyle>
            <a:lvl1pPr algn="l" indent="0" marL="0">
              <a:buNone/>
              <a:defRPr lang="en-US" sz="3600" b="1" dirty="0">
                <a:solidFill>
                  <a:schemeClr val="tx1"/>
                </a:solidFill>
                <a:latin typeface="Space Grotesk" pitchFamily="34" charset="0"/>
                <a:ea typeface="Space Grotesk" pitchFamily="34" charset="-122"/>
                <a:cs typeface="Space Grotesk" pitchFamily="34" charset="-120"/>
              </a:defRPr>
            </a:lvl1pPr>
          </a:lstStyle>
          <a:p>
            <a:pPr algn="l" indent="0" marL="0">
              <a:buNone/>
            </a:pPr>
            <a:endParaRPr lang="en-US" sz="3600" dirty="0"/>
          </a:p>
        </p:txBody>
      </p:sp>
      <p:sp>
        <p:nvSpPr>
          <p:cNvPr id="3" name="Text 0"/>
          <p:cNvSpPr/>
          <p:nvPr/>
        </p:nvSpPr>
        <p:spPr>
          <a:xfrm>
            <a:off x="685800" y="6355080"/>
            <a:ext cx="2286000" cy="274320"/>
          </a:xfrm>
          <a:prstGeom prst="rect">
            <a:avLst/>
          </a:prstGeom>
          <a:noFill/>
          <a:ln/>
        </p:spPr>
        <p:txBody>
          <a:bodyPr wrap="square" lIns="0" tIns="0" rIns="0" bIns="0" rtlCol="0" anchor="ctr"/>
          <a:lstStyle/>
          <a:p>
            <a:pPr indent="0" marL="0">
              <a:buNone/>
            </a:pPr>
            <a:r>
              <a:rPr lang="en-US" sz="1000" b="1" spc="300" kern="0" dirty="0">
                <a:solidFill>
                  <a:schemeClr val="tx2"/>
                </a:solidFill>
                <a:latin typeface="Space Grotesk" pitchFamily="34" charset="0"/>
                <a:ea typeface="Space Grotesk" pitchFamily="34" charset="-122"/>
                <a:cs typeface="Space Grotesk" pitchFamily="34" charset="-120"/>
              </a:rPr>
              <a:t>PREVUMO</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EVUMO Statement">
    <p:bg>
      <p:bgPr>
        <a:solidFill>
          <a:srgbClr val="F3EBDD"/>
        </a:solidFill>
      </p:bgPr>
    </p:bg>
    <p:spTree>
      <p:nvGrpSpPr>
        <p:cNvPr id="1" name=""/>
        <p:cNvGrpSpPr/>
        <p:nvPr/>
      </p:nvGrpSpPr>
      <p:grpSpPr>
        <a:xfrm>
          <a:off x="0" y="0"/>
          <a:ext cx="0" cy="0"/>
          <a:chOff x="0" y="0"/>
          <a:chExt cx="0" cy="0"/>
        </a:xfrm>
      </p:grpSpPr>
      <p:sp>
        <p:nvSpPr>
          <p:cNvPr id="2" name="Text 0"/>
          <p:cNvSpPr/>
          <p:nvPr/>
        </p:nvSpPr>
        <p:spPr>
          <a:xfrm>
            <a:off x="685800" y="6355080"/>
            <a:ext cx="2286000" cy="274320"/>
          </a:xfrm>
          <a:prstGeom prst="rect">
            <a:avLst/>
          </a:prstGeom>
          <a:noFill/>
          <a:ln/>
        </p:spPr>
        <p:txBody>
          <a:bodyPr wrap="square" lIns="0" tIns="0" rIns="0" bIns="0" rtlCol="0" anchor="ctr"/>
          <a:lstStyle/>
          <a:p>
            <a:pPr indent="0" marL="0">
              <a:buNone/>
            </a:pPr>
            <a:r>
              <a:rPr lang="en-US" sz="1000" b="1" spc="300" kern="0" dirty="0">
                <a:solidFill>
                  <a:schemeClr val="tx2"/>
                </a:solidFill>
                <a:latin typeface="Space Grotesk" pitchFamily="34" charset="0"/>
                <a:ea typeface="Space Grotesk" pitchFamily="34" charset="-122"/>
                <a:cs typeface="Space Grotesk" pitchFamily="34" charset="-120"/>
              </a:rPr>
              <a:t>PREVUMO</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artbeat motif" descr="preencoded.png">    </p:cNvPr>
          <p:cNvPicPr>
            <a:picLocks noChangeAspect="1"/>
          </p:cNvPicPr>
          <p:nvPr/>
        </p:nvPicPr>
        <p:blipFill>
          <a:blip r:embed="rId1"/>
          <a:stretch>
            <a:fillRect/>
          </a:stretch>
        </p:blipFill>
        <p:spPr>
          <a:xfrm>
            <a:off x="0" y="2057400"/>
            <a:ext cx="12191695" cy="2113227"/>
          </a:xfrm>
          <a:prstGeom prst="rect">
            <a:avLst/>
          </a:prstGeom>
        </p:spPr>
      </p:pic>
      <p:sp>
        <p:nvSpPr>
          <p:cNvPr id="3" name="Text 0"/>
          <p:cNvSpPr txBox="1"/>
          <p:nvPr/>
        </p:nvSpPr>
        <p:spPr>
          <a:xfrm>
            <a:off x="685800" y="685800"/>
            <a:ext cx="10058400" cy="1371600"/>
          </a:xfrm>
          <a:prstGeom prst="rect">
            <a:avLst/>
          </a:prstGeom>
          <a:noFill/>
          <a:ln/>
        </p:spPr>
        <p:txBody>
          <a:bodyPr wrap="square" lIns="0" tIns="0" rIns="0" bIns="0" rtlCol="0" anchor="ctr"/>
          <a:lstStyle/>
          <a:p>
            <a:pPr indent="0" marL="0">
              <a:buNone/>
            </a:pPr>
            <a:r>
              <a:rPr lang="en-US" sz="8800" b="1" spc="600" kern="0" dirty="0">
                <a:solidFill>
                  <a:srgbClr val="F3EBDD"/>
                </a:solidFill>
                <a:latin typeface="Space Grotesk" pitchFamily="34" charset="0"/>
                <a:ea typeface="Space Grotesk" pitchFamily="34" charset="-122"/>
                <a:cs typeface="Space Grotesk" pitchFamily="34" charset="-120"/>
              </a:rPr>
              <a:t>PREVUMO</a:t>
            </a:r>
            <a:endParaRPr lang="en-US" sz="8800" dirty="0"/>
          </a:p>
        </p:txBody>
      </p:sp>
      <p:sp>
        <p:nvSpPr>
          <p:cNvPr id="4" name="Text 1"/>
          <p:cNvSpPr txBox="1"/>
          <p:nvPr/>
        </p:nvSpPr>
        <p:spPr>
          <a:xfrm>
            <a:off x="685800" y="4526280"/>
            <a:ext cx="8778240" cy="822960"/>
          </a:xfrm>
          <a:prstGeom prst="rect">
            <a:avLst/>
          </a:prstGeom>
          <a:noFill/>
          <a:ln/>
        </p:spPr>
        <p:txBody>
          <a:bodyPr wrap="square" lIns="0" tIns="0" rIns="0" bIns="0" rtlCol="0" anchor="ctr"/>
          <a:lstStyle/>
          <a:p>
            <a:pPr indent="0" marL="0">
              <a:buNone/>
            </a:pPr>
            <a:r>
              <a:rPr lang="en-US" sz="2600" dirty="0">
                <a:solidFill>
                  <a:srgbClr val="F3EBDD"/>
                </a:solidFill>
                <a:latin typeface="Space Grotesk" pitchFamily="34" charset="0"/>
                <a:ea typeface="Space Grotesk" pitchFamily="34" charset="-122"/>
                <a:cs typeface="Space Grotesk" pitchFamily="34" charset="-120"/>
              </a:rPr>
              <a:t>Know what happened to your machine, and when it's about to fail.</a:t>
            </a:r>
            <a:endParaRPr lang="en-US" sz="2600" dirty="0"/>
          </a:p>
        </p:txBody>
      </p:sp>
      <p:sp>
        <p:nvSpPr>
          <p:cNvPr id="5" name="Text 2"/>
          <p:cNvSpPr txBox="1"/>
          <p:nvPr/>
        </p:nvSpPr>
        <p:spPr>
          <a:xfrm>
            <a:off x="685800" y="1874520"/>
            <a:ext cx="5486400" cy="365760"/>
          </a:xfrm>
          <a:prstGeom prst="rect">
            <a:avLst/>
          </a:prstGeom>
          <a:noFill/>
          <a:ln/>
        </p:spPr>
        <p:txBody>
          <a:bodyPr wrap="square" lIns="0" tIns="0" rIns="0" bIns="0" rtlCol="0" anchor="ctr"/>
          <a:lstStyle/>
          <a:p>
            <a:pPr indent="0" marL="0">
              <a:buNone/>
            </a:pPr>
            <a:r>
              <a:rPr lang="en-US" sz="1300" dirty="0">
                <a:solidFill>
                  <a:srgbClr val="E07A2E"/>
                </a:solidFill>
                <a:latin typeface="JetBrains Mono" pitchFamily="34" charset="0"/>
                <a:ea typeface="JetBrains Mono" pitchFamily="34" charset="-122"/>
                <a:cs typeface="JetBrains Mono" pitchFamily="34" charset="-120"/>
              </a:rPr>
              <a:t>PREVentive Usage MOnitor</a:t>
            </a:r>
            <a:endParaRPr lang="en-US" sz="1300" dirty="0"/>
          </a:p>
        </p:txBody>
      </p:sp>
      <p:sp>
        <p:nvSpPr>
          <p:cNvPr id="6" name="Text 3"/>
          <p:cNvSpPr txBox="1"/>
          <p:nvPr/>
        </p:nvSpPr>
        <p:spPr>
          <a:xfrm>
            <a:off x="685800" y="5989320"/>
            <a:ext cx="8686800" cy="320040"/>
          </a:xfrm>
          <a:prstGeom prst="rect">
            <a:avLst/>
          </a:prstGeom>
          <a:noFill/>
          <a:ln/>
        </p:spPr>
        <p:txBody>
          <a:bodyPr wrap="square" lIns="0" tIns="0" rIns="0" bIns="0" rtlCol="0" anchor="ctr"/>
          <a:lstStyle/>
          <a:p>
            <a:pPr indent="0" marL="0">
              <a:buNone/>
            </a:pPr>
            <a:r>
              <a:rPr lang="en-US" sz="1200" dirty="0">
                <a:solidFill>
                  <a:srgbClr val="D6E4D3"/>
                </a:solidFill>
              </a:rPr>
              <a:t>Jana Mghabghab · Tobi Adebayo · Mohamed Wahb Berguia · Daksh Prabhulal Dholu · Akhil Matta</a:t>
            </a:r>
            <a:endParaRPr lang="en-US" sz="1200" dirty="0"/>
          </a:p>
        </p:txBody>
      </p:sp>
      <p:sp>
        <p:nvSpPr>
          <p:cNvPr id="7" name="Text 4"/>
          <p:cNvSpPr txBox="1"/>
          <p:nvPr/>
        </p:nvSpPr>
        <p:spPr>
          <a:xfrm>
            <a:off x="8503920" y="5989320"/>
            <a:ext cx="3017520" cy="320040"/>
          </a:xfrm>
          <a:prstGeom prst="rect">
            <a:avLst/>
          </a:prstGeom>
          <a:noFill/>
          <a:ln/>
        </p:spPr>
        <p:txBody>
          <a:bodyPr wrap="square" lIns="0" tIns="0" rIns="0" bIns="0" rtlCol="0" anchor="ctr"/>
          <a:lstStyle/>
          <a:p>
            <a:pPr algn="r" indent="0" marL="0">
              <a:buNone/>
            </a:pPr>
            <a:r>
              <a:rPr lang="en-US" sz="1100" dirty="0">
                <a:solidFill>
                  <a:srgbClr val="D6E4D3"/>
                </a:solidFill>
                <a:latin typeface="JetBrains Mono" pitchFamily="34" charset="0"/>
                <a:ea typeface="JetBrains Mono" pitchFamily="34" charset="-122"/>
                <a:cs typeface="JetBrains Mono" pitchFamily="34" charset="-120"/>
              </a:rPr>
              <a:t>GNG4120 · Group 10 · Oct 23,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914400"/>
            <a:ext cx="10789920" cy="2103120"/>
          </a:xfrm>
          <a:prstGeom prst="rect">
            <a:avLst/>
          </a:prstGeom>
          <a:noFill/>
          <a:ln/>
        </p:spPr>
        <p:txBody>
          <a:bodyPr wrap="square" lIns="0" tIns="0" rIns="0" bIns="0" rtlCol="0" anchor="t"/>
          <a:lstStyle/>
          <a:p>
            <a:pPr indent="0" marL="0">
              <a:spcAft>
                <a:spcPts val="400"/>
              </a:spcAft>
              <a:buNone/>
            </a:pPr>
            <a:r>
              <a:rPr lang="en-US" sz="5200" b="1" dirty="0">
                <a:solidFill>
                  <a:schemeClr val="tx1"/>
                </a:solidFill>
                <a:latin typeface="Space Grotesk" pitchFamily="34" charset="0"/>
                <a:ea typeface="Space Grotesk" pitchFamily="34" charset="-122"/>
                <a:cs typeface="Space Grotesk" pitchFamily="34" charset="-120"/>
              </a:rPr>
              <a:t>A </a:t>
            </a:r>
            <a:pPr indent="0" marL="0">
              <a:spcAft>
                <a:spcPts val="400"/>
              </a:spcAft>
              <a:buNone/>
            </a:pPr>
            <a:r>
              <a:rPr lang="en-US" sz="5200" b="1" dirty="0">
                <a:solidFill>
                  <a:schemeClr val="tx1"/>
                </a:solidFill>
                <a:latin typeface="JetBrains Mono" pitchFamily="34" charset="0"/>
                <a:ea typeface="JetBrains Mono" pitchFamily="34" charset="-122"/>
                <a:cs typeface="JetBrains Mono" pitchFamily="34" charset="-120"/>
              </a:rPr>
              <a:t>$3,000</a:t>
            </a:r>
            <a:pPr indent="0" marL="0">
              <a:spcAft>
                <a:spcPts val="400"/>
              </a:spcAft>
              <a:buNone/>
            </a:pPr>
            <a:r>
              <a:rPr lang="en-US" sz="5200" b="1" dirty="0">
                <a:solidFill>
                  <a:schemeClr val="tx1"/>
                </a:solidFill>
                <a:latin typeface="Space Grotesk" pitchFamily="34" charset="0"/>
                <a:ea typeface="Space Grotesk" pitchFamily="34" charset="-122"/>
                <a:cs typeface="Space Grotesk" pitchFamily="34" charset="-120"/>
              </a:rPr>
              <a:t> welder dies on a Tuesday.</a:t>
            </a:r>
            <a:endParaRPr lang="en-US" sz="5200" dirty="0"/>
          </a:p>
          <a:p>
            <a:pPr indent="0" marL="0">
              <a:spcAft>
                <a:spcPts val="400"/>
              </a:spcAft>
              <a:buNone/>
            </a:pPr>
            <a:r>
              <a:rPr lang="en-US" sz="5200" b="1" dirty="0">
                <a:solidFill>
                  <a:srgbClr val="A63D1F"/>
                </a:solidFill>
                <a:latin typeface="Space Grotesk" pitchFamily="34" charset="0"/>
                <a:ea typeface="Space Grotesk" pitchFamily="34" charset="-122"/>
                <a:cs typeface="Space Grotesk" pitchFamily="34" charset="-120"/>
              </a:rPr>
              <a:t>Nobody saw it coming.</a:t>
            </a:r>
            <a:endParaRPr lang="en-US" sz="5200" dirty="0"/>
          </a:p>
        </p:txBody>
      </p:sp>
      <p:pic>
        <p:nvPicPr>
          <p:cNvPr id="3" name="Curve that flatlines" descr="preencoded.png">    </p:cNvPr>
          <p:cNvPicPr>
            <a:picLocks noChangeAspect="1"/>
          </p:cNvPicPr>
          <p:nvPr/>
        </p:nvPicPr>
        <p:blipFill>
          <a:blip r:embed="rId1"/>
          <a:stretch>
            <a:fillRect/>
          </a:stretch>
        </p:blipFill>
        <p:spPr>
          <a:xfrm>
            <a:off x="685800" y="3246120"/>
            <a:ext cx="10789920" cy="1510589"/>
          </a:xfrm>
          <a:prstGeom prst="rect">
            <a:avLst/>
          </a:prstGeom>
        </p:spPr>
      </p:pic>
      <p:sp>
        <p:nvSpPr>
          <p:cNvPr id="4" name="Text 1"/>
          <p:cNvSpPr txBox="1"/>
          <p:nvPr/>
        </p:nvSpPr>
        <p:spPr>
          <a:xfrm>
            <a:off x="685800" y="5120640"/>
            <a:ext cx="10058400" cy="548640"/>
          </a:xfrm>
          <a:prstGeom prst="rect">
            <a:avLst/>
          </a:prstGeom>
          <a:noFill/>
          <a:ln/>
        </p:spPr>
        <p:txBody>
          <a:bodyPr wrap="square" lIns="0" tIns="0" rIns="0" bIns="0" rtlCol="0" anchor="ctr"/>
          <a:lstStyle/>
          <a:p>
            <a:pPr indent="0" marL="0">
              <a:buNone/>
            </a:pPr>
            <a:r>
              <a:rPr lang="en-US" sz="2400" dirty="0">
                <a:solidFill>
                  <a:schemeClr val="tx2"/>
                </a:solidFill>
              </a:rPr>
              <a:t>The owner knows who booked it. Not what happened to it.</a:t>
            </a:r>
            <a:endParaRPr lang="en-US" sz="2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Machines break, and nobody sees it coming</a:t>
            </a:r>
            <a:endParaRPr lang="en-US" sz="3600" dirty="0"/>
          </a:p>
        </p:txBody>
      </p:sp>
      <p:sp>
        <p:nvSpPr>
          <p:cNvPr id="3" name="Text 1"/>
          <p:cNvSpPr txBox="1"/>
          <p:nvPr/>
        </p:nvSpPr>
        <p:spPr>
          <a:xfrm>
            <a:off x="685800" y="1325880"/>
            <a:ext cx="10789920" cy="411480"/>
          </a:xfrm>
          <a:prstGeom prst="rect">
            <a:avLst/>
          </a:prstGeom>
          <a:noFill/>
          <a:ln/>
        </p:spPr>
        <p:txBody>
          <a:bodyPr wrap="square" lIns="0" tIns="0" rIns="0" bIns="0" rtlCol="0" anchor="ctr"/>
          <a:lstStyle/>
          <a:p>
            <a:pPr indent="0" marL="0">
              <a:buNone/>
            </a:pPr>
            <a:r>
              <a:rPr lang="en-US" sz="1700" dirty="0">
                <a:solidFill>
                  <a:schemeClr val="tx2"/>
                </a:solidFill>
              </a:rPr>
              <a:t>More makerspaces, labs and shared kitchens now rent out expensive electric equipment.</a:t>
            </a:r>
            <a:endParaRPr lang="en-US" sz="1700" dirty="0"/>
          </a:p>
        </p:txBody>
      </p:sp>
      <p:sp>
        <p:nvSpPr>
          <p:cNvPr id="4" name="Pain 1"/>
          <p:cNvSpPr/>
          <p:nvPr/>
        </p:nvSpPr>
        <p:spPr>
          <a:xfrm>
            <a:off x="685800" y="2011680"/>
            <a:ext cx="3429000" cy="3611880"/>
          </a:xfrm>
          <a:prstGeom prst="roundRect">
            <a:avLst>
              <a:gd name="adj" fmla="val 3200"/>
            </a:avLst>
          </a:prstGeom>
          <a:solidFill>
            <a:schemeClr val="bg1"/>
          </a:solidFill>
          <a:ln w="9525">
            <a:solidFill>
              <a:srgbClr val="E3D6C0"/>
            </a:solidFill>
            <a:prstDash val="solid"/>
          </a:ln>
        </p:spPr>
      </p:sp>
      <p:pic>
        <p:nvPicPr>
          <p:cNvPr id="5" name="Image 0" descr="preencoded.png">    </p:cNvPr>
          <p:cNvPicPr>
            <a:picLocks noChangeAspect="1"/>
          </p:cNvPicPr>
          <p:nvPr/>
        </p:nvPicPr>
        <p:blipFill>
          <a:blip r:embed="rId1"/>
          <a:stretch>
            <a:fillRect/>
          </a:stretch>
        </p:blipFill>
        <p:spPr>
          <a:xfrm>
            <a:off x="1005840" y="2286000"/>
            <a:ext cx="457200" cy="457200"/>
          </a:xfrm>
          <a:prstGeom prst="rect">
            <a:avLst/>
          </a:prstGeom>
        </p:spPr>
      </p:pic>
      <p:sp>
        <p:nvSpPr>
          <p:cNvPr id="6" name="Text 3"/>
          <p:cNvSpPr txBox="1"/>
          <p:nvPr/>
        </p:nvSpPr>
        <p:spPr>
          <a:xfrm>
            <a:off x="1005840" y="2926080"/>
            <a:ext cx="2926080" cy="822960"/>
          </a:xfrm>
          <a:prstGeom prst="rect">
            <a:avLst/>
          </a:prstGeom>
          <a:noFill/>
          <a:ln/>
        </p:spPr>
        <p:txBody>
          <a:bodyPr wrap="square" lIns="0" tIns="0" rIns="0" bIns="0" rtlCol="0" anchor="ctr">
            <a:normAutofit/>
          </a:bodyPr>
          <a:lstStyle/>
          <a:p>
            <a:pPr indent="0" marL="0">
              <a:buNone/>
            </a:pPr>
            <a:r>
              <a:rPr lang="en-US" sz="4400" dirty="0">
                <a:solidFill>
                  <a:schemeClr val="tx1"/>
                </a:solidFill>
                <a:latin typeface="JetBrains Mono" pitchFamily="34" charset="0"/>
                <a:ea typeface="JetBrains Mono" pitchFamily="34" charset="-122"/>
                <a:cs typeface="JetBrains Mono" pitchFamily="34" charset="-120"/>
              </a:rPr>
              <a:t>$754</a:t>
            </a:r>
            <a:endParaRPr lang="en-US" sz="4400" dirty="0"/>
          </a:p>
        </p:txBody>
      </p:sp>
      <p:sp>
        <p:nvSpPr>
          <p:cNvPr id="7" name="Text 4"/>
          <p:cNvSpPr txBox="1"/>
          <p:nvPr/>
        </p:nvSpPr>
        <p:spPr>
          <a:xfrm>
            <a:off x="10058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Average emergency repair call</a:t>
            </a:r>
            <a:endParaRPr lang="en-US" sz="1800" dirty="0"/>
          </a:p>
        </p:txBody>
      </p:sp>
      <p:sp>
        <p:nvSpPr>
          <p:cNvPr id="8" name="Text 5"/>
          <p:cNvSpPr txBox="1"/>
          <p:nvPr/>
        </p:nvSpPr>
        <p:spPr>
          <a:xfrm>
            <a:off x="10058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“Hundreds if not thousands of dollars” per breakdown, a makerspace director told us</a:t>
            </a:r>
            <a:endParaRPr lang="en-US" sz="1300" dirty="0"/>
          </a:p>
        </p:txBody>
      </p:sp>
      <p:sp>
        <p:nvSpPr>
          <p:cNvPr id="9" name="Pain 2"/>
          <p:cNvSpPr/>
          <p:nvPr/>
        </p:nvSpPr>
        <p:spPr>
          <a:xfrm>
            <a:off x="4343400" y="2011680"/>
            <a:ext cx="3429000" cy="3611880"/>
          </a:xfrm>
          <a:prstGeom prst="roundRect">
            <a:avLst>
              <a:gd name="adj" fmla="val 3200"/>
            </a:avLst>
          </a:prstGeom>
          <a:solidFill>
            <a:schemeClr val="bg1"/>
          </a:solidFill>
          <a:ln w="9525">
            <a:solidFill>
              <a:srgbClr val="E3D6C0"/>
            </a:solidFill>
            <a:prstDash val="solid"/>
          </a:ln>
        </p:spPr>
      </p:sp>
      <p:pic>
        <p:nvPicPr>
          <p:cNvPr id="10" name="Image 1" descr="preencoded.png">    </p:cNvPr>
          <p:cNvPicPr>
            <a:picLocks noChangeAspect="1"/>
          </p:cNvPicPr>
          <p:nvPr/>
        </p:nvPicPr>
        <p:blipFill>
          <a:blip r:embed="rId2"/>
          <a:stretch>
            <a:fillRect/>
          </a:stretch>
        </p:blipFill>
        <p:spPr>
          <a:xfrm>
            <a:off x="4663440" y="2286000"/>
            <a:ext cx="457200" cy="457200"/>
          </a:xfrm>
          <a:prstGeom prst="rect">
            <a:avLst/>
          </a:prstGeom>
        </p:spPr>
      </p:pic>
      <p:sp>
        <p:nvSpPr>
          <p:cNvPr id="11" name="Text 7"/>
          <p:cNvSpPr txBox="1"/>
          <p:nvPr/>
        </p:nvSpPr>
        <p:spPr>
          <a:xfrm>
            <a:off x="4663440" y="2926080"/>
            <a:ext cx="2926080" cy="822960"/>
          </a:xfrm>
          <a:prstGeom prst="rect">
            <a:avLst/>
          </a:prstGeom>
          <a:noFill/>
          <a:ln/>
        </p:spPr>
        <p:txBody>
          <a:bodyPr wrap="square" lIns="0" tIns="0" rIns="0" bIns="0" rtlCol="0" anchor="ctr">
            <a:normAutofit/>
          </a:bodyPr>
          <a:lstStyle/>
          <a:p>
            <a:pPr indent="0" marL="0">
              <a:buNone/>
            </a:pPr>
            <a:r>
              <a:rPr lang="en-US" sz="2600" dirty="0">
                <a:solidFill>
                  <a:schemeClr val="tx1"/>
                </a:solidFill>
                <a:latin typeface="JetBrains Mono" pitchFamily="34" charset="0"/>
                <a:ea typeface="JetBrains Mono" pitchFamily="34" charset="-122"/>
                <a:cs typeface="JetBrains Mono" pitchFamily="34" charset="-120"/>
              </a:rPr>
              <a:t>$600 to $6,000</a:t>
            </a:r>
            <a:endParaRPr lang="en-US" sz="2600" dirty="0"/>
          </a:p>
        </p:txBody>
      </p:sp>
      <p:sp>
        <p:nvSpPr>
          <p:cNvPr id="12" name="Text 8"/>
          <p:cNvSpPr txBox="1"/>
          <p:nvPr/>
        </p:nvSpPr>
        <p:spPr>
          <a:xfrm>
            <a:off x="46634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What each lost member is worth</a:t>
            </a:r>
            <a:endParaRPr lang="en-US" sz="1800" dirty="0"/>
          </a:p>
        </p:txBody>
      </p:sp>
      <p:sp>
        <p:nvSpPr>
          <p:cNvPr id="13" name="Text 9"/>
          <p:cNvSpPr txBox="1"/>
          <p:nvPr/>
        </p:nvSpPr>
        <p:spPr>
          <a:xfrm>
            <a:off x="46634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When machines keep breaking, members cancel</a:t>
            </a:r>
            <a:endParaRPr lang="en-US" sz="1300" dirty="0"/>
          </a:p>
        </p:txBody>
      </p:sp>
      <p:sp>
        <p:nvSpPr>
          <p:cNvPr id="14" name="Pain 3"/>
          <p:cNvSpPr/>
          <p:nvPr/>
        </p:nvSpPr>
        <p:spPr>
          <a:xfrm>
            <a:off x="8001000" y="2011680"/>
            <a:ext cx="3429000" cy="3611880"/>
          </a:xfrm>
          <a:prstGeom prst="roundRect">
            <a:avLst>
              <a:gd name="adj" fmla="val 3200"/>
            </a:avLst>
          </a:prstGeom>
          <a:solidFill>
            <a:schemeClr val="bg1"/>
          </a:solidFill>
          <a:ln w="9525">
            <a:solidFill>
              <a:srgbClr val="E3D6C0"/>
            </a:solidFill>
            <a:prstDash val="solid"/>
          </a:ln>
        </p:spPr>
      </p:sp>
      <p:pic>
        <p:nvPicPr>
          <p:cNvPr id="15" name="Image 2" descr="preencoded.png">    </p:cNvPr>
          <p:cNvPicPr>
            <a:picLocks noChangeAspect="1"/>
          </p:cNvPicPr>
          <p:nvPr/>
        </p:nvPicPr>
        <p:blipFill>
          <a:blip r:embed="rId3"/>
          <a:stretch>
            <a:fillRect/>
          </a:stretch>
        </p:blipFill>
        <p:spPr>
          <a:xfrm>
            <a:off x="8321040" y="2286000"/>
            <a:ext cx="457200" cy="457200"/>
          </a:xfrm>
          <a:prstGeom prst="rect">
            <a:avLst/>
          </a:prstGeom>
        </p:spPr>
      </p:pic>
      <p:sp>
        <p:nvSpPr>
          <p:cNvPr id="16" name="Text 11"/>
          <p:cNvSpPr txBox="1"/>
          <p:nvPr/>
        </p:nvSpPr>
        <p:spPr>
          <a:xfrm>
            <a:off x="8321040" y="2926080"/>
            <a:ext cx="2926080" cy="822960"/>
          </a:xfrm>
          <a:prstGeom prst="rect">
            <a:avLst/>
          </a:prstGeom>
          <a:noFill/>
          <a:ln/>
        </p:spPr>
        <p:txBody>
          <a:bodyPr wrap="square" lIns="0" tIns="0" rIns="0" bIns="0" rtlCol="0" anchor="ctr">
            <a:normAutofit/>
          </a:bodyPr>
          <a:lstStyle/>
          <a:p>
            <a:pPr indent="0" marL="0">
              <a:buNone/>
            </a:pPr>
            <a:r>
              <a:rPr lang="en-US" sz="4400" dirty="0">
                <a:solidFill>
                  <a:schemeClr val="tx1"/>
                </a:solidFill>
                <a:latin typeface="JetBrains Mono" pitchFamily="34" charset="0"/>
                <a:ea typeface="JetBrains Mono" pitchFamily="34" charset="-122"/>
                <a:cs typeface="JetBrains Mono" pitchFamily="34" charset="-120"/>
              </a:rPr>
              <a:t>No history</a:t>
            </a:r>
            <a:endParaRPr lang="en-US" sz="4400" dirty="0"/>
          </a:p>
        </p:txBody>
      </p:sp>
      <p:sp>
        <p:nvSpPr>
          <p:cNvPr id="17" name="Text 12"/>
          <p:cNvSpPr txBox="1"/>
          <p:nvPr/>
        </p:nvSpPr>
        <p:spPr>
          <a:xfrm>
            <a:off x="83210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No sensor sees the warning signs</a:t>
            </a:r>
            <a:endParaRPr lang="en-US" sz="1800" dirty="0"/>
          </a:p>
        </p:txBody>
      </p:sp>
      <p:sp>
        <p:nvSpPr>
          <p:cNvPr id="18" name="Text 13"/>
          <p:cNvSpPr txBox="1"/>
          <p:nvPr/>
        </p:nvSpPr>
        <p:spPr>
          <a:xfrm>
            <a:off x="83210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Booking tools only work “when people actually use the software”</a:t>
            </a:r>
            <a:endParaRPr lang="en-US" sz="1300" dirty="0"/>
          </a:p>
        </p:txBody>
      </p:sp>
      <p:sp>
        <p:nvSpPr>
          <p:cNvPr id="19" name="Source"/>
          <p:cNvSpPr txBox="1"/>
          <p:nvPr/>
        </p:nvSpPr>
        <p:spPr>
          <a:xfrm>
            <a:off x="685800" y="5989320"/>
            <a:ext cx="10789920" cy="274320"/>
          </a:xfrm>
          <a:prstGeom prst="rect">
            <a:avLst/>
          </a:prstGeom>
          <a:noFill/>
          <a:ln/>
        </p:spPr>
        <p:txBody>
          <a:bodyPr wrap="square" lIns="0" tIns="0" rIns="0" bIns="0" rtlCol="0" anchor="ctr"/>
          <a:lstStyle/>
          <a:p>
            <a:pPr indent="0" marL="0">
              <a:buNone/>
            </a:pPr>
            <a:r>
              <a:rPr lang="en-US" sz="1000" dirty="0">
                <a:solidFill>
                  <a:schemeClr val="tx2"/>
                </a:solidFill>
              </a:rPr>
              <a:t>Sources: makerspace director interview (Group 10, 2026); emergency repair call average, 86 Repairs 2024, via Envigilance.</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Who we serve, and what we promise</a:t>
            </a:r>
            <a:endParaRPr lang="en-US" sz="3600" dirty="0"/>
          </a:p>
        </p:txBody>
      </p:sp>
      <p:sp>
        <p:nvSpPr>
          <p:cNvPr id="3" name="Text 1"/>
          <p:cNvSpPr txBox="1"/>
          <p:nvPr/>
        </p:nvSpPr>
        <p:spPr>
          <a:xfrm>
            <a:off x="685800" y="1600200"/>
            <a:ext cx="4754880" cy="914400"/>
          </a:xfrm>
          <a:prstGeom prst="rect">
            <a:avLst/>
          </a:prstGeom>
          <a:noFill/>
          <a:ln/>
        </p:spPr>
        <p:txBody>
          <a:bodyPr wrap="square" lIns="0" tIns="0" rIns="0" bIns="0" rtlCol="0" anchor="t"/>
          <a:lstStyle/>
          <a:p>
            <a:pPr indent="0" marL="0">
              <a:buNone/>
            </a:pPr>
            <a:r>
              <a:rPr lang="en-US" sz="2000" b="1" dirty="0">
                <a:solidFill>
                  <a:schemeClr val="tx1"/>
                </a:solidFill>
                <a:latin typeface="Space Grotesk" pitchFamily="34" charset="0"/>
                <a:ea typeface="Space Grotesk" pitchFamily="34" charset="-122"/>
                <a:cs typeface="Space Grotesk" pitchFamily="34" charset="-120"/>
              </a:rPr>
              <a:t>Owners and managers of shared spaces with costly electric equipment</a:t>
            </a:r>
            <a:endParaRPr lang="en-US" sz="2000" dirty="0"/>
          </a:p>
        </p:txBody>
      </p:sp>
      <p:sp>
        <p:nvSpPr>
          <p:cNvPr id="4" name="Shape 2"/>
          <p:cNvSpPr/>
          <p:nvPr/>
        </p:nvSpPr>
        <p:spPr>
          <a:xfrm>
            <a:off x="685800" y="2743200"/>
            <a:ext cx="640080" cy="640080"/>
          </a:xfrm>
          <a:prstGeom prst="ellipse">
            <a:avLst/>
          </a:prstGeom>
          <a:solidFill>
            <a:schemeClr val="bg1"/>
          </a:solidFill>
          <a:ln w="9525">
            <a:solidFill>
              <a:srgbClr val="E3D6C0"/>
            </a:solidFill>
            <a:prstDash val="solid"/>
          </a:ln>
        </p:spPr>
      </p:sp>
      <p:pic>
        <p:nvPicPr>
          <p:cNvPr id="5" name="Image 0" descr="preencoded.png">    </p:cNvPr>
          <p:cNvPicPr>
            <a:picLocks noChangeAspect="1"/>
          </p:cNvPicPr>
          <p:nvPr/>
        </p:nvPicPr>
        <p:blipFill>
          <a:blip r:embed="rId1"/>
          <a:stretch>
            <a:fillRect/>
          </a:stretch>
        </p:blipFill>
        <p:spPr>
          <a:xfrm>
            <a:off x="822960" y="2880360"/>
            <a:ext cx="365760" cy="365760"/>
          </a:xfrm>
          <a:prstGeom prst="rect">
            <a:avLst/>
          </a:prstGeom>
        </p:spPr>
      </p:pic>
      <p:sp>
        <p:nvSpPr>
          <p:cNvPr id="6" name="Text 3"/>
          <p:cNvSpPr txBox="1"/>
          <p:nvPr/>
        </p:nvSpPr>
        <p:spPr>
          <a:xfrm>
            <a:off x="1508760" y="2743200"/>
            <a:ext cx="3474720" cy="640080"/>
          </a:xfrm>
          <a:prstGeom prst="rect">
            <a:avLst/>
          </a:prstGeom>
          <a:noFill/>
          <a:ln/>
        </p:spPr>
        <p:txBody>
          <a:bodyPr wrap="square" lIns="0" tIns="0" rIns="0" bIns="0" rtlCol="0" anchor="ctr"/>
          <a:lstStyle/>
          <a:p>
            <a:pPr indent="0" marL="0">
              <a:buNone/>
            </a:pPr>
            <a:r>
              <a:rPr lang="en-US" sz="1800" dirty="0">
                <a:solidFill>
                  <a:schemeClr val="tx1"/>
                </a:solidFill>
              </a:rPr>
              <a:t>Makerspaces</a:t>
            </a:r>
            <a:endParaRPr lang="en-US" sz="1800" dirty="0"/>
          </a:p>
        </p:txBody>
      </p:sp>
      <p:sp>
        <p:nvSpPr>
          <p:cNvPr id="7" name="Shape 4"/>
          <p:cNvSpPr/>
          <p:nvPr/>
        </p:nvSpPr>
        <p:spPr>
          <a:xfrm>
            <a:off x="685800" y="3611880"/>
            <a:ext cx="640080" cy="640080"/>
          </a:xfrm>
          <a:prstGeom prst="ellipse">
            <a:avLst/>
          </a:prstGeom>
          <a:solidFill>
            <a:schemeClr val="bg1"/>
          </a:solidFill>
          <a:ln w="9525">
            <a:solidFill>
              <a:srgbClr val="E3D6C0"/>
            </a:solidFill>
            <a:prstDash val="solid"/>
          </a:ln>
        </p:spPr>
      </p:sp>
      <p:pic>
        <p:nvPicPr>
          <p:cNvPr id="8" name="Image 1" descr="preencoded.png">    </p:cNvPr>
          <p:cNvPicPr>
            <a:picLocks noChangeAspect="1"/>
          </p:cNvPicPr>
          <p:nvPr/>
        </p:nvPicPr>
        <p:blipFill>
          <a:blip r:embed="rId2"/>
          <a:stretch>
            <a:fillRect/>
          </a:stretch>
        </p:blipFill>
        <p:spPr>
          <a:xfrm>
            <a:off x="822960" y="3749040"/>
            <a:ext cx="365760" cy="365760"/>
          </a:xfrm>
          <a:prstGeom prst="rect">
            <a:avLst/>
          </a:prstGeom>
        </p:spPr>
      </p:pic>
      <p:sp>
        <p:nvSpPr>
          <p:cNvPr id="9" name="Text 5"/>
          <p:cNvSpPr txBox="1"/>
          <p:nvPr/>
        </p:nvSpPr>
        <p:spPr>
          <a:xfrm>
            <a:off x="1508760" y="3611880"/>
            <a:ext cx="3474720" cy="640080"/>
          </a:xfrm>
          <a:prstGeom prst="rect">
            <a:avLst/>
          </a:prstGeom>
          <a:noFill/>
          <a:ln/>
        </p:spPr>
        <p:txBody>
          <a:bodyPr wrap="square" lIns="0" tIns="0" rIns="0" bIns="0" rtlCol="0" anchor="ctr"/>
          <a:lstStyle/>
          <a:p>
            <a:pPr indent="0" marL="0">
              <a:buNone/>
            </a:pPr>
            <a:r>
              <a:rPr lang="en-US" sz="1800" dirty="0">
                <a:solidFill>
                  <a:schemeClr val="tx1"/>
                </a:solidFill>
              </a:rPr>
              <a:t>University labs</a:t>
            </a:r>
            <a:endParaRPr lang="en-US" sz="1800" dirty="0"/>
          </a:p>
        </p:txBody>
      </p:sp>
      <p:sp>
        <p:nvSpPr>
          <p:cNvPr id="10" name="Shape 6"/>
          <p:cNvSpPr/>
          <p:nvPr/>
        </p:nvSpPr>
        <p:spPr>
          <a:xfrm>
            <a:off x="685800" y="4480560"/>
            <a:ext cx="640080" cy="640080"/>
          </a:xfrm>
          <a:prstGeom prst="ellipse">
            <a:avLst/>
          </a:prstGeom>
          <a:solidFill>
            <a:schemeClr val="bg1"/>
          </a:solidFill>
          <a:ln w="9525">
            <a:solidFill>
              <a:srgbClr val="E3D6C0"/>
            </a:solidFill>
            <a:prstDash val="solid"/>
          </a:ln>
        </p:spPr>
      </p:sp>
      <p:pic>
        <p:nvPicPr>
          <p:cNvPr id="11" name="Image 2" descr="preencoded.png">    </p:cNvPr>
          <p:cNvPicPr>
            <a:picLocks noChangeAspect="1"/>
          </p:cNvPicPr>
          <p:nvPr/>
        </p:nvPicPr>
        <p:blipFill>
          <a:blip r:embed="rId3"/>
          <a:stretch>
            <a:fillRect/>
          </a:stretch>
        </p:blipFill>
        <p:spPr>
          <a:xfrm>
            <a:off x="822960" y="4617720"/>
            <a:ext cx="365760" cy="365760"/>
          </a:xfrm>
          <a:prstGeom prst="rect">
            <a:avLst/>
          </a:prstGeom>
        </p:spPr>
      </p:pic>
      <p:sp>
        <p:nvSpPr>
          <p:cNvPr id="12" name="Text 7"/>
          <p:cNvSpPr txBox="1"/>
          <p:nvPr/>
        </p:nvSpPr>
        <p:spPr>
          <a:xfrm>
            <a:off x="1508760" y="4480560"/>
            <a:ext cx="3474720" cy="640080"/>
          </a:xfrm>
          <a:prstGeom prst="rect">
            <a:avLst/>
          </a:prstGeom>
          <a:noFill/>
          <a:ln/>
        </p:spPr>
        <p:txBody>
          <a:bodyPr wrap="square" lIns="0" tIns="0" rIns="0" bIns="0" rtlCol="0" anchor="ctr"/>
          <a:lstStyle/>
          <a:p>
            <a:pPr indent="0" marL="0">
              <a:buNone/>
            </a:pPr>
            <a:r>
              <a:rPr lang="en-US" sz="1800" dirty="0">
                <a:solidFill>
                  <a:schemeClr val="tx1"/>
                </a:solidFill>
              </a:rPr>
              <a:t>Shared kitchens</a:t>
            </a:r>
            <a:endParaRPr lang="en-US" sz="1800" dirty="0"/>
          </a:p>
        </p:txBody>
      </p:sp>
      <p:sp>
        <p:nvSpPr>
          <p:cNvPr id="13" name="Text 8"/>
          <p:cNvSpPr txBox="1"/>
          <p:nvPr/>
        </p:nvSpPr>
        <p:spPr>
          <a:xfrm>
            <a:off x="685800" y="5440680"/>
            <a:ext cx="4572000" cy="365760"/>
          </a:xfrm>
          <a:prstGeom prst="rect">
            <a:avLst/>
          </a:prstGeom>
          <a:noFill/>
          <a:ln/>
        </p:spPr>
        <p:txBody>
          <a:bodyPr wrap="square" lIns="0" tIns="0" rIns="0" bIns="0" rtlCol="0" anchor="ctr"/>
          <a:lstStyle/>
          <a:p>
            <a:pPr indent="0" marL="0">
              <a:buNone/>
            </a:pPr>
            <a:r>
              <a:rPr lang="en-US" sz="1400" dirty="0">
                <a:solidFill>
                  <a:schemeClr val="tx2"/>
                </a:solidFill>
              </a:rPr>
              <a:t>One owner can run several locations.</a:t>
            </a:r>
            <a:endParaRPr lang="en-US" sz="1400" dirty="0"/>
          </a:p>
        </p:txBody>
      </p:sp>
      <p:sp>
        <p:nvSpPr>
          <p:cNvPr id="14" name="Value proposition"/>
          <p:cNvSpPr/>
          <p:nvPr/>
        </p:nvSpPr>
        <p:spPr>
          <a:xfrm>
            <a:off x="5806440" y="1600200"/>
            <a:ext cx="5669280" cy="4206240"/>
          </a:xfrm>
          <a:prstGeom prst="roundRect">
            <a:avLst>
              <a:gd name="adj" fmla="val 3043"/>
            </a:avLst>
          </a:prstGeom>
          <a:solidFill>
            <a:srgbClr val="1F3D2B"/>
          </a:solidFill>
          <a:ln w="12700">
            <a:solidFill>
              <a:srgbClr val="1F3D2B"/>
            </a:solidFill>
            <a:prstDash val="solid"/>
          </a:ln>
        </p:spPr>
      </p:sp>
      <p:sp>
        <p:nvSpPr>
          <p:cNvPr id="15" name="Text 10"/>
          <p:cNvSpPr txBox="1"/>
          <p:nvPr/>
        </p:nvSpPr>
        <p:spPr>
          <a:xfrm>
            <a:off x="6263640" y="1965960"/>
            <a:ext cx="4754880" cy="320040"/>
          </a:xfrm>
          <a:prstGeom prst="rect">
            <a:avLst/>
          </a:prstGeom>
          <a:noFill/>
          <a:ln/>
        </p:spPr>
        <p:txBody>
          <a:bodyPr wrap="square" lIns="0" tIns="0" rIns="0" bIns="0" rtlCol="0" anchor="ctr"/>
          <a:lstStyle/>
          <a:p>
            <a:pPr indent="0" marL="0">
              <a:buNone/>
            </a:pPr>
            <a:r>
              <a:rPr lang="en-US" sz="1200" dirty="0">
                <a:solidFill>
                  <a:srgbClr val="E07A2E"/>
                </a:solidFill>
                <a:latin typeface="JetBrains Mono" pitchFamily="34" charset="0"/>
                <a:ea typeface="JetBrains Mono" pitchFamily="34" charset="-122"/>
                <a:cs typeface="JetBrains Mono" pitchFamily="34" charset="-120"/>
              </a:rPr>
              <a:t>Value proposition</a:t>
            </a:r>
            <a:endParaRPr lang="en-US" sz="1200" dirty="0"/>
          </a:p>
        </p:txBody>
      </p:sp>
      <p:sp>
        <p:nvSpPr>
          <p:cNvPr id="16" name="Text 11"/>
          <p:cNvSpPr txBox="1"/>
          <p:nvPr/>
        </p:nvSpPr>
        <p:spPr>
          <a:xfrm>
            <a:off x="6263640" y="2468880"/>
            <a:ext cx="4846320" cy="3017520"/>
          </a:xfrm>
          <a:prstGeom prst="rect">
            <a:avLst/>
          </a:prstGeom>
          <a:noFill/>
          <a:ln/>
        </p:spPr>
        <p:txBody>
          <a:bodyPr wrap="square" lIns="0" tIns="0" rIns="0" bIns="0" rtlCol="0" anchor="t"/>
          <a:lstStyle/>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Catch failures before they happen,</a:t>
            </a:r>
            <a:endParaRPr lang="en-US" sz="2800" dirty="0"/>
          </a:p>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know who used each machine and how much,</a:t>
            </a:r>
            <a:endParaRPr lang="en-US" sz="2800" dirty="0"/>
          </a:p>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and shut it down safely from anywhere.</a:t>
            </a:r>
            <a:endParaRPr lang="en-US" sz="2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How it works</a:t>
            </a:r>
            <a:endParaRPr lang="en-US" sz="3600" dirty="0"/>
          </a:p>
        </p:txBody>
      </p:sp>
      <p:sp>
        <p:nvSpPr>
          <p:cNvPr id="3" name="Step 1"/>
          <p:cNvSpPr/>
          <p:nvPr/>
        </p:nvSpPr>
        <p:spPr>
          <a:xfrm>
            <a:off x="685800" y="1463040"/>
            <a:ext cx="2560320" cy="3520440"/>
          </a:xfrm>
          <a:prstGeom prst="roundRect">
            <a:avLst>
              <a:gd name="adj" fmla="val 4286"/>
            </a:avLst>
          </a:prstGeom>
          <a:solidFill>
            <a:schemeClr val="bg1"/>
          </a:solidFill>
          <a:ln w="9525">
            <a:solidFill>
              <a:srgbClr val="E3D6C0"/>
            </a:solidFill>
            <a:prstDash val="solid"/>
          </a:ln>
        </p:spPr>
      </p:sp>
      <p:sp>
        <p:nvSpPr>
          <p:cNvPr id="4" name="Text 2"/>
          <p:cNvSpPr txBox="1"/>
          <p:nvPr/>
        </p:nvSpPr>
        <p:spPr>
          <a:xfrm>
            <a:off x="96012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1</a:t>
            </a:r>
            <a:endParaRPr lang="en-US" sz="1400" dirty="0"/>
          </a:p>
        </p:txBody>
      </p:sp>
      <p:pic>
        <p:nvPicPr>
          <p:cNvPr id="5" name="Image 0" descr="preencoded.png">    </p:cNvPr>
          <p:cNvPicPr>
            <a:picLocks noChangeAspect="1"/>
          </p:cNvPicPr>
          <p:nvPr/>
        </p:nvPicPr>
        <p:blipFill>
          <a:blip r:embed="rId1"/>
          <a:stretch>
            <a:fillRect/>
          </a:stretch>
        </p:blipFill>
        <p:spPr>
          <a:xfrm>
            <a:off x="1399032" y="2011680"/>
            <a:ext cx="1143000" cy="1238250"/>
          </a:xfrm>
          <a:prstGeom prst="rect">
            <a:avLst/>
          </a:prstGeom>
        </p:spPr>
      </p:pic>
      <p:sp>
        <p:nvSpPr>
          <p:cNvPr id="6" name="Text 3"/>
          <p:cNvSpPr txBox="1"/>
          <p:nvPr/>
        </p:nvSpPr>
        <p:spPr>
          <a:xfrm>
            <a:off x="96012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Box on the machine</a:t>
            </a:r>
            <a:endParaRPr lang="en-US" sz="1700" dirty="0"/>
          </a:p>
        </p:txBody>
      </p:sp>
      <p:sp>
        <p:nvSpPr>
          <p:cNvPr id="7" name="Text 4"/>
          <p:cNvSpPr txBox="1"/>
          <p:nvPr/>
        </p:nvSpPr>
        <p:spPr>
          <a:xfrm>
            <a:off x="96012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Keypad, current sensor, relay. ESP32 with Wi‑Fi.</a:t>
            </a:r>
            <a:endParaRPr lang="en-US" sz="1200" dirty="0"/>
          </a:p>
        </p:txBody>
      </p:sp>
      <p:pic>
        <p:nvPicPr>
          <p:cNvPr id="8" name="Image 1" descr="preencoded.png">    </p:cNvPr>
          <p:cNvPicPr>
            <a:picLocks noChangeAspect="1"/>
          </p:cNvPicPr>
          <p:nvPr/>
        </p:nvPicPr>
        <p:blipFill>
          <a:blip r:embed="rId2"/>
          <a:stretch>
            <a:fillRect/>
          </a:stretch>
        </p:blipFill>
        <p:spPr>
          <a:xfrm>
            <a:off x="3282696" y="3063240"/>
            <a:ext cx="164592" cy="164592"/>
          </a:xfrm>
          <a:prstGeom prst="rect">
            <a:avLst/>
          </a:prstGeom>
        </p:spPr>
      </p:pic>
      <p:sp>
        <p:nvSpPr>
          <p:cNvPr id="9" name="Step 2"/>
          <p:cNvSpPr/>
          <p:nvPr/>
        </p:nvSpPr>
        <p:spPr>
          <a:xfrm>
            <a:off x="3474720" y="1463040"/>
            <a:ext cx="2560320" cy="3520440"/>
          </a:xfrm>
          <a:prstGeom prst="roundRect">
            <a:avLst>
              <a:gd name="adj" fmla="val 4286"/>
            </a:avLst>
          </a:prstGeom>
          <a:solidFill>
            <a:schemeClr val="bg1"/>
          </a:solidFill>
          <a:ln w="9525">
            <a:solidFill>
              <a:srgbClr val="E3D6C0"/>
            </a:solidFill>
            <a:prstDash val="solid"/>
          </a:ln>
        </p:spPr>
      </p:sp>
      <p:sp>
        <p:nvSpPr>
          <p:cNvPr id="10" name="Text 6"/>
          <p:cNvSpPr txBox="1"/>
          <p:nvPr/>
        </p:nvSpPr>
        <p:spPr>
          <a:xfrm>
            <a:off x="374904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2</a:t>
            </a:r>
            <a:endParaRPr lang="en-US" sz="1400" dirty="0"/>
          </a:p>
        </p:txBody>
      </p:sp>
      <p:pic>
        <p:nvPicPr>
          <p:cNvPr id="11" name="Image 2" descr="preencoded.png">    </p:cNvPr>
          <p:cNvPicPr>
            <a:picLocks noChangeAspect="1"/>
          </p:cNvPicPr>
          <p:nvPr/>
        </p:nvPicPr>
        <p:blipFill>
          <a:blip r:embed="rId3"/>
          <a:stretch>
            <a:fillRect/>
          </a:stretch>
        </p:blipFill>
        <p:spPr>
          <a:xfrm>
            <a:off x="3977640" y="2331720"/>
            <a:ext cx="685800" cy="685800"/>
          </a:xfrm>
          <a:prstGeom prst="rect">
            <a:avLst/>
          </a:prstGeom>
        </p:spPr>
      </p:pic>
      <p:pic>
        <p:nvPicPr>
          <p:cNvPr id="12" name="Image 3" descr="preencoded.png">    </p:cNvPr>
          <p:cNvPicPr>
            <a:picLocks noChangeAspect="1"/>
          </p:cNvPicPr>
          <p:nvPr/>
        </p:nvPicPr>
        <p:blipFill>
          <a:blip r:embed="rId4"/>
          <a:stretch>
            <a:fillRect/>
          </a:stretch>
        </p:blipFill>
        <p:spPr>
          <a:xfrm>
            <a:off x="4800600" y="2240280"/>
            <a:ext cx="868680" cy="868680"/>
          </a:xfrm>
          <a:prstGeom prst="rect">
            <a:avLst/>
          </a:prstGeom>
        </p:spPr>
      </p:pic>
      <p:sp>
        <p:nvSpPr>
          <p:cNvPr id="13" name="Text 7"/>
          <p:cNvSpPr txBox="1"/>
          <p:nvPr/>
        </p:nvSpPr>
        <p:spPr>
          <a:xfrm>
            <a:off x="374904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Wi‑Fi to the cloud</a:t>
            </a:r>
            <a:endParaRPr lang="en-US" sz="1700" dirty="0"/>
          </a:p>
        </p:txBody>
      </p:sp>
      <p:sp>
        <p:nvSpPr>
          <p:cNvPr id="14" name="Text 8"/>
          <p:cNvSpPr txBox="1"/>
          <p:nvPr/>
        </p:nvSpPr>
        <p:spPr>
          <a:xfrm>
            <a:off x="374904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Every second of current, per session.</a:t>
            </a:r>
            <a:endParaRPr lang="en-US" sz="1200" dirty="0"/>
          </a:p>
        </p:txBody>
      </p:sp>
      <p:pic>
        <p:nvPicPr>
          <p:cNvPr id="15" name="Image 4" descr="preencoded.png">    </p:cNvPr>
          <p:cNvPicPr>
            <a:picLocks noChangeAspect="1"/>
          </p:cNvPicPr>
          <p:nvPr/>
        </p:nvPicPr>
        <p:blipFill>
          <a:blip r:embed="rId5"/>
          <a:stretch>
            <a:fillRect/>
          </a:stretch>
        </p:blipFill>
        <p:spPr>
          <a:xfrm>
            <a:off x="6071616" y="3063240"/>
            <a:ext cx="164592" cy="164592"/>
          </a:xfrm>
          <a:prstGeom prst="rect">
            <a:avLst/>
          </a:prstGeom>
        </p:spPr>
      </p:pic>
      <p:sp>
        <p:nvSpPr>
          <p:cNvPr id="16" name="Step 3"/>
          <p:cNvSpPr/>
          <p:nvPr/>
        </p:nvSpPr>
        <p:spPr>
          <a:xfrm>
            <a:off x="6263640" y="1463040"/>
            <a:ext cx="2560320" cy="3520440"/>
          </a:xfrm>
          <a:prstGeom prst="roundRect">
            <a:avLst>
              <a:gd name="adj" fmla="val 4286"/>
            </a:avLst>
          </a:prstGeom>
          <a:solidFill>
            <a:schemeClr val="bg1"/>
          </a:solidFill>
          <a:ln w="9525">
            <a:solidFill>
              <a:srgbClr val="E3D6C0"/>
            </a:solidFill>
            <a:prstDash val="solid"/>
          </a:ln>
        </p:spPr>
      </p:sp>
      <p:sp>
        <p:nvSpPr>
          <p:cNvPr id="17" name="Text 10"/>
          <p:cNvSpPr txBox="1"/>
          <p:nvPr/>
        </p:nvSpPr>
        <p:spPr>
          <a:xfrm>
            <a:off x="653796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3</a:t>
            </a:r>
            <a:endParaRPr lang="en-US" sz="1400" dirty="0"/>
          </a:p>
        </p:txBody>
      </p:sp>
      <p:pic>
        <p:nvPicPr>
          <p:cNvPr id="18" name="Image 5" descr="preencoded.png">    </p:cNvPr>
          <p:cNvPicPr>
            <a:picLocks noChangeAspect="1"/>
          </p:cNvPicPr>
          <p:nvPr/>
        </p:nvPicPr>
        <p:blipFill>
          <a:blip r:embed="rId6"/>
          <a:stretch>
            <a:fillRect/>
          </a:stretch>
        </p:blipFill>
        <p:spPr>
          <a:xfrm>
            <a:off x="6537960" y="2240280"/>
            <a:ext cx="2011680" cy="1160585"/>
          </a:xfrm>
          <a:prstGeom prst="rect">
            <a:avLst/>
          </a:prstGeom>
        </p:spPr>
      </p:pic>
      <p:sp>
        <p:nvSpPr>
          <p:cNvPr id="19" name="Text 11"/>
          <p:cNvSpPr txBox="1"/>
          <p:nvPr/>
        </p:nvSpPr>
        <p:spPr>
          <a:xfrm>
            <a:off x="653796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Learns its curve</a:t>
            </a:r>
            <a:endParaRPr lang="en-US" sz="1700" dirty="0"/>
          </a:p>
        </p:txBody>
      </p:sp>
      <p:sp>
        <p:nvSpPr>
          <p:cNvPr id="20" name="Text 12"/>
          <p:cNvSpPr txBox="1"/>
          <p:nvPr/>
        </p:nvSpPr>
        <p:spPr>
          <a:xfrm>
            <a:off x="653796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Each machine gets its own normal range.</a:t>
            </a:r>
            <a:endParaRPr lang="en-US" sz="1200" dirty="0"/>
          </a:p>
        </p:txBody>
      </p:sp>
      <p:pic>
        <p:nvPicPr>
          <p:cNvPr id="21" name="Image 6" descr="preencoded.png">    </p:cNvPr>
          <p:cNvPicPr>
            <a:picLocks noChangeAspect="1"/>
          </p:cNvPicPr>
          <p:nvPr/>
        </p:nvPicPr>
        <p:blipFill>
          <a:blip r:embed="rId7"/>
          <a:stretch>
            <a:fillRect/>
          </a:stretch>
        </p:blipFill>
        <p:spPr>
          <a:xfrm>
            <a:off x="8860536" y="3063240"/>
            <a:ext cx="164592" cy="164592"/>
          </a:xfrm>
          <a:prstGeom prst="rect">
            <a:avLst/>
          </a:prstGeom>
        </p:spPr>
      </p:pic>
      <p:sp>
        <p:nvSpPr>
          <p:cNvPr id="22" name="Step 4"/>
          <p:cNvSpPr/>
          <p:nvPr/>
        </p:nvSpPr>
        <p:spPr>
          <a:xfrm>
            <a:off x="9052560" y="1463040"/>
            <a:ext cx="2560320" cy="3520440"/>
          </a:xfrm>
          <a:prstGeom prst="roundRect">
            <a:avLst>
              <a:gd name="adj" fmla="val 4286"/>
            </a:avLst>
          </a:prstGeom>
          <a:solidFill>
            <a:schemeClr val="bg1"/>
          </a:solidFill>
          <a:ln w="9525">
            <a:solidFill>
              <a:srgbClr val="E3D6C0"/>
            </a:solidFill>
            <a:prstDash val="solid"/>
          </a:ln>
        </p:spPr>
      </p:sp>
      <p:sp>
        <p:nvSpPr>
          <p:cNvPr id="23" name="Text 14"/>
          <p:cNvSpPr txBox="1"/>
          <p:nvPr/>
        </p:nvSpPr>
        <p:spPr>
          <a:xfrm>
            <a:off x="932688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4</a:t>
            </a:r>
            <a:endParaRPr lang="en-US" sz="1400" dirty="0"/>
          </a:p>
        </p:txBody>
      </p:sp>
      <p:sp>
        <p:nvSpPr>
          <p:cNvPr id="24" name="Shape 15"/>
          <p:cNvSpPr/>
          <p:nvPr/>
        </p:nvSpPr>
        <p:spPr>
          <a:xfrm>
            <a:off x="10012680" y="2011680"/>
            <a:ext cx="640080" cy="640080"/>
          </a:xfrm>
          <a:prstGeom prst="ellipse">
            <a:avLst/>
          </a:prstGeom>
          <a:solidFill>
            <a:srgbClr val="A63D1F"/>
          </a:solidFill>
          <a:ln w="12700">
            <a:solidFill>
              <a:srgbClr val="A63D1F"/>
            </a:solidFill>
            <a:prstDash val="solid"/>
          </a:ln>
        </p:spPr>
      </p:sp>
      <p:pic>
        <p:nvPicPr>
          <p:cNvPr id="25" name="Image 7" descr="preencoded.png">    </p:cNvPr>
          <p:cNvPicPr>
            <a:picLocks noChangeAspect="1"/>
          </p:cNvPicPr>
          <p:nvPr/>
        </p:nvPicPr>
        <p:blipFill>
          <a:blip r:embed="rId8"/>
          <a:stretch>
            <a:fillRect/>
          </a:stretch>
        </p:blipFill>
        <p:spPr>
          <a:xfrm>
            <a:off x="10149840" y="2148840"/>
            <a:ext cx="365760" cy="365760"/>
          </a:xfrm>
          <a:prstGeom prst="rect">
            <a:avLst/>
          </a:prstGeom>
        </p:spPr>
      </p:pic>
      <p:sp>
        <p:nvSpPr>
          <p:cNvPr id="26" name="Shape 16"/>
          <p:cNvSpPr/>
          <p:nvPr/>
        </p:nvSpPr>
        <p:spPr>
          <a:xfrm>
            <a:off x="9326880" y="2834640"/>
            <a:ext cx="2011680" cy="310896"/>
          </a:xfrm>
          <a:prstGeom prst="roundRect">
            <a:avLst>
              <a:gd name="adj" fmla="val 23529"/>
            </a:avLst>
          </a:prstGeom>
          <a:solidFill>
            <a:srgbClr val="A63D1F"/>
          </a:solidFill>
          <a:ln w="12700">
            <a:solidFill>
              <a:srgbClr val="A63D1F"/>
            </a:solidFill>
            <a:prstDash val="solid"/>
          </a:ln>
        </p:spPr>
      </p:sp>
      <p:sp>
        <p:nvSpPr>
          <p:cNvPr id="27" name="Text 17"/>
          <p:cNvSpPr txBox="1"/>
          <p:nvPr/>
        </p:nvSpPr>
        <p:spPr>
          <a:xfrm>
            <a:off x="9326880" y="2834640"/>
            <a:ext cx="2011680" cy="310896"/>
          </a:xfrm>
          <a:prstGeom prst="rect">
            <a:avLst/>
          </a:prstGeom>
          <a:noFill/>
          <a:ln/>
        </p:spPr>
        <p:txBody>
          <a:bodyPr wrap="square" lIns="0" tIns="0" rIns="0" bIns="0" rtlCol="0" anchor="ctr"/>
          <a:lstStyle/>
          <a:p>
            <a:pPr algn="ctr" indent="0" marL="0">
              <a:buNone/>
            </a:pPr>
            <a:r>
              <a:rPr lang="en-US" sz="1200" b="1" dirty="0">
                <a:solidFill>
                  <a:srgbClr val="FFFDF8"/>
                </a:solidFill>
              </a:rPr>
              <a:t>Shut down</a:t>
            </a:r>
            <a:endParaRPr lang="en-US" sz="1200" dirty="0"/>
          </a:p>
        </p:txBody>
      </p:sp>
      <p:sp>
        <p:nvSpPr>
          <p:cNvPr id="28" name="Shape 18"/>
          <p:cNvSpPr/>
          <p:nvPr/>
        </p:nvSpPr>
        <p:spPr>
          <a:xfrm>
            <a:off x="9326880" y="3218688"/>
            <a:ext cx="2011680" cy="310896"/>
          </a:xfrm>
          <a:prstGeom prst="roundRect">
            <a:avLst>
              <a:gd name="adj" fmla="val 23529"/>
            </a:avLst>
          </a:prstGeom>
          <a:solidFill>
            <a:srgbClr val="2F6B45"/>
          </a:solidFill>
          <a:ln w="12700">
            <a:solidFill>
              <a:srgbClr val="2F6B45"/>
            </a:solidFill>
            <a:prstDash val="solid"/>
          </a:ln>
        </p:spPr>
      </p:sp>
      <p:sp>
        <p:nvSpPr>
          <p:cNvPr id="29" name="Text 19"/>
          <p:cNvSpPr txBox="1"/>
          <p:nvPr/>
        </p:nvSpPr>
        <p:spPr>
          <a:xfrm>
            <a:off x="9326880" y="3218688"/>
            <a:ext cx="2011680" cy="310896"/>
          </a:xfrm>
          <a:prstGeom prst="rect">
            <a:avLst/>
          </a:prstGeom>
          <a:noFill/>
          <a:ln/>
        </p:spPr>
        <p:txBody>
          <a:bodyPr wrap="square" lIns="0" tIns="0" rIns="0" bIns="0" rtlCol="0" anchor="ctr"/>
          <a:lstStyle/>
          <a:p>
            <a:pPr algn="ctr" indent="0" marL="0">
              <a:buNone/>
            </a:pPr>
            <a:r>
              <a:rPr lang="en-US" sz="1200" b="1" dirty="0">
                <a:solidFill>
                  <a:srgbClr val="FFFDF8"/>
                </a:solidFill>
              </a:rPr>
              <a:t>Call technician</a:t>
            </a:r>
            <a:endParaRPr lang="en-US" sz="1200" dirty="0"/>
          </a:p>
        </p:txBody>
      </p:sp>
      <p:sp>
        <p:nvSpPr>
          <p:cNvPr id="30" name="Shape 20"/>
          <p:cNvSpPr/>
          <p:nvPr/>
        </p:nvSpPr>
        <p:spPr>
          <a:xfrm>
            <a:off x="9326880" y="3602736"/>
            <a:ext cx="2011680" cy="310896"/>
          </a:xfrm>
          <a:prstGeom prst="roundRect">
            <a:avLst>
              <a:gd name="adj" fmla="val 23529"/>
            </a:avLst>
          </a:prstGeom>
          <a:solidFill>
            <a:srgbClr val="EDE4D3"/>
          </a:solidFill>
          <a:ln w="12700">
            <a:solidFill>
              <a:srgbClr val="EDE4D3"/>
            </a:solidFill>
            <a:prstDash val="solid"/>
          </a:ln>
        </p:spPr>
      </p:sp>
      <p:sp>
        <p:nvSpPr>
          <p:cNvPr id="31" name="Text 21"/>
          <p:cNvSpPr txBox="1"/>
          <p:nvPr/>
        </p:nvSpPr>
        <p:spPr>
          <a:xfrm>
            <a:off x="9326880" y="3602736"/>
            <a:ext cx="2011680" cy="310896"/>
          </a:xfrm>
          <a:prstGeom prst="rect">
            <a:avLst/>
          </a:prstGeom>
          <a:noFill/>
          <a:ln/>
        </p:spPr>
        <p:txBody>
          <a:bodyPr wrap="square" lIns="0" tIns="0" rIns="0" bIns="0" rtlCol="0" anchor="ctr"/>
          <a:lstStyle/>
          <a:p>
            <a:pPr algn="ctr" indent="0" marL="0">
              <a:buNone/>
            </a:pPr>
            <a:r>
              <a:rPr lang="en-US" sz="1200" b="1" dirty="0">
                <a:solidFill>
                  <a:srgbClr val="1F3D2B"/>
                </a:solidFill>
              </a:rPr>
              <a:t>Mark OK</a:t>
            </a:r>
            <a:endParaRPr lang="en-US" sz="1200" dirty="0"/>
          </a:p>
        </p:txBody>
      </p:sp>
      <p:sp>
        <p:nvSpPr>
          <p:cNvPr id="32" name="Text 22"/>
          <p:cNvSpPr txBox="1"/>
          <p:nvPr/>
        </p:nvSpPr>
        <p:spPr>
          <a:xfrm>
            <a:off x="932688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Owner decides</a:t>
            </a:r>
            <a:endParaRPr lang="en-US" sz="1700" dirty="0"/>
          </a:p>
        </p:txBody>
      </p:sp>
      <p:sp>
        <p:nvSpPr>
          <p:cNvPr id="33" name="Text 23"/>
          <p:cNvSpPr txBox="1"/>
          <p:nvPr/>
        </p:nvSpPr>
        <p:spPr>
          <a:xfrm>
            <a:off x="932688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Alert, then one tap.</a:t>
            </a:r>
            <a:endParaRPr lang="en-US" sz="1200" dirty="0"/>
          </a:p>
        </p:txBody>
      </p:sp>
      <p:pic>
        <p:nvPicPr>
          <p:cNvPr id="34" name="Image 8" descr="preencoded.png">    </p:cNvPr>
          <p:cNvPicPr>
            <a:picLocks noChangeAspect="1"/>
          </p:cNvPicPr>
          <p:nvPr/>
        </p:nvPicPr>
        <p:blipFill>
          <a:blip r:embed="rId9"/>
          <a:stretch>
            <a:fillRect/>
          </a:stretch>
        </p:blipFill>
        <p:spPr>
          <a:xfrm>
            <a:off x="685800" y="5349240"/>
            <a:ext cx="384048" cy="384048"/>
          </a:xfrm>
          <a:prstGeom prst="rect">
            <a:avLst/>
          </a:prstGeom>
        </p:spPr>
      </p:pic>
      <p:sp>
        <p:nvSpPr>
          <p:cNvPr id="35" name="Text 24"/>
          <p:cNvSpPr txBox="1"/>
          <p:nvPr/>
        </p:nvSpPr>
        <p:spPr>
          <a:xfrm>
            <a:off x="1188720" y="5321808"/>
            <a:ext cx="9144000" cy="438912"/>
          </a:xfrm>
          <a:prstGeom prst="rect">
            <a:avLst/>
          </a:prstGeom>
          <a:noFill/>
          <a:ln/>
        </p:spPr>
        <p:txBody>
          <a:bodyPr wrap="square" lIns="0" tIns="0" rIns="0" bIns="0" rtlCol="0" anchor="ctr"/>
          <a:lstStyle/>
          <a:p>
            <a:pPr indent="0" marL="0">
              <a:buNone/>
            </a:pPr>
            <a:r>
              <a:rPr lang="en-US" sz="1700" dirty="0">
                <a:solidFill>
                  <a:schemeClr val="tx1"/>
                </a:solidFill>
              </a:rPr>
              <a:t>Safety: no auto restart after a shutdown, and fridges are never cut.</a:t>
            </a:r>
            <a:endParaRPr lang="en-US" sz="17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The owner app, live</a:t>
            </a:r>
            <a:endParaRPr lang="en-US" sz="3600" dirty="0"/>
          </a:p>
        </p:txBody>
      </p:sp>
      <p:sp>
        <p:nvSpPr>
          <p:cNvPr id="3" name="Video frame"/>
          <p:cNvSpPr/>
          <p:nvPr/>
        </p:nvSpPr>
        <p:spPr>
          <a:xfrm>
            <a:off x="640080" y="1371600"/>
            <a:ext cx="8046720" cy="4566285"/>
          </a:xfrm>
          <a:prstGeom prst="roundRect">
            <a:avLst>
              <a:gd name="adj" fmla="val 2003"/>
            </a:avLst>
          </a:prstGeom>
          <a:solidFill>
            <a:srgbClr val="1F3D2B"/>
          </a:solidFill>
          <a:ln w="12700">
            <a:solidFill>
              <a:srgbClr val="1F3D2B"/>
            </a:solidFill>
            <a:prstDash val="solid"/>
          </a:ln>
        </p:spPr>
      </p:sp>
      <p:pic>
        <p:nvPicPr>
          <p:cNvPr id="3" name="Owner app demo, 67 s, no audi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0" y="1417320"/>
            <a:ext cx="7955280" cy="4474845"/>
          </a:xfrm>
          <a:prstGeom prst="rect">
            <a:avLst/>
          </a:prstGeom>
        </p:spPr>
      </p:pic>
      <p:sp>
        <p:nvSpPr>
          <p:cNvPr id="5" name="Text 2"/>
          <p:cNvSpPr txBox="1"/>
          <p:nvPr/>
        </p:nvSpPr>
        <p:spPr>
          <a:xfrm>
            <a:off x="685800" y="5989320"/>
            <a:ext cx="7315200" cy="274320"/>
          </a:xfrm>
          <a:prstGeom prst="rect">
            <a:avLst/>
          </a:prstGeom>
          <a:noFill/>
          <a:ln/>
        </p:spPr>
        <p:txBody>
          <a:bodyPr wrap="square" lIns="0" tIns="0" rIns="0" bIns="0" rtlCol="0" anchor="ctr"/>
          <a:lstStyle/>
          <a:p>
            <a:pPr indent="0" marL="0">
              <a:buNone/>
            </a:pPr>
            <a:r>
              <a:rPr lang="en-US" sz="1100" dirty="0">
                <a:solidFill>
                  <a:schemeClr val="tx2"/>
                </a:solidFill>
              </a:rPr>
              <a:t>Owner side prototype. Simulated boxes, real flow. Click to play.</a:t>
            </a:r>
            <a:endParaRPr lang="en-US" sz="1100" dirty="0"/>
          </a:p>
        </p:txBody>
      </p:sp>
      <p:sp>
        <p:nvSpPr>
          <p:cNvPr id="6" name="Text 3"/>
          <p:cNvSpPr txBox="1"/>
          <p:nvPr/>
        </p:nvSpPr>
        <p:spPr>
          <a:xfrm>
            <a:off x="9372600" y="1417320"/>
            <a:ext cx="2148840" cy="411480"/>
          </a:xfrm>
          <a:prstGeom prst="rect">
            <a:avLst/>
          </a:prstGeom>
          <a:noFill/>
          <a:ln/>
        </p:spPr>
        <p:txBody>
          <a:bodyPr wrap="square" lIns="0" tIns="0" rIns="0" bIns="0" rtlCol="0" anchor="ctr"/>
          <a:lstStyle/>
          <a:p>
            <a:pPr indent="0" marL="0">
              <a:buNone/>
            </a:pPr>
            <a:r>
              <a:rPr lang="en-US" sz="2000" b="1" dirty="0">
                <a:solidFill>
                  <a:schemeClr val="tx1"/>
                </a:solidFill>
                <a:latin typeface="Space Grotesk" pitchFamily="34" charset="0"/>
                <a:ea typeface="Space Grotesk" pitchFamily="34" charset="-122"/>
                <a:cs typeface="Space Grotesk" pitchFamily="34" charset="-120"/>
              </a:rPr>
              <a:t>Try it yourself</a:t>
            </a:r>
            <a:endParaRPr lang="en-US" sz="2000" dirty="0"/>
          </a:p>
        </p:txBody>
      </p:sp>
      <p:sp>
        <p:nvSpPr>
          <p:cNvPr id="7" name="QR slot"/>
          <p:cNvSpPr/>
          <p:nvPr/>
        </p:nvSpPr>
        <p:spPr>
          <a:xfrm>
            <a:off x="9372600" y="1965960"/>
            <a:ext cx="2103120" cy="2103120"/>
          </a:xfrm>
          <a:prstGeom prst="roundRect">
            <a:avLst>
              <a:gd name="adj" fmla="val 3478"/>
            </a:avLst>
          </a:prstGeom>
          <a:solidFill>
            <a:srgbClr val="FFFDF8"/>
          </a:solidFill>
          <a:ln w="15875">
            <a:solidFill>
              <a:srgbClr val="5B6B5F"/>
            </a:solidFill>
            <a:prstDash val="dash"/>
          </a:ln>
        </p:spPr>
      </p:sp>
      <p:sp>
        <p:nvSpPr>
          <p:cNvPr id="8" name="Text 5"/>
          <p:cNvSpPr txBox="1"/>
          <p:nvPr/>
        </p:nvSpPr>
        <p:spPr>
          <a:xfrm>
            <a:off x="9372600" y="1965960"/>
            <a:ext cx="2103120" cy="2103120"/>
          </a:xfrm>
          <a:prstGeom prst="rect">
            <a:avLst/>
          </a:prstGeom>
          <a:noFill/>
          <a:ln/>
        </p:spPr>
        <p:txBody>
          <a:bodyPr wrap="square" lIns="0" tIns="0" rIns="0" bIns="0" rtlCol="0" anchor="ctr"/>
          <a:lstStyle/>
          <a:p>
            <a:pPr algn="ctr" indent="0" marL="0">
              <a:buNone/>
            </a:pPr>
            <a:r>
              <a:rPr lang="en-US" sz="1000" dirty="0">
                <a:solidFill>
                  <a:srgbClr val="5B6B5F"/>
                </a:solidFill>
                <a:latin typeface="JetBrains Mono" pitchFamily="34" charset="0"/>
                <a:ea typeface="JetBrains Mono" pitchFamily="34" charset="-122"/>
                <a:cs typeface="JetBrains Mono" pitchFamily="34" charset="-120"/>
              </a:rPr>
              <a:t>QR</a:t>
            </a:r>
            <a:endParaRPr lang="en-US" sz="1000" dirty="0"/>
          </a:p>
          <a:p>
            <a:pPr algn="ctr" indent="0" marL="0">
              <a:buNone/>
            </a:pPr>
            <a:r>
              <a:rPr lang="en-US" sz="1000" dirty="0">
                <a:solidFill>
                  <a:srgbClr val="5B6B5F"/>
                </a:solidFill>
                <a:latin typeface="JetBrains Mono" pitchFamily="34" charset="0"/>
                <a:ea typeface="JetBrains Mono" pitchFamily="34" charset="-122"/>
                <a:cs typeface="JetBrains Mono" pitchFamily="34" charset="-120"/>
              </a:rPr>
              <a:t>[LIVE APP URL]</a:t>
            </a:r>
            <a:endParaRPr lang="en-US" sz="1000" dirty="0"/>
          </a:p>
        </p:txBody>
      </p:sp>
      <p:sp>
        <p:nvSpPr>
          <p:cNvPr id="9" name="Text 6"/>
          <p:cNvSpPr txBox="1"/>
          <p:nvPr/>
        </p:nvSpPr>
        <p:spPr>
          <a:xfrm>
            <a:off x="9372600" y="4251960"/>
            <a:ext cx="2148840" cy="1097280"/>
          </a:xfrm>
          <a:prstGeom prst="rect">
            <a:avLst/>
          </a:prstGeom>
          <a:noFill/>
          <a:ln/>
        </p:spPr>
        <p:txBody>
          <a:bodyPr wrap="square" lIns="0" tIns="0" rIns="0" bIns="0" rtlCol="0" anchor="t"/>
          <a:lstStyle/>
          <a:p>
            <a:pPr indent="0" marL="0">
              <a:buNone/>
            </a:pPr>
            <a:r>
              <a:rPr lang="en-US" sz="1300" dirty="0">
                <a:solidFill>
                  <a:schemeClr val="tx2"/>
                </a:solidFill>
              </a:rPr>
              <a:t>Login, alert, technician, idle shutdown, assign, daily report.</a:t>
            </a:r>
            <a:endParaRPr lang="en-US" sz="13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A market that runs on electric equipment</a:t>
            </a:r>
            <a:endParaRPr lang="en-US" sz="3600" dirty="0"/>
          </a:p>
        </p:txBody>
      </p:sp>
      <p:sp>
        <p:nvSpPr>
          <p:cNvPr id="3" name="Text 1"/>
          <p:cNvSpPr txBox="1"/>
          <p:nvPr/>
        </p:nvSpPr>
        <p:spPr>
          <a:xfrm>
            <a:off x="685800" y="1554480"/>
            <a:ext cx="3383280" cy="1097280"/>
          </a:xfrm>
          <a:prstGeom prst="rect">
            <a:avLst/>
          </a:prstGeom>
          <a:noFill/>
          <a:ln/>
        </p:spPr>
        <p:txBody>
          <a:bodyPr wrap="square" lIns="0" tIns="0" rIns="0" bIns="0" rtlCol="0" anchor="b"/>
          <a:lstStyle/>
          <a:p>
            <a:pPr indent="0" marL="0">
              <a:buNone/>
            </a:pPr>
            <a:r>
              <a:rPr lang="en-US" sz="6400" dirty="0">
                <a:solidFill>
                  <a:schemeClr val="tx1"/>
                </a:solidFill>
                <a:latin typeface="JetBrains Mono" pitchFamily="34" charset="0"/>
                <a:ea typeface="JetBrains Mono" pitchFamily="34" charset="-122"/>
                <a:cs typeface="JetBrains Mono" pitchFamily="34" charset="-120"/>
              </a:rPr>
              <a:t>31</a:t>
            </a:r>
            <a:endParaRPr lang="en-US" sz="6400" dirty="0"/>
          </a:p>
        </p:txBody>
      </p:sp>
      <p:sp>
        <p:nvSpPr>
          <p:cNvPr id="4" name="Text 2"/>
          <p:cNvSpPr txBox="1"/>
          <p:nvPr/>
        </p:nvSpPr>
        <p:spPr>
          <a:xfrm>
            <a:off x="6858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shared-use commercial kitchens in Ontario</a:t>
            </a:r>
            <a:endParaRPr lang="en-US" sz="1600" dirty="0"/>
          </a:p>
        </p:txBody>
      </p:sp>
      <p:sp>
        <p:nvSpPr>
          <p:cNvPr id="5" name="Text 3"/>
          <p:cNvSpPr txBox="1"/>
          <p:nvPr/>
        </p:nvSpPr>
        <p:spPr>
          <a:xfrm>
            <a:off x="6858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poidata.io, Aug 2025</a:t>
            </a:r>
            <a:endParaRPr lang="en-US" sz="1000" dirty="0"/>
          </a:p>
        </p:txBody>
      </p:sp>
      <p:sp>
        <p:nvSpPr>
          <p:cNvPr id="6" name="Text 4"/>
          <p:cNvSpPr txBox="1"/>
          <p:nvPr/>
        </p:nvSpPr>
        <p:spPr>
          <a:xfrm>
            <a:off x="4343400" y="1554480"/>
            <a:ext cx="3383280" cy="1097280"/>
          </a:xfrm>
          <a:prstGeom prst="rect">
            <a:avLst/>
          </a:prstGeom>
          <a:noFill/>
          <a:ln/>
        </p:spPr>
        <p:txBody>
          <a:bodyPr wrap="square" lIns="0" tIns="0" rIns="0" bIns="0" rtlCol="0" anchor="b"/>
          <a:lstStyle/>
          <a:p>
            <a:pPr indent="0" marL="0">
              <a:buNone/>
            </a:pPr>
            <a:r>
              <a:rPr lang="en-US" sz="4600" dirty="0">
                <a:solidFill>
                  <a:srgbClr val="2F6B45"/>
                </a:solidFill>
                <a:latin typeface="JetBrains Mono" pitchFamily="34" charset="0"/>
                <a:ea typeface="JetBrains Mono" pitchFamily="34" charset="-122"/>
                <a:cs typeface="JetBrains Mono" pitchFamily="34" charset="-120"/>
              </a:rPr>
              <a:t>30 to 40%</a:t>
            </a:r>
            <a:endParaRPr lang="en-US" sz="4600" dirty="0"/>
          </a:p>
        </p:txBody>
      </p:sp>
      <p:sp>
        <p:nvSpPr>
          <p:cNvPr id="7" name="Text 5"/>
          <p:cNvSpPr txBox="1"/>
          <p:nvPr/>
        </p:nvSpPr>
        <p:spPr>
          <a:xfrm>
            <a:off x="43434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saved by predictive maintenance versus fixing after breakdown</a:t>
            </a:r>
            <a:endParaRPr lang="en-US" sz="1600" dirty="0"/>
          </a:p>
        </p:txBody>
      </p:sp>
      <p:sp>
        <p:nvSpPr>
          <p:cNvPr id="8" name="Text 6"/>
          <p:cNvSpPr txBox="1"/>
          <p:nvPr/>
        </p:nvSpPr>
        <p:spPr>
          <a:xfrm>
            <a:off x="43434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U.S. DOE, O&amp;M Best Practices Guide</a:t>
            </a:r>
            <a:endParaRPr lang="en-US" sz="1000" dirty="0"/>
          </a:p>
        </p:txBody>
      </p:sp>
      <p:sp>
        <p:nvSpPr>
          <p:cNvPr id="9" name="Text 7"/>
          <p:cNvSpPr txBox="1"/>
          <p:nvPr/>
        </p:nvSpPr>
        <p:spPr>
          <a:xfrm>
            <a:off x="8001000" y="1554480"/>
            <a:ext cx="3383280" cy="1097280"/>
          </a:xfrm>
          <a:prstGeom prst="rect">
            <a:avLst/>
          </a:prstGeom>
          <a:noFill/>
          <a:ln/>
        </p:spPr>
        <p:txBody>
          <a:bodyPr wrap="square" lIns="0" tIns="0" rIns="0" bIns="0" rtlCol="0" anchor="b"/>
          <a:lstStyle/>
          <a:p>
            <a:pPr indent="0" marL="0">
              <a:buNone/>
            </a:pPr>
            <a:r>
              <a:rPr lang="en-US" sz="4600" dirty="0">
                <a:solidFill>
                  <a:schemeClr val="tx1"/>
                </a:solidFill>
                <a:latin typeface="JetBrains Mono" pitchFamily="34" charset="0"/>
                <a:ea typeface="JetBrains Mono" pitchFamily="34" charset="-122"/>
                <a:cs typeface="JetBrains Mono" pitchFamily="34" charset="-120"/>
              </a:rPr>
              <a:t>5 to 7×</a:t>
            </a:r>
            <a:endParaRPr lang="en-US" sz="4600" dirty="0"/>
          </a:p>
        </p:txBody>
      </p:sp>
      <p:sp>
        <p:nvSpPr>
          <p:cNvPr id="10" name="Text 8"/>
          <p:cNvSpPr txBox="1"/>
          <p:nvPr/>
        </p:nvSpPr>
        <p:spPr>
          <a:xfrm>
            <a:off x="80010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more energy per sq ft in restaurants than other commercial buildings</a:t>
            </a:r>
            <a:endParaRPr lang="en-US" sz="1600" dirty="0"/>
          </a:p>
        </p:txBody>
      </p:sp>
      <p:sp>
        <p:nvSpPr>
          <p:cNvPr id="11" name="Text 9"/>
          <p:cNvSpPr txBox="1"/>
          <p:nvPr/>
        </p:nvSpPr>
        <p:spPr>
          <a:xfrm>
            <a:off x="80010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ENERGY STAR</a:t>
            </a:r>
            <a:endParaRPr lang="en-US" sz="1000" dirty="0"/>
          </a:p>
        </p:txBody>
      </p:sp>
      <p:pic>
        <p:nvPicPr>
          <p:cNvPr id="12" name="Heartbeat divider" descr="preencoded.png">    </p:cNvPr>
          <p:cNvPicPr>
            <a:picLocks noChangeAspect="1"/>
          </p:cNvPicPr>
          <p:nvPr/>
        </p:nvPicPr>
        <p:blipFill>
          <a:blip r:embed="rId1"/>
          <a:stretch>
            <a:fillRect/>
          </a:stretch>
        </p:blipFill>
        <p:spPr>
          <a:xfrm>
            <a:off x="685800" y="4069080"/>
            <a:ext cx="10789920" cy="539496"/>
          </a:xfrm>
          <a:prstGeom prst="rect">
            <a:avLst/>
          </a:prstGeom>
        </p:spPr>
      </p:pic>
      <p:sp>
        <p:nvSpPr>
          <p:cNvPr id="13" name="Text 10"/>
          <p:cNvSpPr txBox="1"/>
          <p:nvPr/>
        </p:nvSpPr>
        <p:spPr>
          <a:xfrm>
            <a:off x="685800" y="4800600"/>
            <a:ext cx="2743200" cy="320040"/>
          </a:xfrm>
          <a:prstGeom prst="rect">
            <a:avLst/>
          </a:prstGeom>
          <a:noFill/>
          <a:ln/>
        </p:spPr>
        <p:txBody>
          <a:bodyPr wrap="square" lIns="0" tIns="0" rIns="0" bIns="0" rtlCol="0" anchor="ctr"/>
          <a:lstStyle/>
          <a:p>
            <a:pPr indent="0" marL="0">
              <a:buNone/>
            </a:pPr>
            <a:r>
              <a:rPr lang="en-US" sz="1200" dirty="0">
                <a:solidFill>
                  <a:schemeClr val="tx2"/>
                </a:solidFill>
                <a:latin typeface="JetBrains Mono" pitchFamily="34" charset="0"/>
                <a:ea typeface="JetBrains Mono" pitchFamily="34" charset="-122"/>
                <a:cs typeface="JetBrains Mono" pitchFamily="34" charset="-120"/>
              </a:rPr>
              <a:t>Expansion path</a:t>
            </a:r>
            <a:endParaRPr lang="en-US" sz="1200" dirty="0"/>
          </a:p>
        </p:txBody>
      </p:sp>
      <p:sp>
        <p:nvSpPr>
          <p:cNvPr id="14" name="Shape 11"/>
          <p:cNvSpPr/>
          <p:nvPr/>
        </p:nvSpPr>
        <p:spPr>
          <a:xfrm>
            <a:off x="685800" y="5166360"/>
            <a:ext cx="3291840" cy="594360"/>
          </a:xfrm>
          <a:prstGeom prst="roundRect">
            <a:avLst>
              <a:gd name="adj" fmla="val 46154"/>
            </a:avLst>
          </a:prstGeom>
          <a:solidFill>
            <a:srgbClr val="2F6B45"/>
          </a:solidFill>
          <a:ln w="9525">
            <a:solidFill>
              <a:srgbClr val="2F6B45"/>
            </a:solidFill>
            <a:prstDash val="solid"/>
          </a:ln>
        </p:spPr>
      </p:sp>
      <p:sp>
        <p:nvSpPr>
          <p:cNvPr id="15" name="Text 12"/>
          <p:cNvSpPr txBox="1"/>
          <p:nvPr/>
        </p:nvSpPr>
        <p:spPr>
          <a:xfrm>
            <a:off x="914400" y="5166360"/>
            <a:ext cx="2834640" cy="594360"/>
          </a:xfrm>
          <a:prstGeom prst="rect">
            <a:avLst/>
          </a:prstGeom>
          <a:noFill/>
          <a:ln/>
        </p:spPr>
        <p:txBody>
          <a:bodyPr wrap="square" lIns="0" tIns="0" rIns="0" bIns="0" rtlCol="0" anchor="ctr"/>
          <a:lstStyle/>
          <a:p>
            <a:pPr indent="0" marL="0">
              <a:buNone/>
            </a:pPr>
            <a:r>
              <a:rPr lang="en-US" sz="1500" b="1" dirty="0">
                <a:solidFill>
                  <a:srgbClr val="FFFDF8"/>
                </a:solidFill>
              </a:rPr>
              <a:t>One makerspace</a:t>
            </a:r>
            <a:endParaRPr lang="en-US" sz="1500" dirty="0"/>
          </a:p>
        </p:txBody>
      </p:sp>
      <p:pic>
        <p:nvPicPr>
          <p:cNvPr id="16" name="Image 1" descr="preencoded.png">    </p:cNvPr>
          <p:cNvPicPr>
            <a:picLocks noChangeAspect="1"/>
          </p:cNvPicPr>
          <p:nvPr/>
        </p:nvPicPr>
        <p:blipFill>
          <a:blip r:embed="rId2"/>
          <a:stretch>
            <a:fillRect/>
          </a:stretch>
        </p:blipFill>
        <p:spPr>
          <a:xfrm>
            <a:off x="4032504" y="5376672"/>
            <a:ext cx="182880" cy="182880"/>
          </a:xfrm>
          <a:prstGeom prst="rect">
            <a:avLst/>
          </a:prstGeom>
        </p:spPr>
      </p:pic>
      <p:sp>
        <p:nvSpPr>
          <p:cNvPr id="17" name="Shape 13"/>
          <p:cNvSpPr/>
          <p:nvPr/>
        </p:nvSpPr>
        <p:spPr>
          <a:xfrm>
            <a:off x="4343400" y="5166360"/>
            <a:ext cx="3291840" cy="594360"/>
          </a:xfrm>
          <a:prstGeom prst="roundRect">
            <a:avLst>
              <a:gd name="adj" fmla="val 46154"/>
            </a:avLst>
          </a:prstGeom>
          <a:solidFill>
            <a:schemeClr val="bg1"/>
          </a:solidFill>
          <a:ln w="9525">
            <a:solidFill>
              <a:srgbClr val="E3D6C0"/>
            </a:solidFill>
            <a:prstDash val="solid"/>
          </a:ln>
        </p:spPr>
      </p:sp>
      <p:sp>
        <p:nvSpPr>
          <p:cNvPr id="18" name="Text 14"/>
          <p:cNvSpPr txBox="1"/>
          <p:nvPr/>
        </p:nvSpPr>
        <p:spPr>
          <a:xfrm>
            <a:off x="4572000" y="5166360"/>
            <a:ext cx="2834640" cy="594360"/>
          </a:xfrm>
          <a:prstGeom prst="rect">
            <a:avLst/>
          </a:prstGeom>
          <a:noFill/>
          <a:ln/>
        </p:spPr>
        <p:txBody>
          <a:bodyPr wrap="square" lIns="0" tIns="0" rIns="0" bIns="0" rtlCol="0" anchor="ctr"/>
          <a:lstStyle/>
          <a:p>
            <a:pPr indent="0" marL="0">
              <a:buNone/>
            </a:pPr>
            <a:r>
              <a:rPr lang="en-US" sz="1500" dirty="0">
                <a:solidFill>
                  <a:schemeClr val="tx1"/>
                </a:solidFill>
              </a:rPr>
              <a:t>University networks with several labs</a:t>
            </a:r>
            <a:endParaRPr lang="en-US" sz="1500" dirty="0"/>
          </a:p>
        </p:txBody>
      </p:sp>
      <p:pic>
        <p:nvPicPr>
          <p:cNvPr id="19" name="Image 2" descr="preencoded.png">    </p:cNvPr>
          <p:cNvPicPr>
            <a:picLocks noChangeAspect="1"/>
          </p:cNvPicPr>
          <p:nvPr/>
        </p:nvPicPr>
        <p:blipFill>
          <a:blip r:embed="rId3"/>
          <a:stretch>
            <a:fillRect/>
          </a:stretch>
        </p:blipFill>
        <p:spPr>
          <a:xfrm>
            <a:off x="7690104" y="5376672"/>
            <a:ext cx="182880" cy="182880"/>
          </a:xfrm>
          <a:prstGeom prst="rect">
            <a:avLst/>
          </a:prstGeom>
        </p:spPr>
      </p:pic>
      <p:sp>
        <p:nvSpPr>
          <p:cNvPr id="20" name="Shape 15"/>
          <p:cNvSpPr/>
          <p:nvPr/>
        </p:nvSpPr>
        <p:spPr>
          <a:xfrm>
            <a:off x="8001000" y="5166360"/>
            <a:ext cx="3291840" cy="594360"/>
          </a:xfrm>
          <a:prstGeom prst="roundRect">
            <a:avLst>
              <a:gd name="adj" fmla="val 46154"/>
            </a:avLst>
          </a:prstGeom>
          <a:solidFill>
            <a:schemeClr val="bg1"/>
          </a:solidFill>
          <a:ln w="9525">
            <a:solidFill>
              <a:srgbClr val="E3D6C0"/>
            </a:solidFill>
            <a:prstDash val="solid"/>
          </a:ln>
        </p:spPr>
      </p:sp>
      <p:sp>
        <p:nvSpPr>
          <p:cNvPr id="21" name="Text 16"/>
          <p:cNvSpPr txBox="1"/>
          <p:nvPr/>
        </p:nvSpPr>
        <p:spPr>
          <a:xfrm>
            <a:off x="8229600" y="5166360"/>
            <a:ext cx="2834640" cy="594360"/>
          </a:xfrm>
          <a:prstGeom prst="rect">
            <a:avLst/>
          </a:prstGeom>
          <a:noFill/>
          <a:ln/>
        </p:spPr>
        <p:txBody>
          <a:bodyPr wrap="square" lIns="0" tIns="0" rIns="0" bIns="0" rtlCol="0" anchor="ctr"/>
          <a:lstStyle/>
          <a:p>
            <a:pPr indent="0" marL="0">
              <a:buNone/>
            </a:pPr>
            <a:r>
              <a:rPr lang="en-US" sz="1500" dirty="0">
                <a:solidFill>
                  <a:schemeClr val="tx1"/>
                </a:solidFill>
              </a:rPr>
              <a:t>Shared kitchens</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What each one knows</a:t>
            </a:r>
            <a:endParaRPr lang="en-US" sz="3600" dirty="0"/>
          </a:p>
        </p:txBody>
      </p:sp>
      <p:graphicFrame>
        <p:nvGraphicFramePr>
          <p:cNvPr id="9" name="Positioning table"/>
          <p:cNvGraphicFramePr>
            <a:graphicFrameLocks noGrp="1"/>
          </p:cNvGraphicFramePr>
          <p:nvPr>
            <p:extLst>
              <p:ext uri="{D42A27DB-BD31-4B8C-83A1-F6EECF244321}">
                <p14:modId xmlns:p14="http://schemas.microsoft.com/office/powerpoint/2010/main" val="1579011935"/>
              </p:ext>
            </p:extLst>
          </p:nvPr>
        </p:nvGraphicFramePr>
        <p:xfrm>
          <a:off x="685800" y="1463040"/>
          <a:ext cx="10789920" cy="914400"/>
        </p:xfrm>
        <a:graphic>
          <a:graphicData uri="http://schemas.openxmlformats.org/drawingml/2006/table">
            <a:tbl>
              <a:tblPr/>
              <a:tblGrid>
                <a:gridCol w="2011680"/>
                <a:gridCol w="1920240"/>
                <a:gridCol w="3108960"/>
                <a:gridCol w="3749040"/>
              </a:tblGrid>
              <a:tr h="411480">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Price</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What it knows</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Skedda</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Booking</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US$249+ /mo</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Who booked</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Fabman</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Machine access</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€49 to €199 /mo + €10 to €14 per machine</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Who switched it on</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Emporia</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Energy monitor</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~US$200</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How much energy</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MachineMetrics</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Factory monitoring</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~US$1,400+ hardware per kit</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Machine health, for factories only</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658368">
                <a:tc>
                  <a:txBody>
                    <a:bodyPr/>
                    <a:lstStyle/>
                    <a:p>
                      <a:pPr indent="0" marL="0">
                        <a:buNone/>
                      </a:pPr>
                      <a:r>
                        <a:rPr lang="en-US" sz="1400" b="1" dirty="0">
                          <a:solidFill>
                            <a:srgbClr val="FFFDF8"/>
                          </a:solidFill>
                          <a:latin typeface="Space Grotesk" pitchFamily="34" charset="0"/>
                          <a:ea typeface="Space Grotesk" pitchFamily="34" charset="-122"/>
                          <a:cs typeface="Space Grotesk" pitchFamily="34" charset="-120"/>
                        </a:rPr>
                        <a:t>PREVUMO</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400" dirty="0">
                          <a:solidFill>
                            <a:srgbClr val="D6E4D3"/>
                          </a:solidFill>
                          <a:latin typeface="Inter" pitchFamily="34" charset="0"/>
                          <a:ea typeface="Inter" pitchFamily="34" charset="-122"/>
                          <a:cs typeface="Inter" pitchFamily="34" charset="-120"/>
                        </a:rPr>
                        <a:t>Shared spaces</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200" dirty="0">
                          <a:solidFill>
                            <a:srgbClr val="D6E4D3"/>
                          </a:solidFill>
                          <a:latin typeface="JetBrains Mono" pitchFamily="34" charset="0"/>
                          <a:ea typeface="JetBrains Mono" pitchFamily="34" charset="-122"/>
                          <a:cs typeface="JetBrains Mono" pitchFamily="34" charset="-120"/>
                        </a:rPr>
                        <a:t>Assumption, slide 9</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400" b="1" dirty="0">
                          <a:solidFill>
                            <a:srgbClr val="FFFDF8"/>
                          </a:solidFill>
                          <a:latin typeface="Inter" pitchFamily="34" charset="0"/>
                          <a:ea typeface="Inter" pitchFamily="34" charset="-122"/>
                          <a:cs typeface="Inter" pitchFamily="34" charset="-120"/>
                        </a:rPr>
                        <a:t>Who used it + how much + machine health + remote shutdown</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r>
            </a:tbl>
          </a:graphicData>
        </a:graphic>
      </p:graphicFrame>
      <p:sp>
        <p:nvSpPr>
          <p:cNvPr id="4" name="Text 1"/>
          <p:cNvSpPr txBox="1"/>
          <p:nvPr/>
        </p:nvSpPr>
        <p:spPr>
          <a:xfrm>
            <a:off x="685800" y="5120640"/>
            <a:ext cx="10789920" cy="457200"/>
          </a:xfrm>
          <a:prstGeom prst="rect">
            <a:avLst/>
          </a:prstGeom>
          <a:noFill/>
          <a:ln/>
        </p:spPr>
        <p:txBody>
          <a:bodyPr wrap="square" lIns="0" tIns="0" rIns="0" bIns="0" rtlCol="0" anchor="ctr"/>
          <a:lstStyle/>
          <a:p>
            <a:pPr indent="0" marL="0">
              <a:buNone/>
            </a:pPr>
            <a:r>
              <a:rPr lang="en-US" sz="1700" dirty="0">
                <a:solidFill>
                  <a:schemeClr val="tx1"/>
                </a:solidFill>
              </a:rPr>
              <a:t>Skedda could be a partner, not just a competitor: a booking becomes a PIN on our box.</a:t>
            </a:r>
            <a:endParaRPr lang="en-US" sz="1700" dirty="0"/>
          </a:p>
        </p:txBody>
      </p:sp>
      <p:sp>
        <p:nvSpPr>
          <p:cNvPr id="5" name="Source"/>
          <p:cNvSpPr txBox="1"/>
          <p:nvPr/>
        </p:nvSpPr>
        <p:spPr>
          <a:xfrm>
            <a:off x="685800" y="5989320"/>
            <a:ext cx="10789920" cy="274320"/>
          </a:xfrm>
          <a:prstGeom prst="rect">
            <a:avLst/>
          </a:prstGeom>
          <a:noFill/>
          <a:ln/>
        </p:spPr>
        <p:txBody>
          <a:bodyPr wrap="square" lIns="0" tIns="0" rIns="0" bIns="0" rtlCol="0" anchor="ctr"/>
          <a:lstStyle/>
          <a:p>
            <a:pPr indent="0" marL="0">
              <a:buNone/>
            </a:pPr>
            <a:r>
              <a:rPr lang="en-US" sz="1000" dirty="0">
                <a:solidFill>
                  <a:schemeClr val="tx2"/>
                </a:solidFill>
              </a:rPr>
              <a:t>Prices from each company's public pricing, gathered in our competitor research.</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From billing to predictive maintenance</a:t>
            </a:r>
            <a:endParaRPr lang="en-US" sz="3600" dirty="0"/>
          </a:p>
        </p:txBody>
      </p:sp>
      <p:sp>
        <p:nvSpPr>
          <p:cNvPr id="3" name="Text 1"/>
          <p:cNvSpPr txBox="1"/>
          <p:nvPr/>
        </p:nvSpPr>
        <p:spPr>
          <a:xfrm>
            <a:off x="685800" y="1417320"/>
            <a:ext cx="4206240" cy="365760"/>
          </a:xfrm>
          <a:prstGeom prst="rect">
            <a:avLst/>
          </a:prstGeom>
          <a:noFill/>
          <a:ln/>
        </p:spPr>
        <p:txBody>
          <a:bodyPr wrap="square" lIns="0" tIns="0" rIns="0" bIns="0" rtlCol="0" anchor="ctr"/>
          <a:lstStyle/>
          <a:p>
            <a:pPr indent="0" marL="0">
              <a:buNone/>
            </a:pPr>
            <a:r>
              <a:rPr lang="en-US" sz="1800" b="1" dirty="0">
                <a:solidFill>
                  <a:srgbClr val="5B6B5F"/>
                </a:solidFill>
                <a:latin typeface="Space Grotesk" pitchFamily="34" charset="0"/>
                <a:ea typeface="Space Grotesk" pitchFamily="34" charset="-122"/>
                <a:cs typeface="Space Grotesk" pitchFamily="34" charset="-120"/>
              </a:rPr>
              <a:t>Plan A (PD A)</a:t>
            </a:r>
            <a:endParaRPr lang="en-US" sz="1800" dirty="0"/>
          </a:p>
        </p:txBody>
      </p:sp>
      <p:sp>
        <p:nvSpPr>
          <p:cNvPr id="4" name="Text 2"/>
          <p:cNvSpPr txBox="1"/>
          <p:nvPr/>
        </p:nvSpPr>
        <p:spPr>
          <a:xfrm>
            <a:off x="685800" y="1783080"/>
            <a:ext cx="4206240" cy="320040"/>
          </a:xfrm>
          <a:prstGeom prst="rect">
            <a:avLst/>
          </a:prstGeom>
          <a:noFill/>
          <a:ln/>
        </p:spPr>
        <p:txBody>
          <a:bodyPr wrap="square" lIns="0" tIns="0" rIns="0" bIns="0" rtlCol="0" anchor="ctr"/>
          <a:lstStyle/>
          <a:p>
            <a:pPr indent="0" marL="0">
              <a:buNone/>
            </a:pPr>
            <a:r>
              <a:rPr lang="en-US" sz="1300" dirty="0">
                <a:solidFill>
                  <a:srgbClr val="5B6B5F"/>
                </a:solidFill>
              </a:rPr>
              <a:t>Usage tracker and billing</a:t>
            </a:r>
            <a:endParaRPr lang="en-US" sz="1300" dirty="0"/>
          </a:p>
        </p:txBody>
      </p:sp>
      <p:sp>
        <p:nvSpPr>
          <p:cNvPr id="5" name="Shape 3"/>
          <p:cNvSpPr/>
          <p:nvPr/>
        </p:nvSpPr>
        <p:spPr>
          <a:xfrm>
            <a:off x="685800" y="2240280"/>
            <a:ext cx="841248" cy="1615440"/>
          </a:xfrm>
          <a:prstGeom prst="rect">
            <a:avLst/>
          </a:prstGeom>
          <a:solidFill>
            <a:srgbClr val="EDE4D3"/>
          </a:solidFill>
          <a:ln w="9525">
            <a:solidFill>
              <a:srgbClr val="E3D6C0"/>
            </a:solidFill>
            <a:prstDash val="solid"/>
          </a:ln>
        </p:spPr>
      </p:sp>
      <p:sp>
        <p:nvSpPr>
          <p:cNvPr id="6" name="Text 4"/>
          <p:cNvSpPr txBox="1"/>
          <p:nvPr/>
        </p:nvSpPr>
        <p:spPr>
          <a:xfrm>
            <a:off x="758952"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Partners</a:t>
            </a:r>
            <a:endParaRPr lang="en-US" sz="1000" dirty="0"/>
          </a:p>
        </p:txBody>
      </p:sp>
      <p:sp>
        <p:nvSpPr>
          <p:cNvPr id="7" name="Shape 5"/>
          <p:cNvSpPr/>
          <p:nvPr/>
        </p:nvSpPr>
        <p:spPr>
          <a:xfrm>
            <a:off x="1527048" y="2240280"/>
            <a:ext cx="841248" cy="807720"/>
          </a:xfrm>
          <a:prstGeom prst="rect">
            <a:avLst/>
          </a:prstGeom>
          <a:solidFill>
            <a:srgbClr val="EDE4D3"/>
          </a:solidFill>
          <a:ln w="9525">
            <a:solidFill>
              <a:srgbClr val="E3D6C0"/>
            </a:solidFill>
            <a:prstDash val="solid"/>
          </a:ln>
        </p:spPr>
      </p:sp>
      <p:sp>
        <p:nvSpPr>
          <p:cNvPr id="8" name="Text 6"/>
          <p:cNvSpPr txBox="1"/>
          <p:nvPr/>
        </p:nvSpPr>
        <p:spPr>
          <a:xfrm>
            <a:off x="1600200"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Activities</a:t>
            </a:r>
            <a:endParaRPr lang="en-US" sz="1000" dirty="0"/>
          </a:p>
        </p:txBody>
      </p:sp>
      <p:sp>
        <p:nvSpPr>
          <p:cNvPr id="9" name="Shape 7"/>
          <p:cNvSpPr/>
          <p:nvPr/>
        </p:nvSpPr>
        <p:spPr>
          <a:xfrm>
            <a:off x="1527048" y="3048000"/>
            <a:ext cx="841248" cy="807720"/>
          </a:xfrm>
          <a:prstGeom prst="rect">
            <a:avLst/>
          </a:prstGeom>
          <a:solidFill>
            <a:srgbClr val="EDE4D3"/>
          </a:solidFill>
          <a:ln w="9525">
            <a:solidFill>
              <a:srgbClr val="E3D6C0"/>
            </a:solidFill>
            <a:prstDash val="solid"/>
          </a:ln>
        </p:spPr>
      </p:sp>
      <p:sp>
        <p:nvSpPr>
          <p:cNvPr id="10" name="Text 8"/>
          <p:cNvSpPr txBox="1"/>
          <p:nvPr/>
        </p:nvSpPr>
        <p:spPr>
          <a:xfrm>
            <a:off x="1600200" y="3112008"/>
            <a:ext cx="694944" cy="457200"/>
          </a:xfrm>
          <a:prstGeom prst="rect">
            <a:avLst/>
          </a:prstGeom>
          <a:noFill/>
          <a:ln/>
        </p:spPr>
        <p:txBody>
          <a:bodyPr wrap="square" lIns="0" tIns="0" rIns="0" bIns="0" rtlCol="0" anchor="t"/>
          <a:lstStyle/>
          <a:p>
            <a:pPr indent="0" marL="0">
              <a:buNone/>
            </a:pPr>
            <a:r>
              <a:rPr lang="en-US" sz="1000" dirty="0">
                <a:solidFill>
                  <a:srgbClr val="5B6B5F"/>
                </a:solidFill>
              </a:rPr>
              <a:t>Resources</a:t>
            </a:r>
            <a:endParaRPr lang="en-US" sz="1000" dirty="0"/>
          </a:p>
        </p:txBody>
      </p:sp>
      <p:sp>
        <p:nvSpPr>
          <p:cNvPr id="11" name="Shape 9"/>
          <p:cNvSpPr/>
          <p:nvPr/>
        </p:nvSpPr>
        <p:spPr>
          <a:xfrm>
            <a:off x="2368296" y="2240280"/>
            <a:ext cx="841248" cy="1615440"/>
          </a:xfrm>
          <a:prstGeom prst="rect">
            <a:avLst/>
          </a:prstGeom>
          <a:solidFill>
            <a:srgbClr val="EDE4D3"/>
          </a:solidFill>
          <a:ln w="9525">
            <a:solidFill>
              <a:srgbClr val="E3D6C0"/>
            </a:solidFill>
            <a:prstDash val="solid"/>
          </a:ln>
        </p:spPr>
      </p:sp>
      <p:sp>
        <p:nvSpPr>
          <p:cNvPr id="12" name="Text 10"/>
          <p:cNvSpPr txBox="1"/>
          <p:nvPr/>
        </p:nvSpPr>
        <p:spPr>
          <a:xfrm>
            <a:off x="2441448"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Value</a:t>
            </a:r>
            <a:endParaRPr lang="en-US" sz="1000" dirty="0"/>
          </a:p>
        </p:txBody>
      </p:sp>
      <p:sp>
        <p:nvSpPr>
          <p:cNvPr id="13" name="Shape 11"/>
          <p:cNvSpPr/>
          <p:nvPr/>
        </p:nvSpPr>
        <p:spPr>
          <a:xfrm>
            <a:off x="3209544" y="2240280"/>
            <a:ext cx="841248" cy="807720"/>
          </a:xfrm>
          <a:prstGeom prst="rect">
            <a:avLst/>
          </a:prstGeom>
          <a:solidFill>
            <a:srgbClr val="EDE4D3"/>
          </a:solidFill>
          <a:ln w="9525">
            <a:solidFill>
              <a:srgbClr val="E3D6C0"/>
            </a:solidFill>
            <a:prstDash val="solid"/>
          </a:ln>
        </p:spPr>
      </p:sp>
      <p:sp>
        <p:nvSpPr>
          <p:cNvPr id="14" name="Text 12"/>
          <p:cNvSpPr txBox="1"/>
          <p:nvPr/>
        </p:nvSpPr>
        <p:spPr>
          <a:xfrm>
            <a:off x="3282696"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Relations</a:t>
            </a:r>
            <a:endParaRPr lang="en-US" sz="1000" dirty="0"/>
          </a:p>
        </p:txBody>
      </p:sp>
      <p:sp>
        <p:nvSpPr>
          <p:cNvPr id="15" name="Shape 13"/>
          <p:cNvSpPr/>
          <p:nvPr/>
        </p:nvSpPr>
        <p:spPr>
          <a:xfrm>
            <a:off x="3209544" y="3048000"/>
            <a:ext cx="841248" cy="807720"/>
          </a:xfrm>
          <a:prstGeom prst="rect">
            <a:avLst/>
          </a:prstGeom>
          <a:solidFill>
            <a:srgbClr val="EDE4D3"/>
          </a:solidFill>
          <a:ln w="9525">
            <a:solidFill>
              <a:srgbClr val="E3D6C0"/>
            </a:solidFill>
            <a:prstDash val="solid"/>
          </a:ln>
        </p:spPr>
      </p:sp>
      <p:sp>
        <p:nvSpPr>
          <p:cNvPr id="16" name="Text 14"/>
          <p:cNvSpPr txBox="1"/>
          <p:nvPr/>
        </p:nvSpPr>
        <p:spPr>
          <a:xfrm>
            <a:off x="3282696" y="3112008"/>
            <a:ext cx="694944" cy="457200"/>
          </a:xfrm>
          <a:prstGeom prst="rect">
            <a:avLst/>
          </a:prstGeom>
          <a:noFill/>
          <a:ln/>
        </p:spPr>
        <p:txBody>
          <a:bodyPr wrap="square" lIns="0" tIns="0" rIns="0" bIns="0" rtlCol="0" anchor="t"/>
          <a:lstStyle/>
          <a:p>
            <a:pPr indent="0" marL="0">
              <a:buNone/>
            </a:pPr>
            <a:r>
              <a:rPr lang="en-US" sz="1000" dirty="0">
                <a:solidFill>
                  <a:srgbClr val="5B6B5F"/>
                </a:solidFill>
              </a:rPr>
              <a:t>Channels</a:t>
            </a:r>
            <a:endParaRPr lang="en-US" sz="1000" dirty="0"/>
          </a:p>
        </p:txBody>
      </p:sp>
      <p:sp>
        <p:nvSpPr>
          <p:cNvPr id="17" name="Shape 15"/>
          <p:cNvSpPr/>
          <p:nvPr/>
        </p:nvSpPr>
        <p:spPr>
          <a:xfrm>
            <a:off x="4050792" y="2240280"/>
            <a:ext cx="841248" cy="1615440"/>
          </a:xfrm>
          <a:prstGeom prst="rect">
            <a:avLst/>
          </a:prstGeom>
          <a:solidFill>
            <a:srgbClr val="EDE4D3"/>
          </a:solidFill>
          <a:ln w="9525">
            <a:solidFill>
              <a:srgbClr val="E3D6C0"/>
            </a:solidFill>
            <a:prstDash val="solid"/>
          </a:ln>
        </p:spPr>
      </p:sp>
      <p:sp>
        <p:nvSpPr>
          <p:cNvPr id="18" name="Text 16"/>
          <p:cNvSpPr txBox="1"/>
          <p:nvPr/>
        </p:nvSpPr>
        <p:spPr>
          <a:xfrm>
            <a:off x="4123944"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Segments</a:t>
            </a:r>
            <a:endParaRPr lang="en-US" sz="1000" dirty="0"/>
          </a:p>
        </p:txBody>
      </p:sp>
      <p:sp>
        <p:nvSpPr>
          <p:cNvPr id="19" name="Shape 17"/>
          <p:cNvSpPr/>
          <p:nvPr/>
        </p:nvSpPr>
        <p:spPr>
          <a:xfrm>
            <a:off x="685800" y="3855720"/>
            <a:ext cx="2103120" cy="807720"/>
          </a:xfrm>
          <a:prstGeom prst="rect">
            <a:avLst/>
          </a:prstGeom>
          <a:solidFill>
            <a:srgbClr val="EDE4D3"/>
          </a:solidFill>
          <a:ln w="9525">
            <a:solidFill>
              <a:srgbClr val="E3D6C0"/>
            </a:solidFill>
            <a:prstDash val="solid"/>
          </a:ln>
        </p:spPr>
      </p:sp>
      <p:sp>
        <p:nvSpPr>
          <p:cNvPr id="20" name="Text 18"/>
          <p:cNvSpPr txBox="1"/>
          <p:nvPr/>
        </p:nvSpPr>
        <p:spPr>
          <a:xfrm>
            <a:off x="758952" y="3919728"/>
            <a:ext cx="1956816" cy="457200"/>
          </a:xfrm>
          <a:prstGeom prst="rect">
            <a:avLst/>
          </a:prstGeom>
          <a:noFill/>
          <a:ln/>
        </p:spPr>
        <p:txBody>
          <a:bodyPr wrap="square" lIns="0" tIns="0" rIns="0" bIns="0" rtlCol="0" anchor="t"/>
          <a:lstStyle/>
          <a:p>
            <a:pPr indent="0" marL="0">
              <a:buNone/>
            </a:pPr>
            <a:r>
              <a:rPr lang="en-US" sz="1000" dirty="0">
                <a:solidFill>
                  <a:srgbClr val="5B6B5F"/>
                </a:solidFill>
              </a:rPr>
              <a:t>Costs</a:t>
            </a:r>
            <a:endParaRPr lang="en-US" sz="1000" dirty="0"/>
          </a:p>
        </p:txBody>
      </p:sp>
      <p:sp>
        <p:nvSpPr>
          <p:cNvPr id="21" name="Shape 19"/>
          <p:cNvSpPr/>
          <p:nvPr/>
        </p:nvSpPr>
        <p:spPr>
          <a:xfrm>
            <a:off x="2788920" y="3855720"/>
            <a:ext cx="2103120" cy="807720"/>
          </a:xfrm>
          <a:prstGeom prst="rect">
            <a:avLst/>
          </a:prstGeom>
          <a:solidFill>
            <a:srgbClr val="EDE4D3"/>
          </a:solidFill>
          <a:ln w="9525">
            <a:solidFill>
              <a:srgbClr val="E3D6C0"/>
            </a:solidFill>
            <a:prstDash val="solid"/>
          </a:ln>
        </p:spPr>
      </p:sp>
      <p:sp>
        <p:nvSpPr>
          <p:cNvPr id="22" name="Text 20"/>
          <p:cNvSpPr txBox="1"/>
          <p:nvPr/>
        </p:nvSpPr>
        <p:spPr>
          <a:xfrm>
            <a:off x="2862072" y="3919728"/>
            <a:ext cx="1956816" cy="457200"/>
          </a:xfrm>
          <a:prstGeom prst="rect">
            <a:avLst/>
          </a:prstGeom>
          <a:noFill/>
          <a:ln/>
        </p:spPr>
        <p:txBody>
          <a:bodyPr wrap="square" lIns="0" tIns="0" rIns="0" bIns="0" rtlCol="0" anchor="t"/>
          <a:lstStyle/>
          <a:p>
            <a:pPr indent="0" marL="0">
              <a:buNone/>
            </a:pPr>
            <a:r>
              <a:rPr lang="en-US" sz="1000" dirty="0">
                <a:solidFill>
                  <a:srgbClr val="5B6B5F"/>
                </a:solidFill>
              </a:rPr>
              <a:t>Revenue</a:t>
            </a:r>
            <a:endParaRPr lang="en-US" sz="1000" dirty="0"/>
          </a:p>
        </p:txBody>
      </p:sp>
      <p:sp>
        <p:nvSpPr>
          <p:cNvPr id="23" name="Text 21"/>
          <p:cNvSpPr txBox="1"/>
          <p:nvPr/>
        </p:nvSpPr>
        <p:spPr>
          <a:xfrm>
            <a:off x="5257800" y="1417320"/>
            <a:ext cx="4206240" cy="365760"/>
          </a:xfrm>
          <a:prstGeom prst="rect">
            <a:avLst/>
          </a:prstGeom>
          <a:noFill/>
          <a:ln/>
        </p:spPr>
        <p:txBody>
          <a:bodyPr wrap="square" lIns="0" tIns="0" rIns="0" bIns="0" rtlCol="0" anchor="ctr"/>
          <a:lstStyle/>
          <a:p>
            <a:pPr indent="0" marL="0">
              <a:buNone/>
            </a:pPr>
            <a:r>
              <a:rPr lang="en-US" sz="1800" b="1" dirty="0">
                <a:solidFill>
                  <a:srgbClr val="1F3D2B"/>
                </a:solidFill>
                <a:latin typeface="Space Grotesk" pitchFamily="34" charset="0"/>
                <a:ea typeface="Space Grotesk" pitchFamily="34" charset="-122"/>
                <a:cs typeface="Space Grotesk" pitchFamily="34" charset="-120"/>
              </a:rPr>
              <a:t>Plan B (now)</a:t>
            </a:r>
            <a:endParaRPr lang="en-US" sz="1800" dirty="0"/>
          </a:p>
        </p:txBody>
      </p:sp>
      <p:sp>
        <p:nvSpPr>
          <p:cNvPr id="24" name="Text 22"/>
          <p:cNvSpPr txBox="1"/>
          <p:nvPr/>
        </p:nvSpPr>
        <p:spPr>
          <a:xfrm>
            <a:off x="5257800" y="1783080"/>
            <a:ext cx="4206240" cy="320040"/>
          </a:xfrm>
          <a:prstGeom prst="rect">
            <a:avLst/>
          </a:prstGeom>
          <a:noFill/>
          <a:ln/>
        </p:spPr>
        <p:txBody>
          <a:bodyPr wrap="square" lIns="0" tIns="0" rIns="0" bIns="0" rtlCol="0" anchor="ctr"/>
          <a:lstStyle/>
          <a:p>
            <a:pPr indent="0" marL="0">
              <a:buNone/>
            </a:pPr>
            <a:r>
              <a:rPr lang="en-US" sz="1300" dirty="0">
                <a:solidFill>
                  <a:srgbClr val="5B6B5F"/>
                </a:solidFill>
              </a:rPr>
              <a:t>Safety and predictive maintenance</a:t>
            </a:r>
            <a:endParaRPr lang="en-US" sz="1300" dirty="0"/>
          </a:p>
        </p:txBody>
      </p:sp>
      <p:sp>
        <p:nvSpPr>
          <p:cNvPr id="25" name="Shape 23"/>
          <p:cNvSpPr/>
          <p:nvPr/>
        </p:nvSpPr>
        <p:spPr>
          <a:xfrm>
            <a:off x="5257800" y="2240280"/>
            <a:ext cx="841248" cy="1615440"/>
          </a:xfrm>
          <a:prstGeom prst="rect">
            <a:avLst/>
          </a:prstGeom>
          <a:solidFill>
            <a:srgbClr val="F6D2B4"/>
          </a:solidFill>
          <a:ln w="19050">
            <a:solidFill>
              <a:srgbClr val="E07A2E"/>
            </a:solidFill>
            <a:prstDash val="solid"/>
          </a:ln>
        </p:spPr>
      </p:sp>
      <p:sp>
        <p:nvSpPr>
          <p:cNvPr id="26" name="Text 24"/>
          <p:cNvSpPr txBox="1"/>
          <p:nvPr/>
        </p:nvSpPr>
        <p:spPr>
          <a:xfrm>
            <a:off x="5330952" y="2304288"/>
            <a:ext cx="694944" cy="457200"/>
          </a:xfrm>
          <a:prstGeom prst="rect">
            <a:avLst/>
          </a:prstGeom>
          <a:noFill/>
          <a:ln/>
        </p:spPr>
        <p:txBody>
          <a:bodyPr wrap="square" lIns="0" tIns="0" rIns="0" bIns="0" rtlCol="0" anchor="t"/>
          <a:lstStyle/>
          <a:p>
            <a:pPr indent="0" marL="0">
              <a:buNone/>
            </a:pPr>
            <a:r>
              <a:rPr lang="en-US" sz="1000" b="1" dirty="0">
                <a:solidFill>
                  <a:srgbClr val="1F3D2B"/>
                </a:solidFill>
              </a:rPr>
              <a:t>Partners</a:t>
            </a:r>
            <a:endParaRPr lang="en-US" sz="1000" dirty="0"/>
          </a:p>
        </p:txBody>
      </p:sp>
      <p:sp>
        <p:nvSpPr>
          <p:cNvPr id="27" name="Shape 25"/>
          <p:cNvSpPr/>
          <p:nvPr/>
        </p:nvSpPr>
        <p:spPr>
          <a:xfrm>
            <a:off x="6099048" y="2240280"/>
            <a:ext cx="841248" cy="807720"/>
          </a:xfrm>
          <a:prstGeom prst="rect">
            <a:avLst/>
          </a:prstGeom>
          <a:solidFill>
            <a:srgbClr val="FFFDF8"/>
          </a:solidFill>
          <a:ln w="9525">
            <a:solidFill>
              <a:srgbClr val="E3D6C0"/>
            </a:solidFill>
            <a:prstDash val="solid"/>
          </a:ln>
        </p:spPr>
      </p:sp>
      <p:sp>
        <p:nvSpPr>
          <p:cNvPr id="28" name="Text 26"/>
          <p:cNvSpPr txBox="1"/>
          <p:nvPr/>
        </p:nvSpPr>
        <p:spPr>
          <a:xfrm>
            <a:off x="6172200"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Activities</a:t>
            </a:r>
            <a:endParaRPr lang="en-US" sz="1000" dirty="0"/>
          </a:p>
        </p:txBody>
      </p:sp>
      <p:sp>
        <p:nvSpPr>
          <p:cNvPr id="29" name="Shape 27"/>
          <p:cNvSpPr/>
          <p:nvPr/>
        </p:nvSpPr>
        <p:spPr>
          <a:xfrm>
            <a:off x="6099048" y="3048000"/>
            <a:ext cx="841248" cy="807720"/>
          </a:xfrm>
          <a:prstGeom prst="rect">
            <a:avLst/>
          </a:prstGeom>
          <a:solidFill>
            <a:srgbClr val="FFFDF8"/>
          </a:solidFill>
          <a:ln w="9525">
            <a:solidFill>
              <a:srgbClr val="E3D6C0"/>
            </a:solidFill>
            <a:prstDash val="solid"/>
          </a:ln>
        </p:spPr>
      </p:sp>
      <p:sp>
        <p:nvSpPr>
          <p:cNvPr id="30" name="Text 28"/>
          <p:cNvSpPr txBox="1"/>
          <p:nvPr/>
        </p:nvSpPr>
        <p:spPr>
          <a:xfrm>
            <a:off x="6172200" y="3112008"/>
            <a:ext cx="694944" cy="457200"/>
          </a:xfrm>
          <a:prstGeom prst="rect">
            <a:avLst/>
          </a:prstGeom>
          <a:noFill/>
          <a:ln/>
        </p:spPr>
        <p:txBody>
          <a:bodyPr wrap="square" lIns="0" tIns="0" rIns="0" bIns="0" rtlCol="0" anchor="t"/>
          <a:lstStyle/>
          <a:p>
            <a:pPr indent="0" marL="0">
              <a:buNone/>
            </a:pPr>
            <a:r>
              <a:rPr lang="en-US" sz="1000" dirty="0">
                <a:solidFill>
                  <a:srgbClr val="5B6B5F"/>
                </a:solidFill>
              </a:rPr>
              <a:t>Resources</a:t>
            </a:r>
            <a:endParaRPr lang="en-US" sz="1000" dirty="0"/>
          </a:p>
        </p:txBody>
      </p:sp>
      <p:sp>
        <p:nvSpPr>
          <p:cNvPr id="31" name="Shape 29"/>
          <p:cNvSpPr/>
          <p:nvPr/>
        </p:nvSpPr>
        <p:spPr>
          <a:xfrm>
            <a:off x="6940296" y="2240280"/>
            <a:ext cx="841248" cy="1615440"/>
          </a:xfrm>
          <a:prstGeom prst="rect">
            <a:avLst/>
          </a:prstGeom>
          <a:solidFill>
            <a:srgbClr val="F6D2B4"/>
          </a:solidFill>
          <a:ln w="19050">
            <a:solidFill>
              <a:srgbClr val="E07A2E"/>
            </a:solidFill>
            <a:prstDash val="solid"/>
          </a:ln>
        </p:spPr>
      </p:sp>
      <p:sp>
        <p:nvSpPr>
          <p:cNvPr id="32" name="Text 30"/>
          <p:cNvSpPr txBox="1"/>
          <p:nvPr/>
        </p:nvSpPr>
        <p:spPr>
          <a:xfrm>
            <a:off x="7013448" y="2304288"/>
            <a:ext cx="694944" cy="457200"/>
          </a:xfrm>
          <a:prstGeom prst="rect">
            <a:avLst/>
          </a:prstGeom>
          <a:noFill/>
          <a:ln/>
        </p:spPr>
        <p:txBody>
          <a:bodyPr wrap="square" lIns="0" tIns="0" rIns="0" bIns="0" rtlCol="0" anchor="t"/>
          <a:lstStyle/>
          <a:p>
            <a:pPr indent="0" marL="0">
              <a:buNone/>
            </a:pPr>
            <a:r>
              <a:rPr lang="en-US" sz="1000" b="1" dirty="0">
                <a:solidFill>
                  <a:srgbClr val="1F3D2B"/>
                </a:solidFill>
              </a:rPr>
              <a:t>Value</a:t>
            </a:r>
            <a:endParaRPr lang="en-US" sz="1000" dirty="0"/>
          </a:p>
        </p:txBody>
      </p:sp>
      <p:sp>
        <p:nvSpPr>
          <p:cNvPr id="33" name="Shape 31"/>
          <p:cNvSpPr/>
          <p:nvPr/>
        </p:nvSpPr>
        <p:spPr>
          <a:xfrm>
            <a:off x="7781544" y="2240280"/>
            <a:ext cx="841248" cy="807720"/>
          </a:xfrm>
          <a:prstGeom prst="rect">
            <a:avLst/>
          </a:prstGeom>
          <a:solidFill>
            <a:srgbClr val="FFFDF8"/>
          </a:solidFill>
          <a:ln w="9525">
            <a:solidFill>
              <a:srgbClr val="E3D6C0"/>
            </a:solidFill>
            <a:prstDash val="solid"/>
          </a:ln>
        </p:spPr>
      </p:sp>
      <p:sp>
        <p:nvSpPr>
          <p:cNvPr id="34" name="Text 32"/>
          <p:cNvSpPr txBox="1"/>
          <p:nvPr/>
        </p:nvSpPr>
        <p:spPr>
          <a:xfrm>
            <a:off x="7854696"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Relations</a:t>
            </a:r>
            <a:endParaRPr lang="en-US" sz="1000" dirty="0"/>
          </a:p>
        </p:txBody>
      </p:sp>
      <p:sp>
        <p:nvSpPr>
          <p:cNvPr id="35" name="Shape 33"/>
          <p:cNvSpPr/>
          <p:nvPr/>
        </p:nvSpPr>
        <p:spPr>
          <a:xfrm>
            <a:off x="7781544" y="3048000"/>
            <a:ext cx="841248" cy="807720"/>
          </a:xfrm>
          <a:prstGeom prst="rect">
            <a:avLst/>
          </a:prstGeom>
          <a:solidFill>
            <a:srgbClr val="FFFDF8"/>
          </a:solidFill>
          <a:ln w="9525">
            <a:solidFill>
              <a:srgbClr val="E3D6C0"/>
            </a:solidFill>
            <a:prstDash val="solid"/>
          </a:ln>
        </p:spPr>
      </p:sp>
      <p:sp>
        <p:nvSpPr>
          <p:cNvPr id="36" name="Text 34"/>
          <p:cNvSpPr txBox="1"/>
          <p:nvPr/>
        </p:nvSpPr>
        <p:spPr>
          <a:xfrm>
            <a:off x="7854696" y="3112008"/>
            <a:ext cx="694944" cy="457200"/>
          </a:xfrm>
          <a:prstGeom prst="rect">
            <a:avLst/>
          </a:prstGeom>
          <a:noFill/>
          <a:ln/>
        </p:spPr>
        <p:txBody>
          <a:bodyPr wrap="square" lIns="0" tIns="0" rIns="0" bIns="0" rtlCol="0" anchor="t"/>
          <a:lstStyle/>
          <a:p>
            <a:pPr indent="0" marL="0">
              <a:buNone/>
            </a:pPr>
            <a:r>
              <a:rPr lang="en-US" sz="1000" dirty="0">
                <a:solidFill>
                  <a:srgbClr val="5B6B5F"/>
                </a:solidFill>
              </a:rPr>
              <a:t>Channels</a:t>
            </a:r>
            <a:endParaRPr lang="en-US" sz="1000" dirty="0"/>
          </a:p>
        </p:txBody>
      </p:sp>
      <p:sp>
        <p:nvSpPr>
          <p:cNvPr id="37" name="Shape 35"/>
          <p:cNvSpPr/>
          <p:nvPr/>
        </p:nvSpPr>
        <p:spPr>
          <a:xfrm>
            <a:off x="8622792" y="2240280"/>
            <a:ext cx="841248" cy="1615440"/>
          </a:xfrm>
          <a:prstGeom prst="rect">
            <a:avLst/>
          </a:prstGeom>
          <a:solidFill>
            <a:srgbClr val="FFFDF8"/>
          </a:solidFill>
          <a:ln w="9525">
            <a:solidFill>
              <a:srgbClr val="E3D6C0"/>
            </a:solidFill>
            <a:prstDash val="solid"/>
          </a:ln>
        </p:spPr>
      </p:sp>
      <p:sp>
        <p:nvSpPr>
          <p:cNvPr id="38" name="Text 36"/>
          <p:cNvSpPr txBox="1"/>
          <p:nvPr/>
        </p:nvSpPr>
        <p:spPr>
          <a:xfrm>
            <a:off x="8695944" y="2304288"/>
            <a:ext cx="694944" cy="457200"/>
          </a:xfrm>
          <a:prstGeom prst="rect">
            <a:avLst/>
          </a:prstGeom>
          <a:noFill/>
          <a:ln/>
        </p:spPr>
        <p:txBody>
          <a:bodyPr wrap="square" lIns="0" tIns="0" rIns="0" bIns="0" rtlCol="0" anchor="t"/>
          <a:lstStyle/>
          <a:p>
            <a:pPr indent="0" marL="0">
              <a:buNone/>
            </a:pPr>
            <a:r>
              <a:rPr lang="en-US" sz="1000" dirty="0">
                <a:solidFill>
                  <a:srgbClr val="5B6B5F"/>
                </a:solidFill>
              </a:rPr>
              <a:t>Segments</a:t>
            </a:r>
            <a:endParaRPr lang="en-US" sz="1000" dirty="0"/>
          </a:p>
        </p:txBody>
      </p:sp>
      <p:sp>
        <p:nvSpPr>
          <p:cNvPr id="39" name="Shape 37"/>
          <p:cNvSpPr/>
          <p:nvPr/>
        </p:nvSpPr>
        <p:spPr>
          <a:xfrm>
            <a:off x="5257800" y="3855720"/>
            <a:ext cx="2103120" cy="807720"/>
          </a:xfrm>
          <a:prstGeom prst="rect">
            <a:avLst/>
          </a:prstGeom>
          <a:solidFill>
            <a:srgbClr val="FFFDF8"/>
          </a:solidFill>
          <a:ln w="9525">
            <a:solidFill>
              <a:srgbClr val="E3D6C0"/>
            </a:solidFill>
            <a:prstDash val="solid"/>
          </a:ln>
        </p:spPr>
      </p:sp>
      <p:sp>
        <p:nvSpPr>
          <p:cNvPr id="40" name="Text 38"/>
          <p:cNvSpPr txBox="1"/>
          <p:nvPr/>
        </p:nvSpPr>
        <p:spPr>
          <a:xfrm>
            <a:off x="5330952" y="3919728"/>
            <a:ext cx="1956816" cy="457200"/>
          </a:xfrm>
          <a:prstGeom prst="rect">
            <a:avLst/>
          </a:prstGeom>
          <a:noFill/>
          <a:ln/>
        </p:spPr>
        <p:txBody>
          <a:bodyPr wrap="square" lIns="0" tIns="0" rIns="0" bIns="0" rtlCol="0" anchor="t"/>
          <a:lstStyle/>
          <a:p>
            <a:pPr indent="0" marL="0">
              <a:buNone/>
            </a:pPr>
            <a:r>
              <a:rPr lang="en-US" sz="1000" dirty="0">
                <a:solidFill>
                  <a:srgbClr val="5B6B5F"/>
                </a:solidFill>
              </a:rPr>
              <a:t>Costs</a:t>
            </a:r>
            <a:endParaRPr lang="en-US" sz="1000" dirty="0"/>
          </a:p>
        </p:txBody>
      </p:sp>
      <p:sp>
        <p:nvSpPr>
          <p:cNvPr id="41" name="Shape 39"/>
          <p:cNvSpPr/>
          <p:nvPr/>
        </p:nvSpPr>
        <p:spPr>
          <a:xfrm>
            <a:off x="7360920" y="3855720"/>
            <a:ext cx="2103120" cy="807720"/>
          </a:xfrm>
          <a:prstGeom prst="rect">
            <a:avLst/>
          </a:prstGeom>
          <a:solidFill>
            <a:srgbClr val="F6D2B4"/>
          </a:solidFill>
          <a:ln w="19050">
            <a:solidFill>
              <a:srgbClr val="E07A2E"/>
            </a:solidFill>
            <a:prstDash val="solid"/>
          </a:ln>
        </p:spPr>
      </p:sp>
      <p:sp>
        <p:nvSpPr>
          <p:cNvPr id="42" name="Text 40"/>
          <p:cNvSpPr txBox="1"/>
          <p:nvPr/>
        </p:nvSpPr>
        <p:spPr>
          <a:xfrm>
            <a:off x="7434072" y="3919728"/>
            <a:ext cx="1956816" cy="457200"/>
          </a:xfrm>
          <a:prstGeom prst="rect">
            <a:avLst/>
          </a:prstGeom>
          <a:noFill/>
          <a:ln/>
        </p:spPr>
        <p:txBody>
          <a:bodyPr wrap="square" lIns="0" tIns="0" rIns="0" bIns="0" rtlCol="0" anchor="t"/>
          <a:lstStyle/>
          <a:p>
            <a:pPr indent="0" marL="0">
              <a:buNone/>
            </a:pPr>
            <a:r>
              <a:rPr lang="en-US" sz="1000" b="1" dirty="0">
                <a:solidFill>
                  <a:srgbClr val="1F3D2B"/>
                </a:solidFill>
              </a:rPr>
              <a:t>Revenue</a:t>
            </a:r>
            <a:endParaRPr lang="en-US" sz="1000" dirty="0"/>
          </a:p>
        </p:txBody>
      </p:sp>
      <p:sp>
        <p:nvSpPr>
          <p:cNvPr id="43" name="Text 41"/>
          <p:cNvSpPr txBox="1"/>
          <p:nvPr/>
        </p:nvSpPr>
        <p:spPr>
          <a:xfrm>
            <a:off x="5257800" y="4709160"/>
            <a:ext cx="4206240" cy="274320"/>
          </a:xfrm>
          <a:prstGeom prst="rect">
            <a:avLst/>
          </a:prstGeom>
          <a:noFill/>
          <a:ln/>
        </p:spPr>
        <p:txBody>
          <a:bodyPr wrap="square" lIns="0" tIns="0" rIns="0" bIns="0" rtlCol="0" anchor="ctr"/>
          <a:lstStyle/>
          <a:p>
            <a:pPr indent="0" marL="0">
              <a:buNone/>
            </a:pPr>
            <a:r>
              <a:rPr lang="en-US" sz="1100" dirty="0">
                <a:solidFill>
                  <a:srgbClr val="5B6B5F"/>
                </a:solidFill>
              </a:rPr>
              <a:t>Orange = changed</a:t>
            </a:r>
            <a:endParaRPr lang="en-US" sz="1100" dirty="0"/>
          </a:p>
        </p:txBody>
      </p:sp>
      <p:sp>
        <p:nvSpPr>
          <p:cNvPr id="44" name="Revenue"/>
          <p:cNvSpPr/>
          <p:nvPr/>
        </p:nvSpPr>
        <p:spPr>
          <a:xfrm>
            <a:off x="9784080" y="1417320"/>
            <a:ext cx="1737360" cy="4434840"/>
          </a:xfrm>
          <a:prstGeom prst="roundRect">
            <a:avLst>
              <a:gd name="adj" fmla="val 6316"/>
            </a:avLst>
          </a:prstGeom>
          <a:solidFill>
            <a:schemeClr val="bg1"/>
          </a:solidFill>
          <a:ln w="9525">
            <a:solidFill>
              <a:srgbClr val="E3D6C0"/>
            </a:solidFill>
            <a:prstDash val="solid"/>
          </a:ln>
        </p:spPr>
      </p:sp>
      <p:sp>
        <p:nvSpPr>
          <p:cNvPr id="45" name="Text 43"/>
          <p:cNvSpPr txBox="1"/>
          <p:nvPr/>
        </p:nvSpPr>
        <p:spPr>
          <a:xfrm>
            <a:off x="9921240" y="1554480"/>
            <a:ext cx="1508760" cy="502920"/>
          </a:xfrm>
          <a:prstGeom prst="rect">
            <a:avLst/>
          </a:prstGeom>
          <a:noFill/>
          <a:ln/>
        </p:spPr>
        <p:txBody>
          <a:bodyPr wrap="square" lIns="0" tIns="0" rIns="0" bIns="0" rtlCol="0" anchor="t"/>
          <a:lstStyle/>
          <a:p>
            <a:pPr indent="0" marL="0">
              <a:buNone/>
            </a:pPr>
            <a:r>
              <a:rPr lang="en-US" sz="1100" dirty="0">
                <a:solidFill>
                  <a:srgbClr val="5B6B5F"/>
                </a:solidFill>
              </a:rPr>
              <a:t>Revenue (assumptions)</a:t>
            </a:r>
            <a:endParaRPr lang="en-US" sz="1100" dirty="0"/>
          </a:p>
        </p:txBody>
      </p:sp>
      <p:sp>
        <p:nvSpPr>
          <p:cNvPr id="46" name="Text 44"/>
          <p:cNvSpPr txBox="1"/>
          <p:nvPr/>
        </p:nvSpPr>
        <p:spPr>
          <a:xfrm>
            <a:off x="9921240" y="2103120"/>
            <a:ext cx="1508760" cy="1097280"/>
          </a:xfrm>
          <a:prstGeom prst="rect">
            <a:avLst/>
          </a:prstGeom>
          <a:noFill/>
          <a:ln/>
        </p:spPr>
        <p:txBody>
          <a:bodyPr wrap="square" lIns="0" tIns="0" rIns="0" bIns="0" rtlCol="0" anchor="t"/>
          <a:lstStyle/>
          <a:p>
            <a:pPr indent="0" marL="0">
              <a:buNone/>
            </a:pPr>
            <a:r>
              <a:rPr lang="en-US" sz="2800" dirty="0">
                <a:solidFill>
                  <a:srgbClr val="1F3D2B"/>
                </a:solidFill>
                <a:latin typeface="JetBrains Mono" pitchFamily="34" charset="0"/>
                <a:ea typeface="JetBrains Mono" pitchFamily="34" charset="-122"/>
                <a:cs typeface="JetBrains Mono" pitchFamily="34" charset="-120"/>
              </a:rPr>
              <a:t>$300</a:t>
            </a:r>
            <a:endParaRPr lang="en-US" sz="2800" dirty="0"/>
          </a:p>
          <a:p>
            <a:pPr indent="0" marL="0">
              <a:buNone/>
            </a:pPr>
            <a:r>
              <a:rPr lang="en-US" sz="1200" dirty="0">
                <a:solidFill>
                  <a:srgbClr val="5B6B5F"/>
                </a:solidFill>
              </a:rPr>
              <a:t>box per machine, one time</a:t>
            </a:r>
            <a:endParaRPr lang="en-US" sz="2800" dirty="0"/>
          </a:p>
        </p:txBody>
      </p:sp>
      <p:sp>
        <p:nvSpPr>
          <p:cNvPr id="47" name="Text 45"/>
          <p:cNvSpPr txBox="1"/>
          <p:nvPr/>
        </p:nvSpPr>
        <p:spPr>
          <a:xfrm>
            <a:off x="9921240" y="3246120"/>
            <a:ext cx="1508760" cy="1097280"/>
          </a:xfrm>
          <a:prstGeom prst="rect">
            <a:avLst/>
          </a:prstGeom>
          <a:noFill/>
          <a:ln/>
        </p:spPr>
        <p:txBody>
          <a:bodyPr wrap="square" lIns="0" tIns="0" rIns="0" bIns="0" rtlCol="0" anchor="t"/>
          <a:lstStyle/>
          <a:p>
            <a:pPr indent="0" marL="0">
              <a:buNone/>
            </a:pPr>
            <a:r>
              <a:rPr lang="en-US" sz="2800" dirty="0">
                <a:solidFill>
                  <a:srgbClr val="1F3D2B"/>
                </a:solidFill>
                <a:latin typeface="JetBrains Mono" pitchFamily="34" charset="0"/>
                <a:ea typeface="JetBrains Mono" pitchFamily="34" charset="-122"/>
                <a:cs typeface="JetBrains Mono" pitchFamily="34" charset="-120"/>
              </a:rPr>
              <a:t>$25</a:t>
            </a:r>
            <a:endParaRPr lang="en-US" sz="2800" dirty="0"/>
          </a:p>
          <a:p>
            <a:pPr indent="0" marL="0">
              <a:buNone/>
            </a:pPr>
            <a:r>
              <a:rPr lang="en-US" sz="1200" dirty="0">
                <a:solidFill>
                  <a:srgbClr val="5B6B5F"/>
                </a:solidFill>
              </a:rPr>
              <a:t>per machine per month</a:t>
            </a:r>
            <a:endParaRPr lang="en-US" sz="2800" dirty="0"/>
          </a:p>
        </p:txBody>
      </p:sp>
      <p:sp>
        <p:nvSpPr>
          <p:cNvPr id="48" name="Text 46"/>
          <p:cNvSpPr txBox="1"/>
          <p:nvPr/>
        </p:nvSpPr>
        <p:spPr>
          <a:xfrm>
            <a:off x="9921240" y="4389120"/>
            <a:ext cx="1508760" cy="914400"/>
          </a:xfrm>
          <a:prstGeom prst="rect">
            <a:avLst/>
          </a:prstGeom>
          <a:noFill/>
          <a:ln/>
        </p:spPr>
        <p:txBody>
          <a:bodyPr wrap="square" lIns="0" tIns="0" rIns="0" bIns="0" rtlCol="0" anchor="t"/>
          <a:lstStyle/>
          <a:p>
            <a:pPr indent="0" marL="0">
              <a:buNone/>
            </a:pPr>
            <a:r>
              <a:rPr lang="en-US" sz="1200" dirty="0">
                <a:solidFill>
                  <a:srgbClr val="1F3D2B"/>
                </a:solidFill>
              </a:rPr>
              <a:t>+ possible referral fee on technician jobs</a:t>
            </a:r>
            <a:endParaRPr lang="en-US" sz="1200" dirty="0"/>
          </a:p>
        </p:txBody>
      </p:sp>
      <p:sp>
        <p:nvSpPr>
          <p:cNvPr id="49" name="Text 47"/>
          <p:cNvSpPr txBox="1"/>
          <p:nvPr/>
        </p:nvSpPr>
        <p:spPr>
          <a:xfrm>
            <a:off x="685800" y="5120640"/>
            <a:ext cx="8778240" cy="685800"/>
          </a:xfrm>
          <a:prstGeom prst="rect">
            <a:avLst/>
          </a:prstGeom>
          <a:noFill/>
          <a:ln/>
        </p:spPr>
        <p:txBody>
          <a:bodyPr wrap="square" lIns="0" tIns="0" rIns="0" bIns="0" rtlCol="0" anchor="t"/>
          <a:lstStyle/>
          <a:p>
            <a:pPr indent="0" marL="0">
              <a:buNone/>
            </a:pPr>
            <a:r>
              <a:rPr lang="en-US" sz="1400" dirty="0">
                <a:solidFill>
                  <a:schemeClr val="tx1"/>
                </a:solidFill>
              </a:rPr>
              <a:t>Key partners: electricians and technicians, component suppliers, booking platforms. Per machine pricing inspired by Fabman.</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What we've tested so far</a:t>
            </a:r>
            <a:endParaRPr lang="en-US" sz="3600" dirty="0"/>
          </a:p>
        </p:txBody>
      </p:sp>
      <p:sp>
        <p:nvSpPr>
          <p:cNvPr id="3" name="Text 1"/>
          <p:cNvSpPr txBox="1"/>
          <p:nvPr/>
        </p:nvSpPr>
        <p:spPr>
          <a:xfrm>
            <a:off x="6858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3</a:t>
            </a:r>
            <a:endParaRPr lang="en-US" sz="4000" dirty="0"/>
          </a:p>
        </p:txBody>
      </p:sp>
      <p:sp>
        <p:nvSpPr>
          <p:cNvPr id="4" name="Text 2"/>
          <p:cNvSpPr txBox="1"/>
          <p:nvPr/>
        </p:nvSpPr>
        <p:spPr>
          <a:xfrm>
            <a:off x="685800" y="2057400"/>
            <a:ext cx="1828800" cy="548640"/>
          </a:xfrm>
          <a:prstGeom prst="rect">
            <a:avLst/>
          </a:prstGeom>
          <a:noFill/>
          <a:ln/>
        </p:spPr>
        <p:txBody>
          <a:bodyPr wrap="square" lIns="0" tIns="0" rIns="0" bIns="0" rtlCol="0" anchor="t"/>
          <a:lstStyle/>
          <a:p>
            <a:pPr indent="0" marL="0">
              <a:buNone/>
            </a:pPr>
            <a:r>
              <a:rPr lang="en-US" sz="1200" dirty="0">
                <a:solidFill>
                  <a:srgbClr val="5B6B5F"/>
                </a:solidFill>
              </a:rPr>
              <a:t>competitors reverse engineered</a:t>
            </a:r>
            <a:endParaRPr lang="en-US" sz="1200" dirty="0"/>
          </a:p>
        </p:txBody>
      </p:sp>
      <p:sp>
        <p:nvSpPr>
          <p:cNvPr id="5" name="Text 3"/>
          <p:cNvSpPr txBox="1"/>
          <p:nvPr/>
        </p:nvSpPr>
        <p:spPr>
          <a:xfrm>
            <a:off x="27432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2</a:t>
            </a:r>
            <a:endParaRPr lang="en-US" sz="4000" dirty="0"/>
          </a:p>
        </p:txBody>
      </p:sp>
      <p:sp>
        <p:nvSpPr>
          <p:cNvPr id="6" name="Text 4"/>
          <p:cNvSpPr txBox="1"/>
          <p:nvPr/>
        </p:nvSpPr>
        <p:spPr>
          <a:xfrm>
            <a:off x="2743200" y="2057400"/>
            <a:ext cx="1828800" cy="548640"/>
          </a:xfrm>
          <a:prstGeom prst="rect">
            <a:avLst/>
          </a:prstGeom>
          <a:noFill/>
          <a:ln/>
        </p:spPr>
        <p:txBody>
          <a:bodyPr wrap="square" lIns="0" tIns="0" rIns="0" bIns="0" rtlCol="0" anchor="t"/>
          <a:lstStyle/>
          <a:p>
            <a:pPr indent="0" marL="0">
              <a:buNone/>
            </a:pPr>
            <a:r>
              <a:rPr lang="en-US" sz="1200" dirty="0">
                <a:solidFill>
                  <a:srgbClr val="5B6B5F"/>
                </a:solidFill>
              </a:rPr>
              <a:t>business model canvases</a:t>
            </a:r>
            <a:endParaRPr lang="en-US" sz="1200" dirty="0"/>
          </a:p>
        </p:txBody>
      </p:sp>
      <p:sp>
        <p:nvSpPr>
          <p:cNvPr id="7" name="Text 5"/>
          <p:cNvSpPr txBox="1"/>
          <p:nvPr/>
        </p:nvSpPr>
        <p:spPr>
          <a:xfrm>
            <a:off x="48006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49</a:t>
            </a:r>
            <a:endParaRPr lang="en-US" sz="4000" dirty="0"/>
          </a:p>
        </p:txBody>
      </p:sp>
      <p:sp>
        <p:nvSpPr>
          <p:cNvPr id="8" name="Text 6"/>
          <p:cNvSpPr txBox="1"/>
          <p:nvPr/>
        </p:nvSpPr>
        <p:spPr>
          <a:xfrm>
            <a:off x="4800600" y="2057400"/>
            <a:ext cx="1828800" cy="548640"/>
          </a:xfrm>
          <a:prstGeom prst="rect">
            <a:avLst/>
          </a:prstGeom>
          <a:noFill/>
          <a:ln/>
        </p:spPr>
        <p:txBody>
          <a:bodyPr wrap="square" lIns="0" tIns="0" rIns="0" bIns="0" rtlCol="0" anchor="t"/>
          <a:lstStyle/>
          <a:p>
            <a:pPr indent="0" marL="0">
              <a:buNone/>
            </a:pPr>
            <a:r>
              <a:rPr lang="en-US" sz="1200" dirty="0">
                <a:solidFill>
                  <a:srgbClr val="5B6B5F"/>
                </a:solidFill>
              </a:rPr>
              <a:t>outreach emails, Canada, US, Europe</a:t>
            </a:r>
            <a:endParaRPr lang="en-US" sz="1200" dirty="0"/>
          </a:p>
        </p:txBody>
      </p:sp>
      <p:sp>
        <p:nvSpPr>
          <p:cNvPr id="9" name="Text 7"/>
          <p:cNvSpPr txBox="1"/>
          <p:nvPr/>
        </p:nvSpPr>
        <p:spPr>
          <a:xfrm>
            <a:off x="6858000" y="1325880"/>
            <a:ext cx="1920240" cy="685800"/>
          </a:xfrm>
          <a:prstGeom prst="rect">
            <a:avLst/>
          </a:prstGeom>
          <a:noFill/>
          <a:ln/>
        </p:spPr>
        <p:txBody>
          <a:bodyPr wrap="square" lIns="0" tIns="0" rIns="0" bIns="0" rtlCol="0" anchor="b"/>
          <a:lstStyle/>
          <a:p>
            <a:pPr indent="0" marL="0">
              <a:buNone/>
            </a:pPr>
            <a:r>
              <a:rPr lang="en-US" sz="4000" dirty="0">
                <a:solidFill>
                  <a:srgbClr val="E07A2E"/>
                </a:solidFill>
                <a:latin typeface="JetBrains Mono" pitchFamily="34" charset="0"/>
                <a:ea typeface="JetBrains Mono" pitchFamily="34" charset="-122"/>
                <a:cs typeface="JetBrains Mono" pitchFamily="34" charset="-120"/>
              </a:rPr>
              <a:t>[N]</a:t>
            </a:r>
            <a:endParaRPr lang="en-US" sz="4000" dirty="0"/>
          </a:p>
        </p:txBody>
      </p:sp>
      <p:sp>
        <p:nvSpPr>
          <p:cNvPr id="10" name="Text 8"/>
          <p:cNvSpPr txBox="1"/>
          <p:nvPr/>
        </p:nvSpPr>
        <p:spPr>
          <a:xfrm>
            <a:off x="6858000" y="2057400"/>
            <a:ext cx="1828800" cy="548640"/>
          </a:xfrm>
          <a:prstGeom prst="rect">
            <a:avLst/>
          </a:prstGeom>
          <a:noFill/>
          <a:ln/>
        </p:spPr>
        <p:txBody>
          <a:bodyPr wrap="square" lIns="0" tIns="0" rIns="0" bIns="0" rtlCol="0" anchor="t"/>
          <a:lstStyle/>
          <a:p>
            <a:pPr indent="0" marL="0">
              <a:buNone/>
            </a:pPr>
            <a:r>
              <a:rPr lang="en-US" sz="1200" dirty="0">
                <a:solidFill>
                  <a:srgbClr val="5B6B5F"/>
                </a:solidFill>
              </a:rPr>
              <a:t>interviews [FILL IN]</a:t>
            </a:r>
            <a:endParaRPr lang="en-US" sz="1200" dirty="0"/>
          </a:p>
        </p:txBody>
      </p:sp>
      <p:sp>
        <p:nvSpPr>
          <p:cNvPr id="11" name="Pivot"/>
          <p:cNvSpPr/>
          <p:nvPr/>
        </p:nvSpPr>
        <p:spPr>
          <a:xfrm>
            <a:off x="9006840" y="1325880"/>
            <a:ext cx="2514600" cy="1325880"/>
          </a:xfrm>
          <a:prstGeom prst="roundRect">
            <a:avLst>
              <a:gd name="adj" fmla="val 8276"/>
            </a:avLst>
          </a:prstGeom>
          <a:solidFill>
            <a:schemeClr val="bg1"/>
          </a:solidFill>
          <a:ln w="9525">
            <a:solidFill>
              <a:srgbClr val="E3D6C0"/>
            </a:solidFill>
            <a:prstDash val="solid"/>
          </a:ln>
        </p:spPr>
      </p:sp>
      <p:sp>
        <p:nvSpPr>
          <p:cNvPr id="12" name="Text 10"/>
          <p:cNvSpPr txBox="1"/>
          <p:nvPr/>
        </p:nvSpPr>
        <p:spPr>
          <a:xfrm>
            <a:off x="9189720" y="1463040"/>
            <a:ext cx="2194560" cy="1097280"/>
          </a:xfrm>
          <a:prstGeom prst="rect">
            <a:avLst/>
          </a:prstGeom>
          <a:noFill/>
          <a:ln/>
        </p:spPr>
        <p:txBody>
          <a:bodyPr wrap="square" lIns="0" tIns="0" rIns="0" bIns="0" rtlCol="0" anchor="t"/>
          <a:lstStyle/>
          <a:p>
            <a:pPr indent="0" marL="0">
              <a:buNone/>
            </a:pPr>
            <a:r>
              <a:rPr lang="en-US" sz="1100" dirty="0">
                <a:solidFill>
                  <a:srgbClr val="E07A2E"/>
                </a:solidFill>
                <a:latin typeface="JetBrains Mono" pitchFamily="34" charset="0"/>
                <a:ea typeface="JetBrains Mono" pitchFamily="34" charset="-122"/>
                <a:cs typeface="JetBrains Mono" pitchFamily="34" charset="-120"/>
              </a:rPr>
              <a:t>The pivot</a:t>
            </a:r>
            <a:endParaRPr lang="en-US" sz="1100" dirty="0"/>
          </a:p>
          <a:p>
            <a:pPr indent="0" marL="0">
              <a:buNone/>
            </a:pPr>
            <a:r>
              <a:rPr lang="en-US" sz="1600" b="1" dirty="0">
                <a:solidFill>
                  <a:srgbClr val="1F3D2B"/>
                </a:solidFill>
                <a:latin typeface="Space Grotesk" pitchFamily="34" charset="0"/>
                <a:ea typeface="Space Grotesk" pitchFamily="34" charset="-122"/>
                <a:cs typeface="Space Grotesk" pitchFamily="34" charset="-120"/>
              </a:rPr>
              <a:t>Billing → predictive maintenance</a:t>
            </a:r>
            <a:endParaRPr lang="en-US" sz="1100" dirty="0"/>
          </a:p>
        </p:txBody>
      </p:sp>
      <p:pic>
        <p:nvPicPr>
          <p:cNvPr id="13" name="Image 0" descr="preencoded.png">    </p:cNvPr>
          <p:cNvPicPr>
            <a:picLocks noChangeAspect="1"/>
          </p:cNvPicPr>
          <p:nvPr/>
        </p:nvPicPr>
        <p:blipFill>
          <a:blip r:embed="rId1"/>
          <a:stretch>
            <a:fillRect/>
          </a:stretch>
        </p:blipFill>
        <p:spPr>
          <a:xfrm>
            <a:off x="685800" y="2834640"/>
            <a:ext cx="347472" cy="347472"/>
          </a:xfrm>
          <a:prstGeom prst="rect">
            <a:avLst/>
          </a:prstGeom>
        </p:spPr>
      </p:pic>
      <p:sp>
        <p:nvSpPr>
          <p:cNvPr id="14" name="Text 11"/>
          <p:cNvSpPr txBox="1"/>
          <p:nvPr/>
        </p:nvSpPr>
        <p:spPr>
          <a:xfrm>
            <a:off x="1143000" y="2788920"/>
            <a:ext cx="4937760" cy="777240"/>
          </a:xfrm>
          <a:prstGeom prst="rect">
            <a:avLst/>
          </a:prstGeom>
          <a:noFill/>
          <a:ln/>
        </p:spPr>
        <p:txBody>
          <a:bodyPr wrap="square" lIns="0" tIns="0" rIns="0" bIns="0" rtlCol="0" anchor="t"/>
          <a:lstStyle/>
          <a:p>
            <a:pPr indent="0" marL="0">
              <a:buNone/>
            </a:pPr>
            <a:r>
              <a:rPr lang="en-US" sz="1800" b="1" dirty="0">
                <a:solidFill>
                  <a:srgbClr val="1F3D2B"/>
                </a:solidFill>
                <a:latin typeface="Space Grotesk" pitchFamily="34" charset="0"/>
                <a:ea typeface="Space Grotesk" pitchFamily="34" charset="-122"/>
                <a:cs typeface="Space Grotesk" pitchFamily="34" charset="-120"/>
              </a:rPr>
              <a:t>“Managing equipment is one of the biggest tasks we have.”</a:t>
            </a:r>
            <a:endParaRPr lang="en-US" sz="1800" dirty="0"/>
          </a:p>
        </p:txBody>
      </p:sp>
      <p:sp>
        <p:nvSpPr>
          <p:cNvPr id="15" name="Text 12"/>
          <p:cNvSpPr txBox="1"/>
          <p:nvPr/>
        </p:nvSpPr>
        <p:spPr>
          <a:xfrm>
            <a:off x="1143000" y="3566160"/>
            <a:ext cx="4937760" cy="777240"/>
          </a:xfrm>
          <a:prstGeom prst="rect">
            <a:avLst/>
          </a:prstGeom>
          <a:noFill/>
          <a:ln/>
        </p:spPr>
        <p:txBody>
          <a:bodyPr wrap="square" lIns="0" tIns="0" rIns="0" bIns="0" rtlCol="0" anchor="t"/>
          <a:lstStyle/>
          <a:p>
            <a:pPr indent="0" marL="0">
              <a:buNone/>
            </a:pPr>
            <a:r>
              <a:rPr lang="en-US" sz="1500" dirty="0">
                <a:solidFill>
                  <a:srgbClr val="1F3D2B"/>
                </a:solidFill>
                <a:latin typeface="Space Grotesk" pitchFamily="34" charset="0"/>
                <a:ea typeface="Space Grotesk" pitchFamily="34" charset="-122"/>
                <a:cs typeface="Space Grotesk" pitchFamily="34" charset="-120"/>
              </a:rPr>
              <a:t>“We are currently working on a system to track electricity usage on the welders…”</a:t>
            </a:r>
            <a:endParaRPr lang="en-US" sz="1500" dirty="0"/>
          </a:p>
        </p:txBody>
      </p:sp>
      <p:sp>
        <p:nvSpPr>
          <p:cNvPr id="16" name="Text 13"/>
          <p:cNvSpPr txBox="1"/>
          <p:nvPr/>
        </p:nvSpPr>
        <p:spPr>
          <a:xfrm>
            <a:off x="1143000" y="4343400"/>
            <a:ext cx="4937760" cy="274320"/>
          </a:xfrm>
          <a:prstGeom prst="rect">
            <a:avLst/>
          </a:prstGeom>
          <a:noFill/>
          <a:ln/>
        </p:spPr>
        <p:txBody>
          <a:bodyPr wrap="square" lIns="0" tIns="0" rIns="0" bIns="0" rtlCol="0" anchor="ctr"/>
          <a:lstStyle/>
          <a:p>
            <a:pPr indent="0" marL="0">
              <a:buNone/>
            </a:pPr>
            <a:r>
              <a:rPr lang="en-US" sz="1100" dirty="0">
                <a:solidFill>
                  <a:srgbClr val="5B6B5F"/>
                </a:solidFill>
              </a:rPr>
              <a:t>Executive Director, Ontario makerspace</a:t>
            </a:r>
            <a:endParaRPr lang="en-US" sz="1100" dirty="0"/>
          </a:p>
        </p:txBody>
      </p:sp>
      <p:graphicFrame>
        <p:nvGraphicFramePr>
          <p:cNvPr id="11" name="Validation board"/>
          <p:cNvGraphicFramePr>
            <a:graphicFrameLocks noGrp="1"/>
          </p:cNvGraphicFramePr>
          <p:nvPr>
            <p:extLst>
              <p:ext uri="{D42A27DB-BD31-4B8C-83A1-F6EECF244321}">
                <p14:modId xmlns:p14="http://schemas.microsoft.com/office/powerpoint/2010/main" val="1579011935"/>
              </p:ext>
            </p:extLst>
          </p:nvPr>
        </p:nvGraphicFramePr>
        <p:xfrm>
          <a:off x="6400800" y="2788920"/>
          <a:ext cx="5120640" cy="914400"/>
        </p:xfrm>
        <a:graphic>
          <a:graphicData uri="http://schemas.openxmlformats.org/drawingml/2006/table">
            <a:tbl>
              <a:tblPr/>
              <a:tblGrid>
                <a:gridCol w="2743200"/>
                <a:gridCol w="1234440"/>
                <a:gridCol w="1143000"/>
              </a:tblGrid>
              <a:tr h="384048">
                <a:tc>
                  <a:txBody>
                    <a:bodyPr/>
                    <a:lstStyle/>
                    <a:p>
                      <a:pPr indent="0" marL="0">
                        <a:buNone/>
                      </a:pPr>
                      <a:r>
                        <a:rPr lang="en-US" sz="1200" b="1" dirty="0">
                          <a:solidFill>
                            <a:srgbClr val="5B6B5F"/>
                          </a:solidFill>
                          <a:latin typeface="Inter" pitchFamily="34" charset="0"/>
                          <a:ea typeface="Inter" pitchFamily="34" charset="-122"/>
                          <a:cs typeface="Inter" pitchFamily="34" charset="-120"/>
                        </a:rPr>
                        <a:t>Assumption</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Method</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384048">
                <a:tc>
                  <a:txBody>
                    <a:bodyPr/>
                    <a:lstStyle/>
                    <a:p>
                      <a:pPr indent="0" marL="0">
                        <a:buNone/>
                      </a:pPr>
                      <a:r>
                        <a:rPr lang="en-US" sz="1200" dirty="0">
                          <a:solidFill>
                            <a:srgbClr val="1F3D2B"/>
                          </a:solidFill>
                          <a:latin typeface="Inter" pitchFamily="34" charset="0"/>
                          <a:ea typeface="Inter" pitchFamily="34" charset="-122"/>
                          <a:cs typeface="Inter" pitchFamily="34" charset="-120"/>
                        </a:rPr>
                        <a:t>Owners bill electricity per user</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Interviews</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b="1" dirty="0">
                          <a:solidFill>
                            <a:srgbClr val="FFFDF8"/>
                          </a:solidFill>
                          <a:latin typeface="Inter" pitchFamily="34" charset="0"/>
                          <a:ea typeface="Inter" pitchFamily="34" charset="-122"/>
                          <a:cs typeface="Inter" pitchFamily="34" charset="-120"/>
                        </a:rPr>
                        <a:t>Invalidated</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r h="384048">
                <a:tc>
                  <a:txBody>
                    <a:bodyPr/>
                    <a:lstStyle/>
                    <a:p>
                      <a:pPr indent="0" marL="0">
                        <a:buNone/>
                      </a:pPr>
                      <a:r>
                        <a:rPr lang="en-US" sz="1200" dirty="0">
                          <a:solidFill>
                            <a:srgbClr val="1F3D2B"/>
                          </a:solidFill>
                          <a:latin typeface="Inter" pitchFamily="34" charset="0"/>
                          <a:ea typeface="Inter" pitchFamily="34" charset="-122"/>
                          <a:cs typeface="Inter" pitchFamily="34" charset="-120"/>
                        </a:rPr>
                        <a:t>Owners want warning before failures</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Interviews</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384048">
                <a:tc>
                  <a:txBody>
                    <a:bodyPr/>
                    <a:lstStyle/>
                    <a:p>
                      <a:pPr indent="0" marL="0">
                        <a:buNone/>
                      </a:pPr>
                      <a:r>
                        <a:rPr lang="en-US" sz="1200" dirty="0">
                          <a:solidFill>
                            <a:srgbClr val="1F3D2B"/>
                          </a:solidFill>
                          <a:latin typeface="Inter" pitchFamily="34" charset="0"/>
                          <a:ea typeface="Inter" pitchFamily="34" charset="-122"/>
                          <a:cs typeface="Inter" pitchFamily="34" charset="-120"/>
                        </a:rPr>
                        <a:t>Kitchens will pay to cut idle energy</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49 emails</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EDE4D3"/>
                    </a:solidFill>
                  </a:tcPr>
                </a:tc>
              </a:tr>
            </a:tbl>
          </a:graphicData>
        </a:graphic>
      </p:graphicFrame>
      <p:sp>
        <p:nvSpPr>
          <p:cNvPr id="18" name="Text 14"/>
          <p:cNvSpPr txBox="1"/>
          <p:nvPr/>
        </p:nvSpPr>
        <p:spPr>
          <a:xfrm>
            <a:off x="685800" y="4937760"/>
            <a:ext cx="10789920" cy="685800"/>
          </a:xfrm>
          <a:prstGeom prst="rect">
            <a:avLst/>
          </a:prstGeom>
          <a:noFill/>
          <a:ln/>
        </p:spPr>
        <p:txBody>
          <a:bodyPr wrap="square" lIns="0" tIns="0" rIns="0" bIns="0" rtlCol="0" anchor="t"/>
          <a:lstStyle/>
          <a:p>
            <a:pPr indent="0" marL="0">
              <a:buNone/>
            </a:pPr>
            <a:r>
              <a:rPr lang="en-US" sz="1500" dirty="0">
                <a:solidFill>
                  <a:schemeClr val="tx1"/>
                </a:solidFill>
              </a:rPr>
              <a:t>Owners don't bill electricity per user, it's built into membership fees. So the headline moved to predictive maintenance. Billing stays as a bonus.</a:t>
            </a:r>
            <a:endParaRPr lang="en-US" sz="1500" dirty="0"/>
          </a:p>
        </p:txBody>
      </p:sp>
      <p:sp>
        <p:nvSpPr>
          <p:cNvPr id="19" name="Text 15"/>
          <p:cNvSpPr txBox="1"/>
          <p:nvPr/>
        </p:nvSpPr>
        <p:spPr>
          <a:xfrm>
            <a:off x="6400800" y="4434840"/>
            <a:ext cx="5120640" cy="274320"/>
          </a:xfrm>
          <a:prstGeom prst="rect">
            <a:avLst/>
          </a:prstGeom>
          <a:noFill/>
          <a:ln/>
        </p:spPr>
        <p:txBody>
          <a:bodyPr wrap="square" lIns="0" tIns="0" rIns="0" bIns="0" rtlCol="0" anchor="ctr"/>
          <a:lstStyle/>
          <a:p>
            <a:pPr indent="0" marL="0">
              <a:buNone/>
            </a:pPr>
            <a:r>
              <a:rPr lang="en-US" sz="1100" dirty="0">
                <a:solidFill>
                  <a:srgbClr val="5B6B5F"/>
                </a:solidFill>
              </a:rPr>
              <a:t>Full validation board in the appendix.</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Heartbeat motif" descr="preencoded.png">    </p:cNvPr>
          <p:cNvPicPr>
            <a:picLocks noChangeAspect="1"/>
          </p:cNvPicPr>
          <p:nvPr/>
        </p:nvPicPr>
        <p:blipFill>
          <a:blip r:embed="rId1"/>
          <a:stretch>
            <a:fillRect/>
          </a:stretch>
        </p:blipFill>
        <p:spPr>
          <a:xfrm>
            <a:off x="0" y="2468880"/>
            <a:ext cx="12191695" cy="2113227"/>
          </a:xfrm>
          <a:prstGeom prst="rect">
            <a:avLst/>
          </a:prstGeom>
        </p:spPr>
      </p:pic>
      <p:sp>
        <p:nvSpPr>
          <p:cNvPr id="3" name="Text 0"/>
          <p:cNvSpPr txBox="1"/>
          <p:nvPr/>
        </p:nvSpPr>
        <p:spPr>
          <a:xfrm>
            <a:off x="685800" y="731520"/>
            <a:ext cx="10241280" cy="2194560"/>
          </a:xfrm>
          <a:prstGeom prst="rect">
            <a:avLst/>
          </a:prstGeom>
          <a:noFill/>
          <a:ln/>
        </p:spPr>
        <p:txBody>
          <a:bodyPr wrap="square" lIns="0" tIns="0" rIns="0" bIns="0" rtlCol="0" anchor="t"/>
          <a:lstStyle/>
          <a:p>
            <a:pPr indent="0" marL="0">
              <a:spcAft>
                <a:spcPts val="800"/>
              </a:spcAft>
              <a:buNone/>
            </a:pPr>
            <a:r>
              <a:rPr lang="en-US" sz="3800" b="1" dirty="0">
                <a:solidFill>
                  <a:srgbClr val="D6E4D3"/>
                </a:solidFill>
                <a:latin typeface="Space Grotesk" pitchFamily="34" charset="0"/>
                <a:ea typeface="Space Grotesk" pitchFamily="34" charset="-122"/>
                <a:cs typeface="Space Grotesk" pitchFamily="34" charset="-120"/>
              </a:rPr>
              <a:t>Skedda tells you who booked it.</a:t>
            </a:r>
            <a:endParaRPr lang="en-US" sz="3800" dirty="0"/>
          </a:p>
          <a:p>
            <a:pPr indent="0" marL="0">
              <a:spcAft>
                <a:spcPts val="800"/>
              </a:spcAft>
              <a:buNone/>
            </a:pPr>
            <a:r>
              <a:rPr lang="en-US" sz="3800" b="1" dirty="0">
                <a:solidFill>
                  <a:srgbClr val="F3EBDD"/>
                </a:solidFill>
                <a:latin typeface="Space Grotesk" pitchFamily="34" charset="0"/>
                <a:ea typeface="Space Grotesk" pitchFamily="34" charset="-122"/>
                <a:cs typeface="Space Grotesk" pitchFamily="34" charset="-120"/>
              </a:rPr>
              <a:t>PREVUMO tells you who used it, and when it's about to fail.</a:t>
            </a:r>
            <a:endParaRPr lang="en-US" sz="3800" dirty="0"/>
          </a:p>
        </p:txBody>
      </p:sp>
      <p:sp>
        <p:nvSpPr>
          <p:cNvPr id="4" name="Text 1"/>
          <p:cNvSpPr txBox="1"/>
          <p:nvPr/>
        </p:nvSpPr>
        <p:spPr>
          <a:xfrm>
            <a:off x="685800" y="5440680"/>
            <a:ext cx="6400800" cy="640080"/>
          </a:xfrm>
          <a:prstGeom prst="rect">
            <a:avLst/>
          </a:prstGeom>
          <a:noFill/>
          <a:ln/>
        </p:spPr>
        <p:txBody>
          <a:bodyPr wrap="square" lIns="0" tIns="0" rIns="0" bIns="0" rtlCol="0" anchor="ctr"/>
          <a:lstStyle/>
          <a:p>
            <a:pPr indent="0" marL="0">
              <a:buNone/>
            </a:pPr>
            <a:r>
              <a:rPr lang="en-US" sz="3000" b="1" dirty="0">
                <a:solidFill>
                  <a:srgbClr val="E07A2E"/>
                </a:solidFill>
                <a:latin typeface="Space Grotesk" pitchFamily="34" charset="0"/>
                <a:ea typeface="Space Grotesk" pitchFamily="34" charset="-122"/>
                <a:cs typeface="Space Grotesk" pitchFamily="34" charset="-120"/>
              </a:rPr>
              <a:t>Thank you. Questions?</a:t>
            </a:r>
            <a:endParaRPr lang="en-US" sz="3000" dirty="0"/>
          </a:p>
        </p:txBody>
      </p:sp>
      <p:sp>
        <p:nvSpPr>
          <p:cNvPr id="5" name="QR slot"/>
          <p:cNvSpPr/>
          <p:nvPr/>
        </p:nvSpPr>
        <p:spPr>
          <a:xfrm>
            <a:off x="10012680" y="4709160"/>
            <a:ext cx="1508760" cy="1508760"/>
          </a:xfrm>
          <a:prstGeom prst="roundRect">
            <a:avLst>
              <a:gd name="adj" fmla="val 4848"/>
            </a:avLst>
          </a:prstGeom>
          <a:solidFill>
            <a:srgbClr val="1F3D2B"/>
          </a:solidFill>
          <a:ln w="15875">
            <a:solidFill>
              <a:srgbClr val="F3EBDD"/>
            </a:solidFill>
            <a:prstDash val="dash"/>
          </a:ln>
        </p:spPr>
      </p:sp>
      <p:sp>
        <p:nvSpPr>
          <p:cNvPr id="6" name="Text 3"/>
          <p:cNvSpPr txBox="1"/>
          <p:nvPr/>
        </p:nvSpPr>
        <p:spPr>
          <a:xfrm>
            <a:off x="10012680" y="4709160"/>
            <a:ext cx="1508760" cy="1508760"/>
          </a:xfrm>
          <a:prstGeom prst="rect">
            <a:avLst/>
          </a:prstGeom>
          <a:noFill/>
          <a:ln/>
        </p:spPr>
        <p:txBody>
          <a:bodyPr wrap="square" lIns="0" tIns="0" rIns="0" bIns="0" rtlCol="0" anchor="ctr"/>
          <a:lstStyle/>
          <a:p>
            <a:pPr algn="ctr" indent="0" marL="0">
              <a:buNone/>
            </a:pPr>
            <a:r>
              <a:rPr lang="en-US" sz="1000" dirty="0">
                <a:solidFill>
                  <a:srgbClr val="F3EBDD"/>
                </a:solidFill>
                <a:latin typeface="JetBrains Mono" pitchFamily="34" charset="0"/>
                <a:ea typeface="JetBrains Mono" pitchFamily="34" charset="-122"/>
                <a:cs typeface="JetBrains Mono" pitchFamily="34" charset="-120"/>
              </a:rPr>
              <a:t>QR</a:t>
            </a:r>
            <a:endParaRPr lang="en-US" sz="1000" dirty="0"/>
          </a:p>
          <a:p>
            <a:pPr algn="ctr" indent="0" marL="0">
              <a:buNone/>
            </a:pPr>
            <a:r>
              <a:rPr lang="en-US" sz="1000" dirty="0">
                <a:solidFill>
                  <a:srgbClr val="F3EBDD"/>
                </a:solidFill>
                <a:latin typeface="JetBrains Mono" pitchFamily="34" charset="0"/>
                <a:ea typeface="JetBrains Mono" pitchFamily="34" charset="-122"/>
                <a:cs typeface="JetBrains Mono" pitchFamily="34" charset="-120"/>
              </a:rPr>
              <a:t>[LIVE APP URL]</a:t>
            </a:r>
            <a:endParaRPr lang="en-US" sz="1000" dirty="0"/>
          </a:p>
        </p:txBody>
      </p:sp>
      <p:sp>
        <p:nvSpPr>
          <p:cNvPr id="7" name="Text 4"/>
          <p:cNvSpPr txBox="1"/>
          <p:nvPr/>
        </p:nvSpPr>
        <p:spPr>
          <a:xfrm>
            <a:off x="7863840" y="5806440"/>
            <a:ext cx="1920240" cy="365760"/>
          </a:xfrm>
          <a:prstGeom prst="rect">
            <a:avLst/>
          </a:prstGeom>
          <a:noFill/>
          <a:ln/>
        </p:spPr>
        <p:txBody>
          <a:bodyPr wrap="square" lIns="0" tIns="0" rIns="0" bIns="0" rtlCol="0" anchor="ctr"/>
          <a:lstStyle/>
          <a:p>
            <a:pPr algn="r" indent="0" marL="0">
              <a:buNone/>
            </a:pPr>
            <a:r>
              <a:rPr lang="en-US" sz="1300" dirty="0">
                <a:solidFill>
                  <a:srgbClr val="D6E4D3"/>
                </a:solidFill>
              </a:rPr>
              <a:t>Try the app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Remote shutdown hardware</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Shape 2"/>
          <p:cNvSpPr/>
          <p:nvPr/>
        </p:nvSpPr>
        <p:spPr>
          <a:xfrm>
            <a:off x="685800" y="1554480"/>
            <a:ext cx="3429000" cy="2926080"/>
          </a:xfrm>
          <a:prstGeom prst="roundRect">
            <a:avLst>
              <a:gd name="adj" fmla="val 3750"/>
            </a:avLst>
          </a:prstGeom>
          <a:solidFill>
            <a:schemeClr val="bg1"/>
          </a:solidFill>
          <a:ln w="9525">
            <a:solidFill>
              <a:srgbClr val="E3D6C0"/>
            </a:solidFill>
            <a:prstDash val="solid"/>
          </a:ln>
        </p:spPr>
      </p:sp>
      <p:sp>
        <p:nvSpPr>
          <p:cNvPr id="6" name="Text 3"/>
          <p:cNvSpPr txBox="1"/>
          <p:nvPr/>
        </p:nvSpPr>
        <p:spPr>
          <a:xfrm>
            <a:off x="10058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Up to 15 A at 120 V</a:t>
            </a:r>
            <a:endParaRPr lang="en-US" sz="2400" dirty="0"/>
          </a:p>
        </p:txBody>
      </p:sp>
      <p:sp>
        <p:nvSpPr>
          <p:cNvPr id="7" name="Text 4"/>
          <p:cNvSpPr txBox="1"/>
          <p:nvPr/>
        </p:nvSpPr>
        <p:spPr>
          <a:xfrm>
            <a:off x="10058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A certified relay inside the box switches the machine directly.</a:t>
            </a:r>
            <a:endParaRPr lang="en-US" sz="1600" dirty="0"/>
          </a:p>
        </p:txBody>
      </p:sp>
      <p:sp>
        <p:nvSpPr>
          <p:cNvPr id="8" name="Shape 5"/>
          <p:cNvSpPr/>
          <p:nvPr/>
        </p:nvSpPr>
        <p:spPr>
          <a:xfrm>
            <a:off x="4343400" y="1554480"/>
            <a:ext cx="3429000" cy="2926080"/>
          </a:xfrm>
          <a:prstGeom prst="roundRect">
            <a:avLst>
              <a:gd name="adj" fmla="val 3750"/>
            </a:avLst>
          </a:prstGeom>
          <a:solidFill>
            <a:schemeClr val="bg1"/>
          </a:solidFill>
          <a:ln w="9525">
            <a:solidFill>
              <a:srgbClr val="E3D6C0"/>
            </a:solidFill>
            <a:prstDash val="solid"/>
          </a:ln>
        </p:spPr>
      </p:sp>
      <p:sp>
        <p:nvSpPr>
          <p:cNvPr id="9" name="Text 6"/>
          <p:cNvSpPr txBox="1"/>
          <p:nvPr/>
        </p:nvSpPr>
        <p:spPr>
          <a:xfrm>
            <a:off x="46634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240 V or 3-phase</a:t>
            </a:r>
            <a:endParaRPr lang="en-US" sz="2400" dirty="0"/>
          </a:p>
        </p:txBody>
      </p:sp>
      <p:sp>
        <p:nvSpPr>
          <p:cNvPr id="10" name="Text 7"/>
          <p:cNvSpPr txBox="1"/>
          <p:nvPr/>
        </p:nvSpPr>
        <p:spPr>
          <a:xfrm>
            <a:off x="46634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The box drives a contactor, installed by a licensed electrician.</a:t>
            </a:r>
            <a:endParaRPr lang="en-US" sz="1600" dirty="0"/>
          </a:p>
        </p:txBody>
      </p:sp>
      <p:sp>
        <p:nvSpPr>
          <p:cNvPr id="11" name="Shape 8"/>
          <p:cNvSpPr/>
          <p:nvPr/>
        </p:nvSpPr>
        <p:spPr>
          <a:xfrm>
            <a:off x="8001000" y="1554480"/>
            <a:ext cx="3429000" cy="2926080"/>
          </a:xfrm>
          <a:prstGeom prst="roundRect">
            <a:avLst>
              <a:gd name="adj" fmla="val 3750"/>
            </a:avLst>
          </a:prstGeom>
          <a:solidFill>
            <a:schemeClr val="bg1"/>
          </a:solidFill>
          <a:ln w="9525">
            <a:solidFill>
              <a:srgbClr val="E3D6C0"/>
            </a:solidFill>
            <a:prstDash val="solid"/>
          </a:ln>
        </p:spPr>
      </p:sp>
      <p:sp>
        <p:nvSpPr>
          <p:cNvPr id="12" name="Text 9"/>
          <p:cNvSpPr txBox="1"/>
          <p:nvPr/>
        </p:nvSpPr>
        <p:spPr>
          <a:xfrm>
            <a:off x="83210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Before we sell</a:t>
            </a:r>
            <a:endParaRPr lang="en-US" sz="2400" dirty="0"/>
          </a:p>
        </p:txBody>
      </p:sp>
      <p:sp>
        <p:nvSpPr>
          <p:cNvPr id="13" name="Text 10"/>
          <p:cNvSpPr txBox="1"/>
          <p:nvPr/>
        </p:nvSpPr>
        <p:spPr>
          <a:xfrm>
            <a:off x="83210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CSA certification of the box is required.</a:t>
            </a:r>
            <a:endParaRPr lang="en-US" sz="1600" dirty="0"/>
          </a:p>
        </p:txBody>
      </p:sp>
      <p:pic>
        <p:nvPicPr>
          <p:cNvPr id="14" name="Image 0" descr="preencoded.png">    </p:cNvPr>
          <p:cNvPicPr>
            <a:picLocks noChangeAspect="1"/>
          </p:cNvPicPr>
          <p:nvPr/>
        </p:nvPicPr>
        <p:blipFill>
          <a:blip r:embed="rId1"/>
          <a:stretch>
            <a:fillRect/>
          </a:stretch>
        </p:blipFill>
        <p:spPr>
          <a:xfrm>
            <a:off x="685800" y="4937760"/>
            <a:ext cx="384048" cy="384048"/>
          </a:xfrm>
          <a:prstGeom prst="rect">
            <a:avLst/>
          </a:prstGeom>
        </p:spPr>
      </p:pic>
      <p:sp>
        <p:nvSpPr>
          <p:cNvPr id="15" name="Text 11"/>
          <p:cNvSpPr txBox="1"/>
          <p:nvPr/>
        </p:nvSpPr>
        <p:spPr>
          <a:xfrm>
            <a:off x="1188720" y="4892040"/>
            <a:ext cx="10058400" cy="502920"/>
          </a:xfrm>
          <a:prstGeom prst="rect">
            <a:avLst/>
          </a:prstGeom>
          <a:noFill/>
          <a:ln/>
        </p:spPr>
        <p:txBody>
          <a:bodyPr wrap="square" lIns="0" tIns="0" rIns="0" bIns="0" rtlCol="0" anchor="ctr"/>
          <a:lstStyle/>
          <a:p>
            <a:pPr indent="0" marL="0">
              <a:buNone/>
            </a:pPr>
            <a:r>
              <a:rPr lang="en-US" sz="1500" dirty="0">
                <a:solidFill>
                  <a:srgbClr val="1F3D2B"/>
                </a:solidFill>
              </a:rPr>
              <a:t>After any shutdown the machine stays off until someone starts it again. Fridges and freezers are never cut.</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Learning, privacy and limits</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645920"/>
            <a:ext cx="3383280" cy="822960"/>
          </a:xfrm>
          <a:prstGeom prst="rect">
            <a:avLst/>
          </a:prstGeom>
          <a:noFill/>
          <a:ln/>
        </p:spPr>
        <p:txBody>
          <a:bodyPr wrap="square" lIns="0" tIns="0" rIns="0" bIns="0" rtlCol="0" anchor="b"/>
          <a:lstStyle/>
          <a:p>
            <a:pPr indent="0" marL="0">
              <a:buNone/>
            </a:pPr>
            <a:r>
              <a:rPr lang="en-US" sz="3000" dirty="0">
                <a:solidFill>
                  <a:srgbClr val="1F3D2B"/>
                </a:solidFill>
                <a:latin typeface="JetBrains Mono" pitchFamily="34" charset="0"/>
                <a:ea typeface="JetBrains Mono" pitchFamily="34" charset="-122"/>
                <a:cs typeface="JetBrains Mono" pitchFamily="34" charset="-120"/>
              </a:rPr>
              <a:t>About 7 days</a:t>
            </a:r>
            <a:endParaRPr lang="en-US" sz="3000" dirty="0"/>
          </a:p>
        </p:txBody>
      </p:sp>
      <p:sp>
        <p:nvSpPr>
          <p:cNvPr id="6" name="Text 3"/>
          <p:cNvSpPr txBox="1"/>
          <p:nvPr/>
        </p:nvSpPr>
        <p:spPr>
          <a:xfrm>
            <a:off x="6858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to learn a new machine's normal current pattern. Alerts switch on after that.</a:t>
            </a:r>
            <a:endParaRPr lang="en-US" sz="1600" dirty="0"/>
          </a:p>
        </p:txBody>
      </p:sp>
      <p:sp>
        <p:nvSpPr>
          <p:cNvPr id="7" name="Text 4"/>
          <p:cNvSpPr txBox="1"/>
          <p:nvPr/>
        </p:nvSpPr>
        <p:spPr>
          <a:xfrm>
            <a:off x="4343400" y="1645920"/>
            <a:ext cx="3383280" cy="822960"/>
          </a:xfrm>
          <a:prstGeom prst="rect">
            <a:avLst/>
          </a:prstGeom>
          <a:noFill/>
          <a:ln/>
        </p:spPr>
        <p:txBody>
          <a:bodyPr wrap="square" lIns="0" tIns="0" rIns="0" bIns="0" rtlCol="0" anchor="b"/>
          <a:lstStyle/>
          <a:p>
            <a:pPr indent="0" marL="0">
              <a:buNone/>
            </a:pPr>
            <a:r>
              <a:rPr lang="en-US" sz="3000" b="1" dirty="0">
                <a:solidFill>
                  <a:srgbClr val="1F3D2B"/>
                </a:solidFill>
                <a:latin typeface="Space Grotesk" pitchFamily="34" charset="0"/>
                <a:ea typeface="Space Grotesk" pitchFamily="34" charset="-122"/>
                <a:cs typeface="Space Grotesk" pitchFamily="34" charset="-120"/>
              </a:rPr>
              <a:t>Owner only</a:t>
            </a:r>
            <a:endParaRPr lang="en-US" sz="3000" dirty="0"/>
          </a:p>
        </p:txBody>
      </p:sp>
      <p:sp>
        <p:nvSpPr>
          <p:cNvPr id="8" name="Text 5"/>
          <p:cNvSpPr txBox="1"/>
          <p:nvPr/>
        </p:nvSpPr>
        <p:spPr>
          <a:xfrm>
            <a:off x="43434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Usage data belongs to the owner's account. Members don't see each other's sessions.</a:t>
            </a:r>
            <a:endParaRPr lang="en-US" sz="1600" dirty="0"/>
          </a:p>
        </p:txBody>
      </p:sp>
      <p:sp>
        <p:nvSpPr>
          <p:cNvPr id="9" name="Text 6"/>
          <p:cNvSpPr txBox="1"/>
          <p:nvPr/>
        </p:nvSpPr>
        <p:spPr>
          <a:xfrm>
            <a:off x="8001000" y="1645920"/>
            <a:ext cx="3383280" cy="822960"/>
          </a:xfrm>
          <a:prstGeom prst="rect">
            <a:avLst/>
          </a:prstGeom>
          <a:noFill/>
          <a:ln/>
        </p:spPr>
        <p:txBody>
          <a:bodyPr wrap="square" lIns="0" tIns="0" rIns="0" bIns="0" rtlCol="0" anchor="b"/>
          <a:lstStyle/>
          <a:p>
            <a:pPr indent="0" marL="0">
              <a:buNone/>
            </a:pPr>
            <a:r>
              <a:rPr lang="en-US" sz="3000" b="1" dirty="0">
                <a:solidFill>
                  <a:srgbClr val="1F3D2B"/>
                </a:solidFill>
                <a:latin typeface="Space Grotesk" pitchFamily="34" charset="0"/>
                <a:ea typeface="Space Grotesk" pitchFamily="34" charset="-122"/>
                <a:cs typeface="Space Grotesk" pitchFamily="34" charset="-120"/>
              </a:rPr>
              <a:t>Electric only</a:t>
            </a:r>
            <a:endParaRPr lang="en-US" sz="3000" dirty="0"/>
          </a:p>
        </p:txBody>
      </p:sp>
      <p:sp>
        <p:nvSpPr>
          <p:cNvPr id="10" name="Text 7"/>
          <p:cNvSpPr txBox="1"/>
          <p:nvPr/>
        </p:nvSpPr>
        <p:spPr>
          <a:xfrm>
            <a:off x="80010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Gas equipment is invisible to electricity data.</a:t>
            </a:r>
            <a:endParaRPr lang="en-US" sz="1600" dirty="0"/>
          </a:p>
        </p:txBody>
      </p:sp>
      <p:pic>
        <p:nvPicPr>
          <p:cNvPr id="11" name="Heartbeat divider" descr="preencoded.png">    </p:cNvPr>
          <p:cNvPicPr>
            <a:picLocks noChangeAspect="1"/>
          </p:cNvPicPr>
          <p:nvPr/>
        </p:nvPicPr>
        <p:blipFill>
          <a:blip r:embed="rId1"/>
          <a:stretch>
            <a:fillRect/>
          </a:stretch>
        </p:blipFill>
        <p:spPr>
          <a:xfrm>
            <a:off x="685800" y="4297680"/>
            <a:ext cx="10789920" cy="539496"/>
          </a:xfrm>
          <a:prstGeom prst="rect">
            <a:avLst/>
          </a:prstGeom>
        </p:spPr>
      </p:pic>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Validation board</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graphicFrame>
        <p:nvGraphicFramePr>
          <p:cNvPr id="15" name="Full validation board"/>
          <p:cNvGraphicFramePr>
            <a:graphicFrameLocks noGrp="1"/>
          </p:cNvGraphicFramePr>
          <p:nvPr>
            <p:extLst>
              <p:ext uri="{D42A27DB-BD31-4B8C-83A1-F6EECF244321}">
                <p14:modId xmlns:p14="http://schemas.microsoft.com/office/powerpoint/2010/main" val="1579011935"/>
              </p:ext>
            </p:extLst>
          </p:nvPr>
        </p:nvGraphicFramePr>
        <p:xfrm>
          <a:off x="685800" y="1463040"/>
          <a:ext cx="10789920" cy="914400"/>
        </p:xfrm>
        <a:graphic>
          <a:graphicData uri="http://schemas.openxmlformats.org/drawingml/2006/table">
            <a:tbl>
              <a:tblPr/>
              <a:tblGrid>
                <a:gridCol w="1691640"/>
                <a:gridCol w="2103120"/>
                <a:gridCol w="2103120"/>
                <a:gridCol w="1417320"/>
                <a:gridCol w="1554480"/>
                <a:gridCol w="1920240"/>
              </a:tblGrid>
              <a:tr h="411480">
                <a:tc>
                  <a:txBody>
                    <a:bodyPr/>
                    <a:lstStyle/>
                    <a:p>
                      <a:pPr indent="0" marL="0">
                        <a:buNone/>
                      </a:pPr>
                      <a:r>
                        <a:rPr lang="en-US" sz="1200" b="1" dirty="0">
                          <a:solidFill>
                            <a:srgbClr val="5B6B5F"/>
                          </a:solidFill>
                          <a:latin typeface="Inter" pitchFamily="34" charset="0"/>
                          <a:ea typeface="Inter" pitchFamily="34" charset="-122"/>
                          <a:cs typeface="Inter" pitchFamily="34" charset="-120"/>
                        </a:rPr>
                        <a:t>Customer</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Problem</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Core assumption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Method</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Success criterion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777240">
                <a:tc>
                  <a:txBody>
                    <a:bodyPr/>
                    <a:lstStyle/>
                    <a:p>
                      <a:pPr indent="0" marL="0">
                        <a:buNone/>
                      </a:pPr>
                      <a:r>
                        <a:rPr lang="en-US" sz="1200" dirty="0">
                          <a:solidFill>
                            <a:srgbClr val="1F3D2B"/>
                          </a:solidFill>
                          <a:latin typeface="Inter" pitchFamily="34" charset="0"/>
                          <a:ea typeface="Inter" pitchFamily="34" charset="-122"/>
                          <a:cs typeface="Inter" pitchFamily="34" charset="-120"/>
                        </a:rPr>
                        <a:t>Makerspace owners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Electricity costs per member are invisible</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Owners want to bill electricity per user</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Interviews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b="1" dirty="0">
                          <a:solidFill>
                            <a:srgbClr val="FFFDF8"/>
                          </a:solidFill>
                          <a:latin typeface="Inter" pitchFamily="34" charset="0"/>
                          <a:ea typeface="Inter" pitchFamily="34" charset="-122"/>
                          <a:cs typeface="Inter" pitchFamily="34" charset="-120"/>
                        </a:rPr>
                        <a:t>Invalidated: built into membership fees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r h="777240">
                <a:tc>
                  <a:txBody>
                    <a:bodyPr/>
                    <a:lstStyle/>
                    <a:p>
                      <a:pPr indent="0" marL="0">
                        <a:buNone/>
                      </a:pPr>
                      <a:r>
                        <a:rPr lang="en-US" sz="1200" dirty="0">
                          <a:solidFill>
                            <a:srgbClr val="1F3D2B"/>
                          </a:solidFill>
                          <a:latin typeface="Inter" pitchFamily="34" charset="0"/>
                          <a:ea typeface="Inter" pitchFamily="34" charset="-122"/>
                          <a:cs typeface="Inter" pitchFamily="34" charset="-120"/>
                        </a:rPr>
                        <a:t>Makerspace and lab managers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Machines fail without warning, no history</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Owners want warning before a failure</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Interviews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777240">
                <a:tc>
                  <a:txBody>
                    <a:bodyPr/>
                    <a:lstStyle/>
                    <a:p>
                      <a:pPr indent="0" marL="0">
                        <a:buNone/>
                      </a:pPr>
                      <a:r>
                        <a:rPr lang="en-US" sz="1200" dirty="0">
                          <a:solidFill>
                            <a:srgbClr val="1F3D2B"/>
                          </a:solidFill>
                          <a:latin typeface="Inter" pitchFamily="34" charset="0"/>
                          <a:ea typeface="Inter" pitchFamily="34" charset="-122"/>
                          <a:cs typeface="Inter" pitchFamily="34" charset="-120"/>
                        </a:rPr>
                        <a:t>Shared kitchen operators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Idle equipment wastes energy</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Kitchens will pay to cut idle energy</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49 outreach emails</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EDE4D3"/>
                    </a:solidFill>
                  </a:tcPr>
                </a:tc>
              </a:tr>
              <a:tr h="502920">
                <a:tc>
                  <a:txBody>
                    <a:bodyPr/>
                    <a:lstStyle/>
                    <a:p>
                      <a:pPr indent="0" marL="0">
                        <a:buNone/>
                      </a:pPr>
                      <a:r>
                        <a:rPr lang="en-US" sz="1200" dirty="0">
                          <a:solidFill>
                            <a:srgbClr val="E07A2E"/>
                          </a:solidFill>
                          <a:latin typeface="Inter" pitchFamily="34" charset="0"/>
                          <a:ea typeface="Inter" pitchFamily="34" charset="-122"/>
                          <a:cs typeface="Inter" pitchFamily="34" charset="-120"/>
                        </a:rPr>
                        <a:t>[FILL IN]</a:t>
                      </a:r>
                      <a:endParaRPr lang="en-US" sz="12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endParaRPr lang="en-US" sz="14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endParaRPr lang="en-US" sz="14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endParaRPr lang="en-US" sz="14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endParaRPr lang="en-US" sz="14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endParaRPr lang="en-US" sz="1400" dirty="0">
                        <a:latin typeface="Inter" charset="0"/>
                        <a:ea typeface="Inter" charset="0"/>
                        <a:cs typeface="Inter" charset="0"/>
                      </a:endParaRPr>
                    </a:p>
                  </a:txBody>
                  <a:tcPr marL="91440" marR="91440" marT="54864" marB="54864"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bl>
          </a:graphicData>
        </a:graphic>
      </p:graphicFrame>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Q&amp;A prep</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41732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Why not a smart plug?</a:t>
            </a:r>
            <a:endParaRPr lang="en-US" sz="1600" dirty="0"/>
          </a:p>
        </p:txBody>
      </p:sp>
      <p:sp>
        <p:nvSpPr>
          <p:cNvPr id="6" name="Text 3"/>
          <p:cNvSpPr txBox="1"/>
          <p:nvPr/>
        </p:nvSpPr>
        <p:spPr>
          <a:xfrm>
            <a:off x="685800" y="1783080"/>
            <a:ext cx="5120640" cy="640080"/>
          </a:xfrm>
          <a:prstGeom prst="rect">
            <a:avLst/>
          </a:prstGeom>
          <a:noFill/>
          <a:ln/>
        </p:spPr>
        <p:txBody>
          <a:bodyPr wrap="square" lIns="0" tIns="0" rIns="0" bIns="0" rtlCol="0" anchor="t"/>
          <a:lstStyle/>
          <a:p>
            <a:pPr indent="0" marL="0">
              <a:buNone/>
            </a:pPr>
            <a:r>
              <a:rPr lang="en-US" sz="1300" dirty="0">
                <a:solidFill>
                  <a:srgbClr val="5B6B5F"/>
                </a:solidFill>
              </a:rPr>
              <a:t>No PIN, no per member history, no learned normal curve, and most can't carry a welder.</a:t>
            </a:r>
            <a:endParaRPr lang="en-US" sz="1300" dirty="0"/>
          </a:p>
        </p:txBody>
      </p:sp>
      <p:sp>
        <p:nvSpPr>
          <p:cNvPr id="7" name="Text 4"/>
          <p:cNvSpPr txBox="1"/>
          <p:nvPr/>
        </p:nvSpPr>
        <p:spPr>
          <a:xfrm>
            <a:off x="685800" y="251460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Heavy 240 V equipment?</a:t>
            </a:r>
            <a:endParaRPr lang="en-US" sz="1600" dirty="0"/>
          </a:p>
        </p:txBody>
      </p:sp>
      <p:sp>
        <p:nvSpPr>
          <p:cNvPr id="8" name="Text 5"/>
          <p:cNvSpPr txBox="1"/>
          <p:nvPr/>
        </p:nvSpPr>
        <p:spPr>
          <a:xfrm>
            <a:off x="685800" y="2880360"/>
            <a:ext cx="5120640" cy="640080"/>
          </a:xfrm>
          <a:prstGeom prst="rect">
            <a:avLst/>
          </a:prstGeom>
          <a:noFill/>
          <a:ln/>
        </p:spPr>
        <p:txBody>
          <a:bodyPr wrap="square" lIns="0" tIns="0" rIns="0" bIns="0" rtlCol="0" anchor="t"/>
          <a:lstStyle/>
          <a:p>
            <a:pPr indent="0" marL="0">
              <a:buNone/>
            </a:pPr>
            <a:r>
              <a:rPr lang="en-US" sz="1300" dirty="0">
                <a:solidFill>
                  <a:srgbClr val="5B6B5F"/>
                </a:solidFill>
              </a:rPr>
              <a:t>The box drives a contactor installed by a licensed electrician.</a:t>
            </a:r>
            <a:endParaRPr lang="en-US" sz="1300" dirty="0"/>
          </a:p>
        </p:txBody>
      </p:sp>
      <p:sp>
        <p:nvSpPr>
          <p:cNvPr id="9" name="Text 6"/>
          <p:cNvSpPr txBox="1"/>
          <p:nvPr/>
        </p:nvSpPr>
        <p:spPr>
          <a:xfrm>
            <a:off x="685800" y="361188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Liability for a shutdown?</a:t>
            </a:r>
            <a:endParaRPr lang="en-US" sz="1600" dirty="0"/>
          </a:p>
        </p:txBody>
      </p:sp>
      <p:sp>
        <p:nvSpPr>
          <p:cNvPr id="10" name="Text 7"/>
          <p:cNvSpPr txBox="1"/>
          <p:nvPr/>
        </p:nvSpPr>
        <p:spPr>
          <a:xfrm>
            <a:off x="685800" y="3977640"/>
            <a:ext cx="5120640" cy="640080"/>
          </a:xfrm>
          <a:prstGeom prst="rect">
            <a:avLst/>
          </a:prstGeom>
          <a:noFill/>
          <a:ln/>
        </p:spPr>
        <p:txBody>
          <a:bodyPr wrap="square" lIns="0" tIns="0" rIns="0" bIns="0" rtlCol="0" anchor="t"/>
          <a:lstStyle/>
          <a:p>
            <a:pPr indent="0" marL="0">
              <a:buNone/>
            </a:pPr>
            <a:r>
              <a:rPr lang="en-US" sz="1300" dirty="0">
                <a:solidFill>
                  <a:srgbClr val="5B6B5F"/>
                </a:solidFill>
              </a:rPr>
              <a:t>The owner decides, every shutdown is logged, nothing restarts on its own.</a:t>
            </a:r>
            <a:endParaRPr lang="en-US" sz="1300" dirty="0"/>
          </a:p>
        </p:txBody>
      </p:sp>
      <p:sp>
        <p:nvSpPr>
          <p:cNvPr id="11" name="Text 8"/>
          <p:cNvSpPr txBox="1"/>
          <p:nvPr/>
        </p:nvSpPr>
        <p:spPr>
          <a:xfrm>
            <a:off x="685800" y="470916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How does it know normal?</a:t>
            </a:r>
            <a:endParaRPr lang="en-US" sz="1600" dirty="0"/>
          </a:p>
        </p:txBody>
      </p:sp>
      <p:sp>
        <p:nvSpPr>
          <p:cNvPr id="12" name="Text 9"/>
          <p:cNvSpPr txBox="1"/>
          <p:nvPr/>
        </p:nvSpPr>
        <p:spPr>
          <a:xfrm>
            <a:off x="685800" y="5074920"/>
            <a:ext cx="5120640" cy="640080"/>
          </a:xfrm>
          <a:prstGeom prst="rect">
            <a:avLst/>
          </a:prstGeom>
          <a:noFill/>
          <a:ln/>
        </p:spPr>
        <p:txBody>
          <a:bodyPr wrap="square" lIns="0" tIns="0" rIns="0" bIns="0" rtlCol="0" anchor="t"/>
          <a:lstStyle/>
          <a:p>
            <a:pPr indent="0" marL="0">
              <a:buNone/>
            </a:pPr>
            <a:r>
              <a:rPr lang="en-US" sz="1300" dirty="0">
                <a:solidFill>
                  <a:srgbClr val="5B6B5F"/>
                </a:solidFill>
              </a:rPr>
              <a:t>About 7 days of the machine's own current, then it flags sustained changes.</a:t>
            </a:r>
            <a:endParaRPr lang="en-US" sz="1300" dirty="0"/>
          </a:p>
        </p:txBody>
      </p:sp>
      <p:sp>
        <p:nvSpPr>
          <p:cNvPr id="13" name="Text 10"/>
          <p:cNvSpPr txBox="1"/>
          <p:nvPr/>
        </p:nvSpPr>
        <p:spPr>
          <a:xfrm>
            <a:off x="6172200" y="141732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Can a non-profit pay $25?</a:t>
            </a:r>
            <a:endParaRPr lang="en-US" sz="1600" dirty="0"/>
          </a:p>
        </p:txBody>
      </p:sp>
      <p:sp>
        <p:nvSpPr>
          <p:cNvPr id="14" name="Text 11"/>
          <p:cNvSpPr txBox="1"/>
          <p:nvPr/>
        </p:nvSpPr>
        <p:spPr>
          <a:xfrm>
            <a:off x="6172200" y="1783080"/>
            <a:ext cx="5120640" cy="640080"/>
          </a:xfrm>
          <a:prstGeom prst="rect">
            <a:avLst/>
          </a:prstGeom>
          <a:noFill/>
          <a:ln/>
        </p:spPr>
        <p:txBody>
          <a:bodyPr wrap="square" lIns="0" tIns="0" rIns="0" bIns="0" rtlCol="0" anchor="t"/>
          <a:lstStyle/>
          <a:p>
            <a:pPr indent="0" marL="0">
              <a:buNone/>
            </a:pPr>
            <a:r>
              <a:rPr lang="en-US" sz="1300" dirty="0">
                <a:solidFill>
                  <a:srgbClr val="5B6B5F"/>
                </a:solidFill>
              </a:rPr>
              <a:t>One avoided emergency call ($754) covers about 2.5 machine-years. Price still to validate.</a:t>
            </a:r>
            <a:endParaRPr lang="en-US" sz="1300" dirty="0"/>
          </a:p>
        </p:txBody>
      </p:sp>
      <p:sp>
        <p:nvSpPr>
          <p:cNvPr id="15" name="Text 12"/>
          <p:cNvSpPr txBox="1"/>
          <p:nvPr/>
        </p:nvSpPr>
        <p:spPr>
          <a:xfrm>
            <a:off x="6172200" y="251460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Versus Fabman?</a:t>
            </a:r>
            <a:endParaRPr lang="en-US" sz="1600" dirty="0"/>
          </a:p>
        </p:txBody>
      </p:sp>
      <p:sp>
        <p:nvSpPr>
          <p:cNvPr id="16" name="Text 13"/>
          <p:cNvSpPr txBox="1"/>
          <p:nvPr/>
        </p:nvSpPr>
        <p:spPr>
          <a:xfrm>
            <a:off x="6172200" y="2880360"/>
            <a:ext cx="5120640" cy="640080"/>
          </a:xfrm>
          <a:prstGeom prst="rect">
            <a:avLst/>
          </a:prstGeom>
          <a:noFill/>
          <a:ln/>
        </p:spPr>
        <p:txBody>
          <a:bodyPr wrap="square" lIns="0" tIns="0" rIns="0" bIns="0" rtlCol="0" anchor="t"/>
          <a:lstStyle/>
          <a:p>
            <a:pPr indent="0" marL="0">
              <a:buNone/>
            </a:pPr>
            <a:r>
              <a:rPr lang="en-US" sz="1300" dirty="0">
                <a:solidFill>
                  <a:srgbClr val="5B6B5F"/>
                </a:solidFill>
              </a:rPr>
              <a:t>Fabman knows who switched it on. We add machine health, idle and technicians.</a:t>
            </a:r>
            <a:endParaRPr lang="en-US" sz="1300" dirty="0"/>
          </a:p>
        </p:txBody>
      </p:sp>
      <p:sp>
        <p:nvSpPr>
          <p:cNvPr id="17" name="Text 14"/>
          <p:cNvSpPr txBox="1"/>
          <p:nvPr/>
        </p:nvSpPr>
        <p:spPr>
          <a:xfrm>
            <a:off x="6172200" y="361188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What did interviews change?</a:t>
            </a:r>
            <a:endParaRPr lang="en-US" sz="1600" dirty="0"/>
          </a:p>
        </p:txBody>
      </p:sp>
      <p:sp>
        <p:nvSpPr>
          <p:cNvPr id="18" name="Text 15"/>
          <p:cNvSpPr txBox="1"/>
          <p:nvPr/>
        </p:nvSpPr>
        <p:spPr>
          <a:xfrm>
            <a:off x="6172200" y="3977640"/>
            <a:ext cx="5120640" cy="640080"/>
          </a:xfrm>
          <a:prstGeom prst="rect">
            <a:avLst/>
          </a:prstGeom>
          <a:noFill/>
          <a:ln/>
        </p:spPr>
        <p:txBody>
          <a:bodyPr wrap="square" lIns="0" tIns="0" rIns="0" bIns="0" rtlCol="0" anchor="t"/>
          <a:lstStyle/>
          <a:p>
            <a:pPr indent="0" marL="0">
              <a:buNone/>
            </a:pPr>
            <a:r>
              <a:rPr lang="en-US" sz="1300" dirty="0">
                <a:solidFill>
                  <a:srgbClr val="5B6B5F"/>
                </a:solidFill>
              </a:rPr>
              <a:t>No per user billing, so predictive maintenance became the headline.</a:t>
            </a:r>
            <a:endParaRPr lang="en-US" sz="1300" dirty="0"/>
          </a:p>
        </p:txBody>
      </p:sp>
      <p:sp>
        <p:nvSpPr>
          <p:cNvPr id="19" name="Text 16"/>
          <p:cNvSpPr txBox="1"/>
          <p:nvPr/>
        </p:nvSpPr>
        <p:spPr>
          <a:xfrm>
            <a:off x="6172200" y="4846320"/>
            <a:ext cx="5120640" cy="274320"/>
          </a:xfrm>
          <a:prstGeom prst="rect">
            <a:avLst/>
          </a:prstGeom>
          <a:noFill/>
          <a:ln/>
        </p:spPr>
        <p:txBody>
          <a:bodyPr wrap="square" lIns="0" tIns="0" rIns="0" bIns="0" rtlCol="0" anchor="ctr"/>
          <a:lstStyle/>
          <a:p>
            <a:pPr indent="0" marL="0">
              <a:buNone/>
            </a:pPr>
            <a:r>
              <a:rPr lang="en-US" sz="1100" dirty="0">
                <a:solidFill>
                  <a:srgbClr val="5B6B5F"/>
                </a:solidFill>
              </a:rPr>
              <a:t>Full answers in the speaker notes.</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Sources</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463040"/>
            <a:ext cx="10789920" cy="4389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3D2B"/>
                </a:solidFill>
              </a:rPr>
              <a:t>Makerspace director and Executive Director, Ontario makerspace: Group 10 interviews, 2026. Quotes anonymized.</a:t>
            </a:r>
            <a:endParaRPr lang="en-US" sz="1400" dirty="0"/>
          </a:p>
          <a:p>
            <a:pPr marL="342900" indent="-342900">
              <a:spcAft>
                <a:spcPts val="1000"/>
              </a:spcAft>
              <a:buSzPct val="100000"/>
              <a:buChar char="•"/>
            </a:pPr>
            <a:r>
              <a:rPr lang="en-US" sz="1400" dirty="0">
                <a:solidFill>
                  <a:srgbClr val="1F3D2B"/>
                </a:solidFill>
              </a:rPr>
              <a:t>Emergency repair call average, $754: 86 Repairs, 2024, via Envigilance.</a:t>
            </a:r>
            <a:endParaRPr lang="en-US" sz="1400" dirty="0"/>
          </a:p>
          <a:p>
            <a:pPr marL="342900" indent="-342900">
              <a:spcAft>
                <a:spcPts val="1000"/>
              </a:spcAft>
              <a:buSzPct val="100000"/>
              <a:buChar char="•"/>
            </a:pPr>
            <a:r>
              <a:rPr lang="en-US" sz="1400" dirty="0">
                <a:solidFill>
                  <a:srgbClr val="1F3D2B"/>
                </a:solidFill>
              </a:rPr>
              <a:t>31 shared-use commercial kitchens in Ontario: poidata.io, August 2025.</a:t>
            </a:r>
            <a:endParaRPr lang="en-US" sz="1400" dirty="0"/>
          </a:p>
          <a:p>
            <a:pPr marL="342900" indent="-342900">
              <a:spcAft>
                <a:spcPts val="1000"/>
              </a:spcAft>
              <a:buSzPct val="100000"/>
              <a:buChar char="•"/>
            </a:pPr>
            <a:r>
              <a:rPr lang="en-US" sz="1400" dirty="0">
                <a:solidFill>
                  <a:srgbClr val="1F3D2B"/>
                </a:solidFill>
              </a:rPr>
              <a:t>Predictive maintenance saves about 30 to 40% versus reactive maintenance: U.S. Department of Energy, Operations &amp; Maintenance Best Practices Guide.</a:t>
            </a:r>
            <a:endParaRPr lang="en-US" sz="1400" dirty="0"/>
          </a:p>
          <a:p>
            <a:pPr marL="342900" indent="-342900">
              <a:spcAft>
                <a:spcPts val="1000"/>
              </a:spcAft>
              <a:buSzPct val="100000"/>
              <a:buChar char="•"/>
            </a:pPr>
            <a:r>
              <a:rPr lang="en-US" sz="1400" dirty="0">
                <a:solidFill>
                  <a:srgbClr val="1F3D2B"/>
                </a:solidFill>
              </a:rPr>
              <a:t>Restaurants use 5 to 7 times more energy per square foot than other commercial buildings: ENERGY STAR.</a:t>
            </a:r>
            <a:endParaRPr lang="en-US" sz="1400" dirty="0"/>
          </a:p>
          <a:p>
            <a:pPr marL="342900" indent="-342900">
              <a:spcAft>
                <a:spcPts val="1000"/>
              </a:spcAft>
              <a:buSzPct val="100000"/>
              <a:buChar char="•"/>
            </a:pPr>
            <a:r>
              <a:rPr lang="en-US" sz="1400" dirty="0">
                <a:solidFill>
                  <a:srgbClr val="1F3D2B"/>
                </a:solidFill>
              </a:rPr>
              <a:t>Competitor prices: Skedda, Fabman, Emporia and MachineMetrics public pricing, from our competitor research.</a:t>
            </a:r>
            <a:endParaRPr lang="en-US" sz="1400" dirty="0"/>
          </a:p>
          <a:p>
            <a:pPr marL="342900" indent="-342900">
              <a:spcAft>
                <a:spcPts val="1000"/>
              </a:spcAft>
              <a:buSzPct val="100000"/>
              <a:buChar char="•"/>
            </a:pPr>
            <a:r>
              <a:rPr lang="en-US" sz="1400" dirty="0">
                <a:solidFill>
                  <a:srgbClr val="1F3D2B"/>
                </a:solidFill>
              </a:rPr>
              <a:t>Prices for PREVUMO ($300 box, $25 per machine per month) are assumptions to validate.</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REVUMO Field notes">
  <a:themeElements>
    <a:clrScheme name="PREVUMO Field notes">
      <a:dk1>
        <a:srgbClr val="1F3D2B"/>
      </a:dk1>
      <a:lt1>
        <a:srgbClr val="FFFDF8"/>
      </a:lt1>
      <a:dk2>
        <a:srgbClr val="5B6B5F"/>
      </a:dk2>
      <a:lt2>
        <a:srgbClr val="F3EBDD"/>
      </a:lt2>
      <a:accent1>
        <a:srgbClr val="2F6B45"/>
      </a:accent1>
      <a:accent2>
        <a:srgbClr val="E07A2E"/>
      </a:accent2>
      <a:accent3>
        <a:srgbClr val="A63D1F"/>
      </a:accent3>
      <a:accent4>
        <a:srgbClr val="D6E4D3"/>
      </a:accent4>
      <a:accent5>
        <a:srgbClr val="F6D2B4"/>
      </a:accent5>
      <a:accent6>
        <a:srgbClr val="EDE4D3"/>
      </a:accent6>
      <a:hlink>
        <a:srgbClr val="2F6B45"/>
      </a:hlink>
      <a:folHlink>
        <a:srgbClr val="5B6B5F"/>
      </a:folHlink>
    </a:clrScheme>
    <a:fontScheme name="PREVUMO Field not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Group 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PREVUMO pitch, GNG4120 Group 10</dc:title>
  <dc:subject>PptxGenJS Presentation</dc:subject>
  <dc:creator>Group 10</dc:creator>
  <cp:lastModifiedBy>Group 10</cp:lastModifiedBy>
  <cp:revision>1</cp:revision>
  <dcterms:created xsi:type="dcterms:W3CDTF">2026-10-22T21:17:23Z</dcterms:created>
  <dcterms:modified xsi:type="dcterms:W3CDTF">2026-10-22T21:17:23Z</dcterms:modified>
</cp:coreProperties>
</file>