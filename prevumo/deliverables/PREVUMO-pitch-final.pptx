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itch" id="{f14f0d62-ce02-9bf0-3d7b-ab03535308f1}">
          <p14:sldIdLst>
            <p14:sldId id="256"/>
            <p14:sldId id="257"/>
            <p14:sldId id="258"/>
            <p14:sldId id="259"/>
            <p14:sldId id="260"/>
            <p14:sldId id="261"/>
            <p14:sldId id="262"/>
            <p14:sldId id="263"/>
            <p14:sldId id="264"/>
            <p14:sldId id="265"/>
            <p14:sldId id="266"/>
          </p14:sldIdLst>
        </p14:section>
        <p14:section name="Appendix (Q&amp;A)" id="{369d5e59-84e4-8e33-ffc4-48db9686b3a8}">
          <p14:sldIdLst>
            <p14:sldId id="267"/>
            <p14:sldId id="268"/>
            <p14:sldId id="269"/>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A · 0:00 to 0:20 (20 s, about 45 words)
Speakers: A = [FILL IN], B = [FILL IN], C = [FILL IN], D = [FILL IN], E = [FILL IN].
Picture the welder in your school's makerspace. Expensive. Shared. Booked every single day.
Everyone knows who reserved it. Nobody knows what is happening inside it.
That gap is why we built PREVUMO, the preventive usage monitor. Let me show you what that gap costs.
CUE: click on "what that gap costs".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A · 0:20 to 0:45 (25 s, about 50 words)
A three thousand dollar welder dies on a Tuesday.
[pause]
Nobody saw it coming.
[pause]
The owner can open the booking software and see exactly who booked it that morning. But not what happened to it, and not whether it had been showing warning signs for weeks.
CUE: click on "warning signs for weeks".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A · 0:45 to 1:45 (60 s, about 130 words)
More and more makerspaces, university labs and shared kitchens now rent out expensive electric equipment. We wrote to forty nine of the people who run them. Here's what the first answers, and the industry data, tell us.
First, repairs. A makerspace director told us a breakdown costs "hundreds if not thousands of dollars." Industry data puts the average emergency repair call at seven hundred and fifty four dollars.
Second, lost customers. When machines keep breaking, members cancel, and each member is worth six hundred to six thousand dollars to that space.
Third, the blind spot. Booking tools only work, in his words, "when people actually use the software." And no sensor is watching the machine itself. So when it fails, there is no history to learn from.
CUE: click on "no history to learn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A, then hand off to B · 1:45 to 2:15 (30 s, about 65 words)
So our customer is the owner or manager of a shared space with costly electric equipment: makerspaces, labs and shared kitchens. Often one owner runs several locations.
Our promise to them fits in one sentence: catch failures before they happen, know who used each machine and how much, and shut it down safely from anywhere.
TRANSITION (A): B, so how do we actually see inside the machine?
B: Let me show you.
CUE: B clicks on "Let me show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B · 2:15 to 3:00 (45 s, about 98 words)
It starts with a small box on each machine's power line: a keypad, a current sensor and a relay, run by an ESP32 with Wi-Fi.
A member types their PIN, and only then does the machine power on. While they work, the box measures the current every second and sends it to the PREVUMO cloud.
Over its first week, the app learns that machine's normal curve. When the curve breaks pattern, the owner gets an alert and chooses: shut it down, call a technician, or mark it OK.
And two safety rules: nothing restarts on its own after a shutdown, and fridges are never cut.
CUE: click on "fridges are never cut".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B · 3:00 to 4:15 (75 s). The video is 67 s with no sound. Click the video to start it, then narrate on the cues in brackets (video time).
Before you click: "Here is the owner app. Everything you'll see works today."
[CLICK THE VIDEO]
[0:00] The owner logs in. uOttawa Engineering has three locations.
[0:06] Three machines are running: one started with a PIN, one unassigned, one booked to a capstone team. Below, the whole day on one timeline.
[0:11] Now Welder 2 starts drawing more than twice its normal current.
[0:15] Within seconds, this banner.
[0:19] Review shows the live curve against this welder's normal range, in green. Orange dots are the irregular points. Third time this month, 74 days since its last service.
[0:26] The owner calls a technician. The best match is preselected, and the machine's history goes with the request.
[0:35] Meanwhile, a 3D printer has been idle for 45 minutes, still drawing power. One tap shuts it down, for good.
[0:46] The owner gives Beta Inc. the laser cutter for this afternoon.
[0:56] And at the end of the day, the report builds itself, per machine and per member, ready to export.
[1:05] That's the loop: warning, decision, record.
TRANSITION (B): C, who else is going to want this?
C: Let's talk about the market.
CUE: C clicks on "the market".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C · 4:15 to 5:00 (45 s, about 98 words)
Let's size our first markets.
In Ontario alone, there are thirty one shared-use commercial kitchens, each one full of ovens, mixers and fridges that run all day. And kitchens matter, because restaurants use five to seven times more energy per square foot than other commercial buildings. Idle equipment there is expensive.
The method itself is proven. The U.S. Department of Energy reports that predictive maintenance saves about thirty to forty percent compared with fixing machines after they break.
Our path: start with one makerspace, grow into university networks with several labs, then move into shared kitchens.
[FILL IN: add a sourced makerspace count here if the team finds one; otherwise leave it out.]
CUE: click on "shared kitchens".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C, then hand off to D · 5:00 to 5:45 (45 s, about 98 words)
So who's already out there? Every competitor knows one piece of the story.
Skedda, from about two hundred and fifty US dollars a month, knows who booked.
Fabman knows who switched the machine on.
Emporia, around two hundred dollars, knows how much energy.
MachineMetrics knows machine health, but it's built for factories, with hardware from about fourteen hundred dollars a kit.
PREVUMO puts who used it, how much, machine health and remote shutdown together, built for shared spaces.
And Skedda can be a partner: a Skedda booking becomes a PIN on our box.
TRANSITION (C): D, so how does this make money?
D: Here's our model.
CUE: D clicks on "our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D · 5:45 to 6:45 (60 s, about 125 words)
Our business model changed, and the interviews are why.
Plan A, on the left, billed each member for the electricity they use. Then three owners told us how they charge for it: an Ontario makerspace and two shared kitchens, in Manitoba and Toronto. All three build electricity into membership or rent. Per user billing isn't their pain. Breakdowns and equipment left on are.
So Plan B is safety and predictive maintenance. The orange blocks changed: the value, the AI behind it, a technician network, makerspaces and labs first, and the revenue.
For one machine in year one: a three hundred dollar box plus three hundred dollars of subscription, six hundred dollars of revenue. These prices are still assumptions to validate.
TRANSITION (D): E, what have we learned so far?
E: More than we expected.
CUE: E clicks on "more than we expected".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E · 6:45 to 7:40 (55 s, about 115 words)
Here's where we are. We reverse engineered six competitors, from Skedda and Fabman to MachineMetrics. We built two business model canvases and sent forty nine emails to kitchens and makerspaces in Canada, the US and Europe. We're still waiting on replies to some of them. And we ran ten interviews.
An Ontario makerspace director told us: "Managing equipment is one of the biggest tasks we have."
A Manitoba kitchen owner told us: "I pay all the electricity and build that price into my monthly rent. Simple, easy, fair."
So per user billing is invalidated. Warning before failures is partly supported. And café staff forget equipment on, so we added scheduled shutdowns, controlled by the owner.
CUE: click on "controlled by the owner".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E · 7:40 to 8:00 (20 s, about 40 words)
Skedda tells you who booked it.
[pause]
PREVUMO tells you who used it, and when it's about to fail.
[pause]
Thank you. We'd love your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for Q&amp;A only. Remote shutdown hardware.
The box's own relay is certified for up to 15 A at 120 V, which covers 3D printers, laser cutters and most bench tools. For 240 V or 3-phase machines like large welders and ovens, the box drives a contactor, installed by a licensed electrician. Before we sell, the box needs CSA certification. Safety rules in software: nothing restarts on its own after a shutdown, and fridges and freezers are never cut.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for Q&amp;A only. Learning, privacy, limits.
The AI needs about 7 days of normal use to learn a new machine's current pattern, so alerts switch on after that. Data is private to the owner's account. And electricity data can't see gas equipment, so gas ranges and burners are outside what PREVUMO can watch.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for Q&amp;A only. Full validation board.
Six assumptions, tested through ten interviews (nine people plus a café manager's field notes) and forty nine outreach emails, with replies still coming in.
Invalidated: owners billing electricity per user, staff switching equipment off at closing, and per machine tracking in open access spaces.
Partly supported: breakdowns are costly, and owners want warning before a failure. Our six of ten criterion for costly breakdowns is not met yet.
Supported, and new: equipment is left on after closing, so idle and scheduled shutdowns matter.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Q&amp;A prep. Short answers, then the fuller version.
1. "Why wouldn't owners just use a smart plug?"
A smart plug knows energy and can switch off. It doesn't know who used the machine, because there's no PIN. It doesn't learn the machine's normal pattern, so it can't warn you before a failure. And most plugs are for small 120 V loads, not a welder or an oven.
2. "What about heavy 240 V equipment?"
Our relay is certified up to 15 A at 120 V. For 240 V or 3-phase machines, the box drives a contactor installed by a licensed electrician, and we'd need CSA certification before selling.
3. "Who's liable if a remote shutdown ruins a job?"
The owner makes the call, or sets the rule. Every shutdown is logged with who decided and why, nothing restarts on its own, and fridges are never cut. Before we sell, our terms would set out responsibility, reviewed by a lawyer. [FILL IN if the team has a better answer.]
4. "How does the AI know what normal is?"
It watches each machine for about 7 days of normal use and learns its own current pattern, including duty cycles like an oven's heater. Then it flags sustained changes, a spike, a sag or erratic swings, not one noisy reading. We plan to use the owner's "mark as OK" decisions as feedback.
5. "Why would a not-for-profit makerspace pay $25 per machine?"
That's about $300 per machine per year. One avoided emergency repair call averages $754, and one member kept is worth $600 to $6,000. They could also put only their two or three most expensive machines on it. The price is still an assumption we're testing.
6. "How is this different from Fabman?"
Fabman controls access and knows who switched a machine on. PREVUMO also learns each machine's normal current, flags irregularities before a breakdown, detects idle machines and connects the owner to a technician with the machine's history.
7. "What did the interviews change?"
Every owner we asked bundles electricity into rent or membership, so we dropped per user billing as the headline and made predictive maintenance the core. Café staff also told us equipment gets left on at closing, so we added scheduled shutdowns that the owner controls.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Sources for every number in the deck. Prices for PREVUMO are assumptions to validate.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REVUMO Dark">
    <p:bg>
      <p:bgPr>
        <a:solidFill>
          <a:srgbClr val="1F3D2B"/>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PREVUMO Content">
    <p:bg>
      <p:bgPr>
        <a:solidFill>
          <a:srgbClr val="F3EBDD"/>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85800" y="457200"/>
            <a:ext cx="10789920" cy="822960"/>
          </a:xfrm>
          <a:prstGeom prst="rect">
            <a:avLst/>
          </a:prstGeom>
          <a:noFill/>
          <a:ln/>
        </p:spPr>
        <p:txBody>
          <a:bodyPr wrap="square" rtlCol="0"/>
          <a:lstStyle>
            <a:lvl1pPr algn="l" indent="0" marL="0">
              <a:buNone/>
              <a:defRPr lang="en-US" sz="3600" b="1" dirty="0">
                <a:solidFill>
                  <a:schemeClr val="tx1"/>
                </a:solidFill>
                <a:latin typeface="Space Grotesk" pitchFamily="34" charset="0"/>
                <a:ea typeface="Space Grotesk" pitchFamily="34" charset="-122"/>
                <a:cs typeface="Space Grotesk" pitchFamily="34" charset="-120"/>
              </a:defRPr>
            </a:lvl1pPr>
          </a:lstStyle>
          <a:p>
            <a:pPr algn="l" indent="0" marL="0">
              <a:buNone/>
            </a:pPr>
            <a:endParaRPr lang="en-US" sz="3600" dirty="0"/>
          </a:p>
        </p:txBody>
      </p:sp>
      <p:sp>
        <p:nvSpPr>
          <p:cNvPr id="3" name="Text 0"/>
          <p:cNvSpPr/>
          <p:nvPr/>
        </p:nvSpPr>
        <p:spPr>
          <a:xfrm>
            <a:off x="685800" y="6355080"/>
            <a:ext cx="2286000" cy="274320"/>
          </a:xfrm>
          <a:prstGeom prst="rect">
            <a:avLst/>
          </a:prstGeom>
          <a:noFill/>
          <a:ln/>
        </p:spPr>
        <p:txBody>
          <a:bodyPr wrap="square" lIns="0" tIns="0" rIns="0" bIns="0" rtlCol="0" anchor="ctr"/>
          <a:lstStyle/>
          <a:p>
            <a:pPr indent="0" marL="0">
              <a:buNone/>
            </a:pPr>
            <a:r>
              <a:rPr lang="en-US" sz="1000" b="1" spc="300" kern="0" dirty="0">
                <a:solidFill>
                  <a:schemeClr val="tx2"/>
                </a:solidFill>
                <a:latin typeface="Space Grotesk" pitchFamily="34" charset="0"/>
                <a:ea typeface="Space Grotesk" pitchFamily="34" charset="-122"/>
                <a:cs typeface="Space Grotesk" pitchFamily="34" charset="-120"/>
              </a:rPr>
              <a:t>PREVUMO</a:t>
            </a:r>
            <a:endParaRPr lang="en-US" sz="1000" dirty="0"/>
          </a:p>
        </p:txBody>
      </p:sp>
      <p:sp>
        <p:nvSpPr>
          <p:cNvPr id="25" name="Slide Number Placeholder 0"/>
          <p:cNvSpPr>
            <a:spLocks noGrp="1"/>
          </p:cNvSpPr>
          <p:nvPr>
            <p:ph type="sldNum" sz="quarter" idx="4294967295"/>
          </p:nvPr>
        </p:nvSpPr>
        <p:spPr>
          <a:xfrm>
            <a:off x="1106424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5F"/>
                </a:solidFill>
                <a:latin typeface="JetBrains Mono"/>
                <a:ea typeface="JetBrains Mono"/>
                <a:cs typeface="JetBrains Mono"/>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PREVUMO Statement">
    <p:bg>
      <p:bgPr>
        <a:solidFill>
          <a:srgbClr val="F3EBDD"/>
        </a:solidFill>
      </p:bgPr>
    </p:bg>
    <p:spTree>
      <p:nvGrpSpPr>
        <p:cNvPr id="1" name=""/>
        <p:cNvGrpSpPr/>
        <p:nvPr/>
      </p:nvGrpSpPr>
      <p:grpSpPr>
        <a:xfrm>
          <a:off x="0" y="0"/>
          <a:ext cx="0" cy="0"/>
          <a:chOff x="0" y="0"/>
          <a:chExt cx="0" cy="0"/>
        </a:xfrm>
      </p:grpSpPr>
      <p:sp>
        <p:nvSpPr>
          <p:cNvPr id="2" name="Text 0"/>
          <p:cNvSpPr/>
          <p:nvPr/>
        </p:nvSpPr>
        <p:spPr>
          <a:xfrm>
            <a:off x="685800" y="6355080"/>
            <a:ext cx="2286000" cy="274320"/>
          </a:xfrm>
          <a:prstGeom prst="rect">
            <a:avLst/>
          </a:prstGeom>
          <a:noFill/>
          <a:ln/>
        </p:spPr>
        <p:txBody>
          <a:bodyPr wrap="square" lIns="0" tIns="0" rIns="0" bIns="0" rtlCol="0" anchor="ctr"/>
          <a:lstStyle/>
          <a:p>
            <a:pPr indent="0" marL="0">
              <a:buNone/>
            </a:pPr>
            <a:r>
              <a:rPr lang="en-US" sz="1000" b="1" spc="300" kern="0" dirty="0">
                <a:solidFill>
                  <a:schemeClr val="tx2"/>
                </a:solidFill>
                <a:latin typeface="Space Grotesk" pitchFamily="34" charset="0"/>
                <a:ea typeface="Space Grotesk" pitchFamily="34" charset="-122"/>
                <a:cs typeface="Space Grotesk" pitchFamily="34" charset="-120"/>
              </a:rPr>
              <a:t>PREVUMO</a:t>
            </a:r>
            <a:endParaRPr lang="en-US" sz="1000" dirty="0"/>
          </a:p>
        </p:txBody>
      </p:sp>
      <p:sp>
        <p:nvSpPr>
          <p:cNvPr id="25" name="Slide Number Placeholder 0"/>
          <p:cNvSpPr>
            <a:spLocks noGrp="1"/>
          </p:cNvSpPr>
          <p:nvPr>
            <p:ph type="sldNum" sz="quarter" idx="4294967295"/>
          </p:nvPr>
        </p:nvSpPr>
        <p:spPr>
          <a:xfrm>
            <a:off x="1106424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5F"/>
                </a:solidFill>
                <a:latin typeface="JetBrains Mono"/>
                <a:ea typeface="JetBrains Mono"/>
                <a:cs typeface="JetBrains Mono"/>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5F"/>
                </a:solidFill>
                <a:latin typeface="JetBrains Mono"/>
                <a:ea typeface="JetBrains Mono"/>
                <a:cs typeface="JetBrains Mono"/>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4.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3.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slideLayout" Target="../slideLayouts/slideLayout3.xml"/><Relationship Id="rId11"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video" Target="../media/media-6-1.mp4"/><Relationship Id="rId2" Type="http://schemas.microsoft.com/office/2007/relationships/media" Target="../media/media-6-1.mp4"/><Relationship Id="rId3" Type="http://schemas.openxmlformats.org/officeDocument/2006/relationships/image" Target="../media/image-6-3.png"/><Relationship Id="rId4" Type="http://schemas.openxmlformats.org/officeDocument/2006/relationships/slideLayout" Target="../slideLayouts/slideLayout3.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3.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3.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Heartbeat motif" descr="preencoded.png">    </p:cNvPr>
          <p:cNvPicPr>
            <a:picLocks noChangeAspect="1"/>
          </p:cNvPicPr>
          <p:nvPr/>
        </p:nvPicPr>
        <p:blipFill>
          <a:blip r:embed="rId1"/>
          <a:stretch>
            <a:fillRect/>
          </a:stretch>
        </p:blipFill>
        <p:spPr>
          <a:xfrm>
            <a:off x="0" y="2057400"/>
            <a:ext cx="12191695" cy="2113227"/>
          </a:xfrm>
          <a:prstGeom prst="rect">
            <a:avLst/>
          </a:prstGeom>
        </p:spPr>
      </p:pic>
      <p:sp>
        <p:nvSpPr>
          <p:cNvPr id="3" name="Text 0"/>
          <p:cNvSpPr txBox="1"/>
          <p:nvPr/>
        </p:nvSpPr>
        <p:spPr>
          <a:xfrm>
            <a:off x="685800" y="685800"/>
            <a:ext cx="10058400" cy="1371600"/>
          </a:xfrm>
          <a:prstGeom prst="rect">
            <a:avLst/>
          </a:prstGeom>
          <a:noFill/>
          <a:ln/>
        </p:spPr>
        <p:txBody>
          <a:bodyPr wrap="square" lIns="0" tIns="0" rIns="0" bIns="0" rtlCol="0" anchor="ctr"/>
          <a:lstStyle/>
          <a:p>
            <a:pPr indent="0" marL="0">
              <a:buNone/>
            </a:pPr>
            <a:r>
              <a:rPr lang="en-US" sz="8800" b="1" spc="600" kern="0" dirty="0">
                <a:solidFill>
                  <a:srgbClr val="F3EBDD"/>
                </a:solidFill>
                <a:latin typeface="Space Grotesk" pitchFamily="34" charset="0"/>
                <a:ea typeface="Space Grotesk" pitchFamily="34" charset="-122"/>
                <a:cs typeface="Space Grotesk" pitchFamily="34" charset="-120"/>
              </a:rPr>
              <a:t>PREVUMO</a:t>
            </a:r>
            <a:endParaRPr lang="en-US" sz="8800" dirty="0"/>
          </a:p>
        </p:txBody>
      </p:sp>
      <p:sp>
        <p:nvSpPr>
          <p:cNvPr id="4" name="Text 1"/>
          <p:cNvSpPr txBox="1"/>
          <p:nvPr/>
        </p:nvSpPr>
        <p:spPr>
          <a:xfrm>
            <a:off x="685800" y="4526280"/>
            <a:ext cx="8778240" cy="822960"/>
          </a:xfrm>
          <a:prstGeom prst="rect">
            <a:avLst/>
          </a:prstGeom>
          <a:noFill/>
          <a:ln/>
        </p:spPr>
        <p:txBody>
          <a:bodyPr wrap="square" lIns="0" tIns="0" rIns="0" bIns="0" rtlCol="0" anchor="ctr"/>
          <a:lstStyle/>
          <a:p>
            <a:pPr indent="0" marL="0">
              <a:buNone/>
            </a:pPr>
            <a:r>
              <a:rPr lang="en-US" sz="2600" dirty="0">
                <a:solidFill>
                  <a:srgbClr val="F3EBDD"/>
                </a:solidFill>
                <a:latin typeface="Space Grotesk" pitchFamily="34" charset="0"/>
                <a:ea typeface="Space Grotesk" pitchFamily="34" charset="-122"/>
                <a:cs typeface="Space Grotesk" pitchFamily="34" charset="-120"/>
              </a:rPr>
              <a:t>Know what happened to your machine, and when it's about to fail.</a:t>
            </a:r>
            <a:endParaRPr lang="en-US" sz="2600" dirty="0"/>
          </a:p>
        </p:txBody>
      </p:sp>
      <p:sp>
        <p:nvSpPr>
          <p:cNvPr id="5" name="Text 2"/>
          <p:cNvSpPr txBox="1"/>
          <p:nvPr/>
        </p:nvSpPr>
        <p:spPr>
          <a:xfrm>
            <a:off x="685800" y="1874520"/>
            <a:ext cx="5486400" cy="365760"/>
          </a:xfrm>
          <a:prstGeom prst="rect">
            <a:avLst/>
          </a:prstGeom>
          <a:noFill/>
          <a:ln/>
        </p:spPr>
        <p:txBody>
          <a:bodyPr wrap="square" lIns="0" tIns="0" rIns="0" bIns="0" rtlCol="0" anchor="ctr"/>
          <a:lstStyle/>
          <a:p>
            <a:pPr indent="0" marL="0">
              <a:buNone/>
            </a:pPr>
            <a:r>
              <a:rPr lang="en-US" sz="1300" dirty="0">
                <a:solidFill>
                  <a:srgbClr val="E07A2E"/>
                </a:solidFill>
                <a:latin typeface="JetBrains Mono" pitchFamily="34" charset="0"/>
                <a:ea typeface="JetBrains Mono" pitchFamily="34" charset="-122"/>
                <a:cs typeface="JetBrains Mono" pitchFamily="34" charset="-120"/>
              </a:rPr>
              <a:t>PREVentive Usage MOnitor</a:t>
            </a:r>
            <a:endParaRPr lang="en-US" sz="1300" dirty="0"/>
          </a:p>
        </p:txBody>
      </p:sp>
      <p:sp>
        <p:nvSpPr>
          <p:cNvPr id="6" name="Text 3"/>
          <p:cNvSpPr txBox="1"/>
          <p:nvPr/>
        </p:nvSpPr>
        <p:spPr>
          <a:xfrm>
            <a:off x="685800" y="5989320"/>
            <a:ext cx="8686800" cy="320040"/>
          </a:xfrm>
          <a:prstGeom prst="rect">
            <a:avLst/>
          </a:prstGeom>
          <a:noFill/>
          <a:ln/>
        </p:spPr>
        <p:txBody>
          <a:bodyPr wrap="square" lIns="0" tIns="0" rIns="0" bIns="0" rtlCol="0" anchor="ctr"/>
          <a:lstStyle/>
          <a:p>
            <a:pPr indent="0" marL="0">
              <a:buNone/>
            </a:pPr>
            <a:r>
              <a:rPr lang="en-US" sz="1200" dirty="0">
                <a:solidFill>
                  <a:srgbClr val="D6E4D3"/>
                </a:solidFill>
              </a:rPr>
              <a:t>Jana Mghabghab · Tobi Adebayo · Mohamed Wahb Berguia · Daksh Prabhulal Dholu · Akhil Matta</a:t>
            </a:r>
            <a:endParaRPr lang="en-US" sz="1200" dirty="0"/>
          </a:p>
        </p:txBody>
      </p:sp>
      <p:sp>
        <p:nvSpPr>
          <p:cNvPr id="7" name="Text 4"/>
          <p:cNvSpPr txBox="1"/>
          <p:nvPr/>
        </p:nvSpPr>
        <p:spPr>
          <a:xfrm>
            <a:off x="8503920" y="5989320"/>
            <a:ext cx="3017520" cy="320040"/>
          </a:xfrm>
          <a:prstGeom prst="rect">
            <a:avLst/>
          </a:prstGeom>
          <a:noFill/>
          <a:ln/>
        </p:spPr>
        <p:txBody>
          <a:bodyPr wrap="square" lIns="0" tIns="0" rIns="0" bIns="0" rtlCol="0" anchor="ctr"/>
          <a:lstStyle/>
          <a:p>
            <a:pPr algn="r" indent="0" marL="0">
              <a:buNone/>
            </a:pPr>
            <a:r>
              <a:rPr lang="en-US" sz="1100" dirty="0">
                <a:solidFill>
                  <a:srgbClr val="D6E4D3"/>
                </a:solidFill>
                <a:latin typeface="JetBrains Mono" pitchFamily="34" charset="0"/>
                <a:ea typeface="JetBrains Mono" pitchFamily="34" charset="-122"/>
                <a:cs typeface="JetBrains Mono" pitchFamily="34" charset="-120"/>
              </a:rPr>
              <a:t>GNG4120 · Group 10 · Oct 23,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685800" y="914400"/>
            <a:ext cx="10789920" cy="2103120"/>
          </a:xfrm>
          <a:prstGeom prst="rect">
            <a:avLst/>
          </a:prstGeom>
          <a:noFill/>
          <a:ln/>
        </p:spPr>
        <p:txBody>
          <a:bodyPr wrap="square" lIns="0" tIns="0" rIns="0" bIns="0" rtlCol="0" anchor="t"/>
          <a:lstStyle/>
          <a:p>
            <a:pPr indent="0" marL="0">
              <a:spcAft>
                <a:spcPts val="400"/>
              </a:spcAft>
              <a:buNone/>
            </a:pPr>
            <a:r>
              <a:rPr lang="en-US" sz="5200" b="1" dirty="0">
                <a:solidFill>
                  <a:schemeClr val="tx1"/>
                </a:solidFill>
                <a:latin typeface="Space Grotesk" pitchFamily="34" charset="0"/>
                <a:ea typeface="Space Grotesk" pitchFamily="34" charset="-122"/>
                <a:cs typeface="Space Grotesk" pitchFamily="34" charset="-120"/>
              </a:rPr>
              <a:t>A </a:t>
            </a:r>
            <a:pPr indent="0" marL="0">
              <a:spcAft>
                <a:spcPts val="400"/>
              </a:spcAft>
              <a:buNone/>
            </a:pPr>
            <a:r>
              <a:rPr lang="en-US" sz="5200" b="1" dirty="0">
                <a:solidFill>
                  <a:schemeClr val="tx1"/>
                </a:solidFill>
                <a:latin typeface="JetBrains Mono" pitchFamily="34" charset="0"/>
                <a:ea typeface="JetBrains Mono" pitchFamily="34" charset="-122"/>
                <a:cs typeface="JetBrains Mono" pitchFamily="34" charset="-120"/>
              </a:rPr>
              <a:t>$3,000</a:t>
            </a:r>
            <a:pPr indent="0" marL="0">
              <a:spcAft>
                <a:spcPts val="400"/>
              </a:spcAft>
              <a:buNone/>
            </a:pPr>
            <a:r>
              <a:rPr lang="en-US" sz="5200" b="1" dirty="0">
                <a:solidFill>
                  <a:schemeClr val="tx1"/>
                </a:solidFill>
                <a:latin typeface="Space Grotesk" pitchFamily="34" charset="0"/>
                <a:ea typeface="Space Grotesk" pitchFamily="34" charset="-122"/>
                <a:cs typeface="Space Grotesk" pitchFamily="34" charset="-120"/>
              </a:rPr>
              <a:t> welder dies on a Tuesday.</a:t>
            </a:r>
            <a:endParaRPr lang="en-US" sz="5200" dirty="0"/>
          </a:p>
          <a:p>
            <a:pPr indent="0" marL="0">
              <a:spcAft>
                <a:spcPts val="400"/>
              </a:spcAft>
              <a:buNone/>
            </a:pPr>
            <a:r>
              <a:rPr lang="en-US" sz="5200" b="1" dirty="0">
                <a:solidFill>
                  <a:srgbClr val="A63D1F"/>
                </a:solidFill>
                <a:latin typeface="Space Grotesk" pitchFamily="34" charset="0"/>
                <a:ea typeface="Space Grotesk" pitchFamily="34" charset="-122"/>
                <a:cs typeface="Space Grotesk" pitchFamily="34" charset="-120"/>
              </a:rPr>
              <a:t>Nobody saw it coming.</a:t>
            </a:r>
            <a:endParaRPr lang="en-US" sz="5200" dirty="0"/>
          </a:p>
        </p:txBody>
      </p:sp>
      <p:pic>
        <p:nvPicPr>
          <p:cNvPr id="3" name="Curve that flatlines" descr="preencoded.png">    </p:cNvPr>
          <p:cNvPicPr>
            <a:picLocks noChangeAspect="1"/>
          </p:cNvPicPr>
          <p:nvPr/>
        </p:nvPicPr>
        <p:blipFill>
          <a:blip r:embed="rId1"/>
          <a:stretch>
            <a:fillRect/>
          </a:stretch>
        </p:blipFill>
        <p:spPr>
          <a:xfrm>
            <a:off x="685800" y="3246120"/>
            <a:ext cx="10789920" cy="1510589"/>
          </a:xfrm>
          <a:prstGeom prst="rect">
            <a:avLst/>
          </a:prstGeom>
        </p:spPr>
      </p:pic>
      <p:sp>
        <p:nvSpPr>
          <p:cNvPr id="4" name="Text 1"/>
          <p:cNvSpPr txBox="1"/>
          <p:nvPr/>
        </p:nvSpPr>
        <p:spPr>
          <a:xfrm>
            <a:off x="685800" y="5120640"/>
            <a:ext cx="10058400" cy="548640"/>
          </a:xfrm>
          <a:prstGeom prst="rect">
            <a:avLst/>
          </a:prstGeom>
          <a:noFill/>
          <a:ln/>
        </p:spPr>
        <p:txBody>
          <a:bodyPr wrap="square" lIns="0" tIns="0" rIns="0" bIns="0" rtlCol="0" anchor="ctr"/>
          <a:lstStyle/>
          <a:p>
            <a:pPr indent="0" marL="0">
              <a:buNone/>
            </a:pPr>
            <a:r>
              <a:rPr lang="en-US" sz="2400" dirty="0">
                <a:solidFill>
                  <a:schemeClr val="tx2"/>
                </a:solidFill>
              </a:rPr>
              <a:t>The owner knows who booked it. Not what happened to it.</a:t>
            </a:r>
            <a:endParaRPr lang="en-US" sz="2400" dirty="0"/>
          </a:p>
        </p:txBody>
      </p:sp>
      <p:sp>
        <p:nvSpPr>
          <p:cNvPr id="25" name="Slide Number Placeholder 0"/>
          <p:cNvSpPr>
            <a:spLocks noGrp="1"/>
          </p:cNvSpPr>
          <p:nvPr>
            <p:ph type="sldNum" sz="quarter" idx="4294967295"/>
          </p:nvPr>
        </p:nvSpPr>
        <p:spPr>
          <a:xfrm>
            <a:off x="1106424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5F"/>
                </a:solidFill>
                <a:latin typeface="JetBrains Mono"/>
                <a:ea typeface="JetBrains Mono"/>
                <a:cs typeface="JetBrains Mono"/>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685800" y="457200"/>
            <a:ext cx="10789920" cy="822960"/>
          </a:xfrm>
          <a:prstGeom prst="rect">
            <a:avLst/>
          </a:prstGeom>
          <a:noFill/>
          <a:ln/>
        </p:spPr>
        <p:txBody>
          <a:bodyPr wrap="square" lIns="0" tIns="0" rIns="0" bIns="0" rtlCol="0" anchor="t"/>
          <a:lstStyle/>
          <a:p>
            <a:pPr algn="l" indent="0" marL="0">
              <a:buNone/>
            </a:pPr>
            <a:r>
              <a:rPr lang="en-US" sz="3600" b="1" dirty="0">
                <a:solidFill>
                  <a:schemeClr val="tx1"/>
                </a:solidFill>
                <a:latin typeface="Space Grotesk" pitchFamily="34" charset="0"/>
                <a:ea typeface="Space Grotesk" pitchFamily="34" charset="-122"/>
                <a:cs typeface="Space Grotesk" pitchFamily="34" charset="-120"/>
              </a:rPr>
              <a:t>Machines break, and nobody sees it coming</a:t>
            </a:r>
            <a:endParaRPr lang="en-US" sz="3600" dirty="0"/>
          </a:p>
        </p:txBody>
      </p:sp>
      <p:sp>
        <p:nvSpPr>
          <p:cNvPr id="3" name="Text 1"/>
          <p:cNvSpPr txBox="1"/>
          <p:nvPr/>
        </p:nvSpPr>
        <p:spPr>
          <a:xfrm>
            <a:off x="685800" y="1325880"/>
            <a:ext cx="10789920" cy="411480"/>
          </a:xfrm>
          <a:prstGeom prst="rect">
            <a:avLst/>
          </a:prstGeom>
          <a:noFill/>
          <a:ln/>
        </p:spPr>
        <p:txBody>
          <a:bodyPr wrap="square" lIns="0" tIns="0" rIns="0" bIns="0" rtlCol="0" anchor="ctr"/>
          <a:lstStyle/>
          <a:p>
            <a:pPr indent="0" marL="0">
              <a:buNone/>
            </a:pPr>
            <a:r>
              <a:rPr lang="en-US" sz="1700" dirty="0">
                <a:solidFill>
                  <a:schemeClr val="tx2"/>
                </a:solidFill>
              </a:rPr>
              <a:t>More makerspaces, labs and shared kitchens now rent out expensive electric equipment.</a:t>
            </a:r>
            <a:endParaRPr lang="en-US" sz="1700" dirty="0"/>
          </a:p>
        </p:txBody>
      </p:sp>
      <p:sp>
        <p:nvSpPr>
          <p:cNvPr id="4" name="Pain 1"/>
          <p:cNvSpPr/>
          <p:nvPr/>
        </p:nvSpPr>
        <p:spPr>
          <a:xfrm>
            <a:off x="685800" y="2011680"/>
            <a:ext cx="3429000" cy="3611880"/>
          </a:xfrm>
          <a:prstGeom prst="roundRect">
            <a:avLst>
              <a:gd name="adj" fmla="val 3200"/>
            </a:avLst>
          </a:prstGeom>
          <a:solidFill>
            <a:schemeClr val="bg1"/>
          </a:solidFill>
          <a:ln w="9525">
            <a:solidFill>
              <a:srgbClr val="E3D6C0"/>
            </a:solidFill>
            <a:prstDash val="solid"/>
          </a:ln>
        </p:spPr>
      </p:sp>
      <p:pic>
        <p:nvPicPr>
          <p:cNvPr id="5" name="Image 0" descr="preencoded.png">    </p:cNvPr>
          <p:cNvPicPr>
            <a:picLocks noChangeAspect="1"/>
          </p:cNvPicPr>
          <p:nvPr/>
        </p:nvPicPr>
        <p:blipFill>
          <a:blip r:embed="rId1"/>
          <a:stretch>
            <a:fillRect/>
          </a:stretch>
        </p:blipFill>
        <p:spPr>
          <a:xfrm>
            <a:off x="1005840" y="2286000"/>
            <a:ext cx="457200" cy="457200"/>
          </a:xfrm>
          <a:prstGeom prst="rect">
            <a:avLst/>
          </a:prstGeom>
        </p:spPr>
      </p:pic>
      <p:sp>
        <p:nvSpPr>
          <p:cNvPr id="6" name="Text 3"/>
          <p:cNvSpPr txBox="1"/>
          <p:nvPr/>
        </p:nvSpPr>
        <p:spPr>
          <a:xfrm>
            <a:off x="1005840" y="2926080"/>
            <a:ext cx="2926080" cy="822960"/>
          </a:xfrm>
          <a:prstGeom prst="rect">
            <a:avLst/>
          </a:prstGeom>
          <a:noFill/>
          <a:ln/>
        </p:spPr>
        <p:txBody>
          <a:bodyPr wrap="square" lIns="0" tIns="0" rIns="0" bIns="0" rtlCol="0" anchor="ctr">
            <a:normAutofit/>
          </a:bodyPr>
          <a:lstStyle/>
          <a:p>
            <a:pPr indent="0" marL="0">
              <a:buNone/>
            </a:pPr>
            <a:r>
              <a:rPr lang="en-US" sz="4400" dirty="0">
                <a:solidFill>
                  <a:schemeClr val="tx1"/>
                </a:solidFill>
                <a:latin typeface="JetBrains Mono" pitchFamily="34" charset="0"/>
                <a:ea typeface="JetBrains Mono" pitchFamily="34" charset="-122"/>
                <a:cs typeface="JetBrains Mono" pitchFamily="34" charset="-120"/>
              </a:rPr>
              <a:t>$754</a:t>
            </a:r>
            <a:endParaRPr lang="en-US" sz="4400" dirty="0"/>
          </a:p>
        </p:txBody>
      </p:sp>
      <p:sp>
        <p:nvSpPr>
          <p:cNvPr id="7" name="Text 4"/>
          <p:cNvSpPr txBox="1"/>
          <p:nvPr/>
        </p:nvSpPr>
        <p:spPr>
          <a:xfrm>
            <a:off x="1005840" y="3840480"/>
            <a:ext cx="2834640" cy="640080"/>
          </a:xfrm>
          <a:prstGeom prst="rect">
            <a:avLst/>
          </a:prstGeom>
          <a:noFill/>
          <a:ln/>
        </p:spPr>
        <p:txBody>
          <a:bodyPr wrap="square" lIns="0" tIns="0" rIns="0" bIns="0" rtlCol="0" anchor="t"/>
          <a:lstStyle/>
          <a:p>
            <a:pPr indent="0" marL="0">
              <a:buNone/>
            </a:pPr>
            <a:r>
              <a:rPr lang="en-US" sz="1800" b="1" dirty="0">
                <a:solidFill>
                  <a:schemeClr val="tx1"/>
                </a:solidFill>
                <a:latin typeface="Space Grotesk" pitchFamily="34" charset="0"/>
                <a:ea typeface="Space Grotesk" pitchFamily="34" charset="-122"/>
                <a:cs typeface="Space Grotesk" pitchFamily="34" charset="-120"/>
              </a:rPr>
              <a:t>Average emergency repair call</a:t>
            </a:r>
            <a:endParaRPr lang="en-US" sz="1800" dirty="0"/>
          </a:p>
        </p:txBody>
      </p:sp>
      <p:sp>
        <p:nvSpPr>
          <p:cNvPr id="8" name="Text 5"/>
          <p:cNvSpPr txBox="1"/>
          <p:nvPr/>
        </p:nvSpPr>
        <p:spPr>
          <a:xfrm>
            <a:off x="1005840" y="4526280"/>
            <a:ext cx="2834640" cy="914400"/>
          </a:xfrm>
          <a:prstGeom prst="rect">
            <a:avLst/>
          </a:prstGeom>
          <a:noFill/>
          <a:ln/>
        </p:spPr>
        <p:txBody>
          <a:bodyPr wrap="square" lIns="0" tIns="0" rIns="0" bIns="0" rtlCol="0" anchor="t"/>
          <a:lstStyle/>
          <a:p>
            <a:pPr indent="0" marL="0">
              <a:buNone/>
            </a:pPr>
            <a:r>
              <a:rPr lang="en-US" sz="1300" dirty="0">
                <a:solidFill>
                  <a:schemeClr val="tx2"/>
                </a:solidFill>
              </a:rPr>
              <a:t>“Hundreds if not thousands of dollars” per breakdown, a makerspace director told us</a:t>
            </a:r>
            <a:endParaRPr lang="en-US" sz="1300" dirty="0"/>
          </a:p>
        </p:txBody>
      </p:sp>
      <p:sp>
        <p:nvSpPr>
          <p:cNvPr id="9" name="Pain 2"/>
          <p:cNvSpPr/>
          <p:nvPr/>
        </p:nvSpPr>
        <p:spPr>
          <a:xfrm>
            <a:off x="4343400" y="2011680"/>
            <a:ext cx="3429000" cy="3611880"/>
          </a:xfrm>
          <a:prstGeom prst="roundRect">
            <a:avLst>
              <a:gd name="adj" fmla="val 3200"/>
            </a:avLst>
          </a:prstGeom>
          <a:solidFill>
            <a:schemeClr val="bg1"/>
          </a:solidFill>
          <a:ln w="9525">
            <a:solidFill>
              <a:srgbClr val="E3D6C0"/>
            </a:solidFill>
            <a:prstDash val="solid"/>
          </a:ln>
        </p:spPr>
      </p:sp>
      <p:pic>
        <p:nvPicPr>
          <p:cNvPr id="10" name="Image 1" descr="preencoded.png">    </p:cNvPr>
          <p:cNvPicPr>
            <a:picLocks noChangeAspect="1"/>
          </p:cNvPicPr>
          <p:nvPr/>
        </p:nvPicPr>
        <p:blipFill>
          <a:blip r:embed="rId2"/>
          <a:stretch>
            <a:fillRect/>
          </a:stretch>
        </p:blipFill>
        <p:spPr>
          <a:xfrm>
            <a:off x="4663440" y="2286000"/>
            <a:ext cx="457200" cy="457200"/>
          </a:xfrm>
          <a:prstGeom prst="rect">
            <a:avLst/>
          </a:prstGeom>
        </p:spPr>
      </p:pic>
      <p:sp>
        <p:nvSpPr>
          <p:cNvPr id="11" name="Text 7"/>
          <p:cNvSpPr txBox="1"/>
          <p:nvPr/>
        </p:nvSpPr>
        <p:spPr>
          <a:xfrm>
            <a:off x="4663440" y="2926080"/>
            <a:ext cx="2926080" cy="822960"/>
          </a:xfrm>
          <a:prstGeom prst="rect">
            <a:avLst/>
          </a:prstGeom>
          <a:noFill/>
          <a:ln/>
        </p:spPr>
        <p:txBody>
          <a:bodyPr wrap="square" lIns="0" tIns="0" rIns="0" bIns="0" rtlCol="0" anchor="ctr">
            <a:normAutofit/>
          </a:bodyPr>
          <a:lstStyle/>
          <a:p>
            <a:pPr indent="0" marL="0">
              <a:buNone/>
            </a:pPr>
            <a:r>
              <a:rPr lang="en-US" sz="2600" dirty="0">
                <a:solidFill>
                  <a:schemeClr val="tx1"/>
                </a:solidFill>
                <a:latin typeface="JetBrains Mono" pitchFamily="34" charset="0"/>
                <a:ea typeface="JetBrains Mono" pitchFamily="34" charset="-122"/>
                <a:cs typeface="JetBrains Mono" pitchFamily="34" charset="-120"/>
              </a:rPr>
              <a:t>$600 to $6,000</a:t>
            </a:r>
            <a:endParaRPr lang="en-US" sz="2600" dirty="0"/>
          </a:p>
        </p:txBody>
      </p:sp>
      <p:sp>
        <p:nvSpPr>
          <p:cNvPr id="12" name="Text 8"/>
          <p:cNvSpPr txBox="1"/>
          <p:nvPr/>
        </p:nvSpPr>
        <p:spPr>
          <a:xfrm>
            <a:off x="4663440" y="3840480"/>
            <a:ext cx="2834640" cy="640080"/>
          </a:xfrm>
          <a:prstGeom prst="rect">
            <a:avLst/>
          </a:prstGeom>
          <a:noFill/>
          <a:ln/>
        </p:spPr>
        <p:txBody>
          <a:bodyPr wrap="square" lIns="0" tIns="0" rIns="0" bIns="0" rtlCol="0" anchor="t"/>
          <a:lstStyle/>
          <a:p>
            <a:pPr indent="0" marL="0">
              <a:buNone/>
            </a:pPr>
            <a:r>
              <a:rPr lang="en-US" sz="1800" b="1" dirty="0">
                <a:solidFill>
                  <a:schemeClr val="tx1"/>
                </a:solidFill>
                <a:latin typeface="Space Grotesk" pitchFamily="34" charset="0"/>
                <a:ea typeface="Space Grotesk" pitchFamily="34" charset="-122"/>
                <a:cs typeface="Space Grotesk" pitchFamily="34" charset="-120"/>
              </a:rPr>
              <a:t>What each lost member is worth</a:t>
            </a:r>
            <a:endParaRPr lang="en-US" sz="1800" dirty="0"/>
          </a:p>
        </p:txBody>
      </p:sp>
      <p:sp>
        <p:nvSpPr>
          <p:cNvPr id="13" name="Text 9"/>
          <p:cNvSpPr txBox="1"/>
          <p:nvPr/>
        </p:nvSpPr>
        <p:spPr>
          <a:xfrm>
            <a:off x="4663440" y="4526280"/>
            <a:ext cx="2834640" cy="914400"/>
          </a:xfrm>
          <a:prstGeom prst="rect">
            <a:avLst/>
          </a:prstGeom>
          <a:noFill/>
          <a:ln/>
        </p:spPr>
        <p:txBody>
          <a:bodyPr wrap="square" lIns="0" tIns="0" rIns="0" bIns="0" rtlCol="0" anchor="t"/>
          <a:lstStyle/>
          <a:p>
            <a:pPr indent="0" marL="0">
              <a:buNone/>
            </a:pPr>
            <a:r>
              <a:rPr lang="en-US" sz="1300" dirty="0">
                <a:solidFill>
                  <a:schemeClr val="tx2"/>
                </a:solidFill>
              </a:rPr>
              <a:t>When machines keep breaking, members cancel</a:t>
            </a:r>
            <a:endParaRPr lang="en-US" sz="1300" dirty="0"/>
          </a:p>
        </p:txBody>
      </p:sp>
      <p:sp>
        <p:nvSpPr>
          <p:cNvPr id="14" name="Pain 3"/>
          <p:cNvSpPr/>
          <p:nvPr/>
        </p:nvSpPr>
        <p:spPr>
          <a:xfrm>
            <a:off x="8001000" y="2011680"/>
            <a:ext cx="3429000" cy="3611880"/>
          </a:xfrm>
          <a:prstGeom prst="roundRect">
            <a:avLst>
              <a:gd name="adj" fmla="val 3200"/>
            </a:avLst>
          </a:prstGeom>
          <a:solidFill>
            <a:schemeClr val="bg1"/>
          </a:solidFill>
          <a:ln w="9525">
            <a:solidFill>
              <a:srgbClr val="E3D6C0"/>
            </a:solidFill>
            <a:prstDash val="solid"/>
          </a:ln>
        </p:spPr>
      </p:sp>
      <p:pic>
        <p:nvPicPr>
          <p:cNvPr id="15" name="Image 2" descr="preencoded.png">    </p:cNvPr>
          <p:cNvPicPr>
            <a:picLocks noChangeAspect="1"/>
          </p:cNvPicPr>
          <p:nvPr/>
        </p:nvPicPr>
        <p:blipFill>
          <a:blip r:embed="rId3"/>
          <a:stretch>
            <a:fillRect/>
          </a:stretch>
        </p:blipFill>
        <p:spPr>
          <a:xfrm>
            <a:off x="8321040" y="2286000"/>
            <a:ext cx="457200" cy="457200"/>
          </a:xfrm>
          <a:prstGeom prst="rect">
            <a:avLst/>
          </a:prstGeom>
        </p:spPr>
      </p:pic>
      <p:sp>
        <p:nvSpPr>
          <p:cNvPr id="16" name="Text 11"/>
          <p:cNvSpPr txBox="1"/>
          <p:nvPr/>
        </p:nvSpPr>
        <p:spPr>
          <a:xfrm>
            <a:off x="8321040" y="2926080"/>
            <a:ext cx="2926080" cy="822960"/>
          </a:xfrm>
          <a:prstGeom prst="rect">
            <a:avLst/>
          </a:prstGeom>
          <a:noFill/>
          <a:ln/>
        </p:spPr>
        <p:txBody>
          <a:bodyPr wrap="square" lIns="0" tIns="0" rIns="0" bIns="0" rtlCol="0" anchor="ctr">
            <a:normAutofit/>
          </a:bodyPr>
          <a:lstStyle/>
          <a:p>
            <a:pPr indent="0" marL="0">
              <a:buNone/>
            </a:pPr>
            <a:r>
              <a:rPr lang="en-US" sz="4400" dirty="0">
                <a:solidFill>
                  <a:schemeClr val="tx1"/>
                </a:solidFill>
                <a:latin typeface="JetBrains Mono" pitchFamily="34" charset="0"/>
                <a:ea typeface="JetBrains Mono" pitchFamily="34" charset="-122"/>
                <a:cs typeface="JetBrains Mono" pitchFamily="34" charset="-120"/>
              </a:rPr>
              <a:t>No history</a:t>
            </a:r>
            <a:endParaRPr lang="en-US" sz="4400" dirty="0"/>
          </a:p>
        </p:txBody>
      </p:sp>
      <p:sp>
        <p:nvSpPr>
          <p:cNvPr id="17" name="Text 12"/>
          <p:cNvSpPr txBox="1"/>
          <p:nvPr/>
        </p:nvSpPr>
        <p:spPr>
          <a:xfrm>
            <a:off x="8321040" y="3840480"/>
            <a:ext cx="2834640" cy="640080"/>
          </a:xfrm>
          <a:prstGeom prst="rect">
            <a:avLst/>
          </a:prstGeom>
          <a:noFill/>
          <a:ln/>
        </p:spPr>
        <p:txBody>
          <a:bodyPr wrap="square" lIns="0" tIns="0" rIns="0" bIns="0" rtlCol="0" anchor="t"/>
          <a:lstStyle/>
          <a:p>
            <a:pPr indent="0" marL="0">
              <a:buNone/>
            </a:pPr>
            <a:r>
              <a:rPr lang="en-US" sz="1800" b="1" dirty="0">
                <a:solidFill>
                  <a:schemeClr val="tx1"/>
                </a:solidFill>
                <a:latin typeface="Space Grotesk" pitchFamily="34" charset="0"/>
                <a:ea typeface="Space Grotesk" pitchFamily="34" charset="-122"/>
                <a:cs typeface="Space Grotesk" pitchFamily="34" charset="-120"/>
              </a:rPr>
              <a:t>No sensor sees the warning signs</a:t>
            </a:r>
            <a:endParaRPr lang="en-US" sz="1800" dirty="0"/>
          </a:p>
        </p:txBody>
      </p:sp>
      <p:sp>
        <p:nvSpPr>
          <p:cNvPr id="18" name="Text 13"/>
          <p:cNvSpPr txBox="1"/>
          <p:nvPr/>
        </p:nvSpPr>
        <p:spPr>
          <a:xfrm>
            <a:off x="8321040" y="4526280"/>
            <a:ext cx="2834640" cy="914400"/>
          </a:xfrm>
          <a:prstGeom prst="rect">
            <a:avLst/>
          </a:prstGeom>
          <a:noFill/>
          <a:ln/>
        </p:spPr>
        <p:txBody>
          <a:bodyPr wrap="square" lIns="0" tIns="0" rIns="0" bIns="0" rtlCol="0" anchor="t"/>
          <a:lstStyle/>
          <a:p>
            <a:pPr indent="0" marL="0">
              <a:buNone/>
            </a:pPr>
            <a:r>
              <a:rPr lang="en-US" sz="1300" dirty="0">
                <a:solidFill>
                  <a:schemeClr val="tx2"/>
                </a:solidFill>
              </a:rPr>
              <a:t>Booking tools only work “when people actually use the software”</a:t>
            </a:r>
            <a:endParaRPr lang="en-US" sz="1300" dirty="0"/>
          </a:p>
        </p:txBody>
      </p:sp>
      <p:sp>
        <p:nvSpPr>
          <p:cNvPr id="19" name="Source"/>
          <p:cNvSpPr txBox="1"/>
          <p:nvPr/>
        </p:nvSpPr>
        <p:spPr>
          <a:xfrm>
            <a:off x="685800" y="5989320"/>
            <a:ext cx="10789920" cy="274320"/>
          </a:xfrm>
          <a:prstGeom prst="rect">
            <a:avLst/>
          </a:prstGeom>
          <a:noFill/>
          <a:ln/>
        </p:spPr>
        <p:txBody>
          <a:bodyPr wrap="square" lIns="0" tIns="0" rIns="0" bIns="0" rtlCol="0" anchor="ctr"/>
          <a:lstStyle/>
          <a:p>
            <a:pPr indent="0" marL="0">
              <a:buNone/>
            </a:pPr>
            <a:r>
              <a:rPr lang="en-US" sz="1000" dirty="0">
                <a:solidFill>
                  <a:schemeClr val="tx2"/>
                </a:solidFill>
              </a:rPr>
              <a:t>Sources: makerspace director interview (Group 10, 2026); emergency repair call average, 86 Repairs 2024, via Envigilance.</a:t>
            </a:r>
            <a:endParaRPr lang="en-US" sz="1000" dirty="0"/>
          </a:p>
        </p:txBody>
      </p:sp>
      <p:sp>
        <p:nvSpPr>
          <p:cNvPr id="25" name="Slide Number Placeholder 0"/>
          <p:cNvSpPr>
            <a:spLocks noGrp="1"/>
          </p:cNvSpPr>
          <p:nvPr>
            <p:ph type="sldNum" sz="quarter" idx="4294967295"/>
          </p:nvPr>
        </p:nvSpPr>
        <p:spPr>
          <a:xfrm>
            <a:off x="1106424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5F"/>
                </a:solidFill>
                <a:latin typeface="JetBrains Mono"/>
                <a:ea typeface="JetBrains Mono"/>
                <a:cs typeface="JetBrains Mono"/>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685800" y="457200"/>
            <a:ext cx="10789920" cy="822960"/>
          </a:xfrm>
          <a:prstGeom prst="rect">
            <a:avLst/>
          </a:prstGeom>
          <a:noFill/>
          <a:ln/>
        </p:spPr>
        <p:txBody>
          <a:bodyPr wrap="square" lIns="0" tIns="0" rIns="0" bIns="0" rtlCol="0" anchor="t"/>
          <a:lstStyle/>
          <a:p>
            <a:pPr algn="l" indent="0" marL="0">
              <a:buNone/>
            </a:pPr>
            <a:r>
              <a:rPr lang="en-US" sz="3600" b="1" dirty="0">
                <a:solidFill>
                  <a:schemeClr val="tx1"/>
                </a:solidFill>
                <a:latin typeface="Space Grotesk" pitchFamily="34" charset="0"/>
                <a:ea typeface="Space Grotesk" pitchFamily="34" charset="-122"/>
                <a:cs typeface="Space Grotesk" pitchFamily="34" charset="-120"/>
              </a:rPr>
              <a:t>Who we serve, and what we promise</a:t>
            </a:r>
            <a:endParaRPr lang="en-US" sz="3600" dirty="0"/>
          </a:p>
        </p:txBody>
      </p:sp>
      <p:sp>
        <p:nvSpPr>
          <p:cNvPr id="3" name="Text 1"/>
          <p:cNvSpPr txBox="1"/>
          <p:nvPr/>
        </p:nvSpPr>
        <p:spPr>
          <a:xfrm>
            <a:off x="685800" y="1600200"/>
            <a:ext cx="4754880" cy="914400"/>
          </a:xfrm>
          <a:prstGeom prst="rect">
            <a:avLst/>
          </a:prstGeom>
          <a:noFill/>
          <a:ln/>
        </p:spPr>
        <p:txBody>
          <a:bodyPr wrap="square" lIns="0" tIns="0" rIns="0" bIns="0" rtlCol="0" anchor="t"/>
          <a:lstStyle/>
          <a:p>
            <a:pPr indent="0" marL="0">
              <a:buNone/>
            </a:pPr>
            <a:r>
              <a:rPr lang="en-US" sz="2000" b="1" dirty="0">
                <a:solidFill>
                  <a:schemeClr val="tx1"/>
                </a:solidFill>
                <a:latin typeface="Space Grotesk" pitchFamily="34" charset="0"/>
                <a:ea typeface="Space Grotesk" pitchFamily="34" charset="-122"/>
                <a:cs typeface="Space Grotesk" pitchFamily="34" charset="-120"/>
              </a:rPr>
              <a:t>Owners and managers of shared spaces with costly electric equipment</a:t>
            </a:r>
            <a:endParaRPr lang="en-US" sz="2000" dirty="0"/>
          </a:p>
        </p:txBody>
      </p:sp>
      <p:sp>
        <p:nvSpPr>
          <p:cNvPr id="4" name="Shape 2"/>
          <p:cNvSpPr/>
          <p:nvPr/>
        </p:nvSpPr>
        <p:spPr>
          <a:xfrm>
            <a:off x="685800" y="2743200"/>
            <a:ext cx="640080" cy="640080"/>
          </a:xfrm>
          <a:prstGeom prst="ellipse">
            <a:avLst/>
          </a:prstGeom>
          <a:solidFill>
            <a:schemeClr val="bg1"/>
          </a:solidFill>
          <a:ln w="9525">
            <a:solidFill>
              <a:srgbClr val="E3D6C0"/>
            </a:solidFill>
            <a:prstDash val="solid"/>
          </a:ln>
        </p:spPr>
      </p:sp>
      <p:pic>
        <p:nvPicPr>
          <p:cNvPr id="5" name="Image 0" descr="preencoded.png">    </p:cNvPr>
          <p:cNvPicPr>
            <a:picLocks noChangeAspect="1"/>
          </p:cNvPicPr>
          <p:nvPr/>
        </p:nvPicPr>
        <p:blipFill>
          <a:blip r:embed="rId1"/>
          <a:stretch>
            <a:fillRect/>
          </a:stretch>
        </p:blipFill>
        <p:spPr>
          <a:xfrm>
            <a:off x="822960" y="2880360"/>
            <a:ext cx="365760" cy="365760"/>
          </a:xfrm>
          <a:prstGeom prst="rect">
            <a:avLst/>
          </a:prstGeom>
        </p:spPr>
      </p:pic>
      <p:sp>
        <p:nvSpPr>
          <p:cNvPr id="6" name="Text 3"/>
          <p:cNvSpPr txBox="1"/>
          <p:nvPr/>
        </p:nvSpPr>
        <p:spPr>
          <a:xfrm>
            <a:off x="1508760" y="2743200"/>
            <a:ext cx="3474720" cy="640080"/>
          </a:xfrm>
          <a:prstGeom prst="rect">
            <a:avLst/>
          </a:prstGeom>
          <a:noFill/>
          <a:ln/>
        </p:spPr>
        <p:txBody>
          <a:bodyPr wrap="square" lIns="0" tIns="0" rIns="0" bIns="0" rtlCol="0" anchor="ctr"/>
          <a:lstStyle/>
          <a:p>
            <a:pPr indent="0" marL="0">
              <a:buNone/>
            </a:pPr>
            <a:r>
              <a:rPr lang="en-US" sz="1800" dirty="0">
                <a:solidFill>
                  <a:schemeClr val="tx1"/>
                </a:solidFill>
              </a:rPr>
              <a:t>Makerspaces</a:t>
            </a:r>
            <a:endParaRPr lang="en-US" sz="1800" dirty="0"/>
          </a:p>
        </p:txBody>
      </p:sp>
      <p:sp>
        <p:nvSpPr>
          <p:cNvPr id="7" name="Shape 4"/>
          <p:cNvSpPr/>
          <p:nvPr/>
        </p:nvSpPr>
        <p:spPr>
          <a:xfrm>
            <a:off x="685800" y="3611880"/>
            <a:ext cx="640080" cy="640080"/>
          </a:xfrm>
          <a:prstGeom prst="ellipse">
            <a:avLst/>
          </a:prstGeom>
          <a:solidFill>
            <a:schemeClr val="bg1"/>
          </a:solidFill>
          <a:ln w="9525">
            <a:solidFill>
              <a:srgbClr val="E3D6C0"/>
            </a:solidFill>
            <a:prstDash val="solid"/>
          </a:ln>
        </p:spPr>
      </p:sp>
      <p:pic>
        <p:nvPicPr>
          <p:cNvPr id="8" name="Image 1" descr="preencoded.png">    </p:cNvPr>
          <p:cNvPicPr>
            <a:picLocks noChangeAspect="1"/>
          </p:cNvPicPr>
          <p:nvPr/>
        </p:nvPicPr>
        <p:blipFill>
          <a:blip r:embed="rId2"/>
          <a:stretch>
            <a:fillRect/>
          </a:stretch>
        </p:blipFill>
        <p:spPr>
          <a:xfrm>
            <a:off x="822960" y="3749040"/>
            <a:ext cx="365760" cy="365760"/>
          </a:xfrm>
          <a:prstGeom prst="rect">
            <a:avLst/>
          </a:prstGeom>
        </p:spPr>
      </p:pic>
      <p:sp>
        <p:nvSpPr>
          <p:cNvPr id="9" name="Text 5"/>
          <p:cNvSpPr txBox="1"/>
          <p:nvPr/>
        </p:nvSpPr>
        <p:spPr>
          <a:xfrm>
            <a:off x="1508760" y="3611880"/>
            <a:ext cx="3474720" cy="640080"/>
          </a:xfrm>
          <a:prstGeom prst="rect">
            <a:avLst/>
          </a:prstGeom>
          <a:noFill/>
          <a:ln/>
        </p:spPr>
        <p:txBody>
          <a:bodyPr wrap="square" lIns="0" tIns="0" rIns="0" bIns="0" rtlCol="0" anchor="ctr"/>
          <a:lstStyle/>
          <a:p>
            <a:pPr indent="0" marL="0">
              <a:buNone/>
            </a:pPr>
            <a:r>
              <a:rPr lang="en-US" sz="1800" dirty="0">
                <a:solidFill>
                  <a:schemeClr val="tx1"/>
                </a:solidFill>
              </a:rPr>
              <a:t>University labs</a:t>
            </a:r>
            <a:endParaRPr lang="en-US" sz="1800" dirty="0"/>
          </a:p>
        </p:txBody>
      </p:sp>
      <p:sp>
        <p:nvSpPr>
          <p:cNvPr id="10" name="Shape 6"/>
          <p:cNvSpPr/>
          <p:nvPr/>
        </p:nvSpPr>
        <p:spPr>
          <a:xfrm>
            <a:off x="685800" y="4480560"/>
            <a:ext cx="640080" cy="640080"/>
          </a:xfrm>
          <a:prstGeom prst="ellipse">
            <a:avLst/>
          </a:prstGeom>
          <a:solidFill>
            <a:schemeClr val="bg1"/>
          </a:solidFill>
          <a:ln w="9525">
            <a:solidFill>
              <a:srgbClr val="E3D6C0"/>
            </a:solidFill>
            <a:prstDash val="solid"/>
          </a:ln>
        </p:spPr>
      </p:sp>
      <p:pic>
        <p:nvPicPr>
          <p:cNvPr id="11" name="Image 2" descr="preencoded.png">    </p:cNvPr>
          <p:cNvPicPr>
            <a:picLocks noChangeAspect="1"/>
          </p:cNvPicPr>
          <p:nvPr/>
        </p:nvPicPr>
        <p:blipFill>
          <a:blip r:embed="rId3"/>
          <a:stretch>
            <a:fillRect/>
          </a:stretch>
        </p:blipFill>
        <p:spPr>
          <a:xfrm>
            <a:off x="822960" y="4617720"/>
            <a:ext cx="365760" cy="365760"/>
          </a:xfrm>
          <a:prstGeom prst="rect">
            <a:avLst/>
          </a:prstGeom>
        </p:spPr>
      </p:pic>
      <p:sp>
        <p:nvSpPr>
          <p:cNvPr id="12" name="Text 7"/>
          <p:cNvSpPr txBox="1"/>
          <p:nvPr/>
        </p:nvSpPr>
        <p:spPr>
          <a:xfrm>
            <a:off x="1508760" y="4480560"/>
            <a:ext cx="3474720" cy="640080"/>
          </a:xfrm>
          <a:prstGeom prst="rect">
            <a:avLst/>
          </a:prstGeom>
          <a:noFill/>
          <a:ln/>
        </p:spPr>
        <p:txBody>
          <a:bodyPr wrap="square" lIns="0" tIns="0" rIns="0" bIns="0" rtlCol="0" anchor="ctr"/>
          <a:lstStyle/>
          <a:p>
            <a:pPr indent="0" marL="0">
              <a:buNone/>
            </a:pPr>
            <a:r>
              <a:rPr lang="en-US" sz="1800" dirty="0">
                <a:solidFill>
                  <a:schemeClr val="tx1"/>
                </a:solidFill>
              </a:rPr>
              <a:t>Shared kitchens</a:t>
            </a:r>
            <a:endParaRPr lang="en-US" sz="1800" dirty="0"/>
          </a:p>
        </p:txBody>
      </p:sp>
      <p:sp>
        <p:nvSpPr>
          <p:cNvPr id="13" name="Text 8"/>
          <p:cNvSpPr txBox="1"/>
          <p:nvPr/>
        </p:nvSpPr>
        <p:spPr>
          <a:xfrm>
            <a:off x="685800" y="5440680"/>
            <a:ext cx="4572000" cy="365760"/>
          </a:xfrm>
          <a:prstGeom prst="rect">
            <a:avLst/>
          </a:prstGeom>
          <a:noFill/>
          <a:ln/>
        </p:spPr>
        <p:txBody>
          <a:bodyPr wrap="square" lIns="0" tIns="0" rIns="0" bIns="0" rtlCol="0" anchor="ctr"/>
          <a:lstStyle/>
          <a:p>
            <a:pPr indent="0" marL="0">
              <a:buNone/>
            </a:pPr>
            <a:r>
              <a:rPr lang="en-US" sz="1400" dirty="0">
                <a:solidFill>
                  <a:schemeClr val="tx2"/>
                </a:solidFill>
              </a:rPr>
              <a:t>One owner can run several locations.</a:t>
            </a:r>
            <a:endParaRPr lang="en-US" sz="1400" dirty="0"/>
          </a:p>
        </p:txBody>
      </p:sp>
      <p:sp>
        <p:nvSpPr>
          <p:cNvPr id="14" name="Value proposition"/>
          <p:cNvSpPr/>
          <p:nvPr/>
        </p:nvSpPr>
        <p:spPr>
          <a:xfrm>
            <a:off x="5806440" y="1600200"/>
            <a:ext cx="5669280" cy="4206240"/>
          </a:xfrm>
          <a:prstGeom prst="roundRect">
            <a:avLst>
              <a:gd name="adj" fmla="val 3043"/>
            </a:avLst>
          </a:prstGeom>
          <a:solidFill>
            <a:srgbClr val="1F3D2B"/>
          </a:solidFill>
          <a:ln w="12700">
            <a:solidFill>
              <a:srgbClr val="1F3D2B"/>
            </a:solidFill>
            <a:prstDash val="solid"/>
          </a:ln>
        </p:spPr>
      </p:sp>
      <p:sp>
        <p:nvSpPr>
          <p:cNvPr id="15" name="Text 10"/>
          <p:cNvSpPr txBox="1"/>
          <p:nvPr/>
        </p:nvSpPr>
        <p:spPr>
          <a:xfrm>
            <a:off x="6263640" y="1965960"/>
            <a:ext cx="4754880" cy="320040"/>
          </a:xfrm>
          <a:prstGeom prst="rect">
            <a:avLst/>
          </a:prstGeom>
          <a:noFill/>
          <a:ln/>
        </p:spPr>
        <p:txBody>
          <a:bodyPr wrap="square" lIns="0" tIns="0" rIns="0" bIns="0" rtlCol="0" anchor="ctr"/>
          <a:lstStyle/>
          <a:p>
            <a:pPr indent="0" marL="0">
              <a:buNone/>
            </a:pPr>
            <a:r>
              <a:rPr lang="en-US" sz="1200" dirty="0">
                <a:solidFill>
                  <a:srgbClr val="E07A2E"/>
                </a:solidFill>
                <a:latin typeface="JetBrains Mono" pitchFamily="34" charset="0"/>
                <a:ea typeface="JetBrains Mono" pitchFamily="34" charset="-122"/>
                <a:cs typeface="JetBrains Mono" pitchFamily="34" charset="-120"/>
              </a:rPr>
              <a:t>Value proposition</a:t>
            </a:r>
            <a:endParaRPr lang="en-US" sz="1200" dirty="0"/>
          </a:p>
        </p:txBody>
      </p:sp>
      <p:sp>
        <p:nvSpPr>
          <p:cNvPr id="16" name="Text 11"/>
          <p:cNvSpPr txBox="1"/>
          <p:nvPr/>
        </p:nvSpPr>
        <p:spPr>
          <a:xfrm>
            <a:off x="6263640" y="2468880"/>
            <a:ext cx="4846320" cy="3017520"/>
          </a:xfrm>
          <a:prstGeom prst="rect">
            <a:avLst/>
          </a:prstGeom>
          <a:noFill/>
          <a:ln/>
        </p:spPr>
        <p:txBody>
          <a:bodyPr wrap="square" lIns="0" tIns="0" rIns="0" bIns="0" rtlCol="0" anchor="t"/>
          <a:lstStyle/>
          <a:p>
            <a:pPr indent="0" marL="0">
              <a:spcAft>
                <a:spcPts val="1000"/>
              </a:spcAft>
              <a:buNone/>
            </a:pPr>
            <a:r>
              <a:rPr lang="en-US" sz="2800" b="1" dirty="0">
                <a:solidFill>
                  <a:srgbClr val="F3EBDD"/>
                </a:solidFill>
                <a:latin typeface="Space Grotesk" pitchFamily="34" charset="0"/>
                <a:ea typeface="Space Grotesk" pitchFamily="34" charset="-122"/>
                <a:cs typeface="Space Grotesk" pitchFamily="34" charset="-120"/>
              </a:rPr>
              <a:t>Catch failures before they happen,</a:t>
            </a:r>
            <a:endParaRPr lang="en-US" sz="2800" dirty="0"/>
          </a:p>
          <a:p>
            <a:pPr indent="0" marL="0">
              <a:spcAft>
                <a:spcPts val="1000"/>
              </a:spcAft>
              <a:buNone/>
            </a:pPr>
            <a:r>
              <a:rPr lang="en-US" sz="2800" b="1" dirty="0">
                <a:solidFill>
                  <a:srgbClr val="F3EBDD"/>
                </a:solidFill>
                <a:latin typeface="Space Grotesk" pitchFamily="34" charset="0"/>
                <a:ea typeface="Space Grotesk" pitchFamily="34" charset="-122"/>
                <a:cs typeface="Space Grotesk" pitchFamily="34" charset="-120"/>
              </a:rPr>
              <a:t>know who used each machine and how much,</a:t>
            </a:r>
            <a:endParaRPr lang="en-US" sz="2800" dirty="0"/>
          </a:p>
          <a:p>
            <a:pPr indent="0" marL="0">
              <a:spcAft>
                <a:spcPts val="1000"/>
              </a:spcAft>
              <a:buNone/>
            </a:pPr>
            <a:r>
              <a:rPr lang="en-US" sz="2800" b="1" dirty="0">
                <a:solidFill>
                  <a:srgbClr val="F3EBDD"/>
                </a:solidFill>
                <a:latin typeface="Space Grotesk" pitchFamily="34" charset="0"/>
                <a:ea typeface="Space Grotesk" pitchFamily="34" charset="-122"/>
                <a:cs typeface="Space Grotesk" pitchFamily="34" charset="-120"/>
              </a:rPr>
              <a:t>and shut it down safely from anywhere.</a:t>
            </a:r>
            <a:endParaRPr lang="en-US" sz="2800" dirty="0"/>
          </a:p>
        </p:txBody>
      </p:sp>
      <p:sp>
        <p:nvSpPr>
          <p:cNvPr id="25" name="Slide Number Placeholder 0"/>
          <p:cNvSpPr>
            <a:spLocks noGrp="1"/>
          </p:cNvSpPr>
          <p:nvPr>
            <p:ph type="sldNum" sz="quarter" idx="4294967295"/>
          </p:nvPr>
        </p:nvSpPr>
        <p:spPr>
          <a:xfrm>
            <a:off x="1106424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5F"/>
                </a:solidFill>
                <a:latin typeface="JetBrains Mono"/>
                <a:ea typeface="JetBrains Mono"/>
                <a:cs typeface="JetBrains Mono"/>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685800" y="457200"/>
            <a:ext cx="10789920" cy="822960"/>
          </a:xfrm>
          <a:prstGeom prst="rect">
            <a:avLst/>
          </a:prstGeom>
          <a:noFill/>
          <a:ln/>
        </p:spPr>
        <p:txBody>
          <a:bodyPr wrap="square" lIns="0" tIns="0" rIns="0" bIns="0" rtlCol="0" anchor="t"/>
          <a:lstStyle/>
          <a:p>
            <a:pPr algn="l" indent="0" marL="0">
              <a:buNone/>
            </a:pPr>
            <a:r>
              <a:rPr lang="en-US" sz="3600" b="1" dirty="0">
                <a:solidFill>
                  <a:schemeClr val="tx1"/>
                </a:solidFill>
                <a:latin typeface="Space Grotesk" pitchFamily="34" charset="0"/>
                <a:ea typeface="Space Grotesk" pitchFamily="34" charset="-122"/>
                <a:cs typeface="Space Grotesk" pitchFamily="34" charset="-120"/>
              </a:rPr>
              <a:t>How it works</a:t>
            </a:r>
            <a:endParaRPr lang="en-US" sz="3600" dirty="0"/>
          </a:p>
        </p:txBody>
      </p:sp>
      <p:sp>
        <p:nvSpPr>
          <p:cNvPr id="3" name="Step 1"/>
          <p:cNvSpPr/>
          <p:nvPr/>
        </p:nvSpPr>
        <p:spPr>
          <a:xfrm>
            <a:off x="685800" y="1463040"/>
            <a:ext cx="2560320" cy="3520440"/>
          </a:xfrm>
          <a:prstGeom prst="roundRect">
            <a:avLst>
              <a:gd name="adj" fmla="val 4286"/>
            </a:avLst>
          </a:prstGeom>
          <a:solidFill>
            <a:schemeClr val="bg1"/>
          </a:solidFill>
          <a:ln w="9525">
            <a:solidFill>
              <a:srgbClr val="E3D6C0"/>
            </a:solidFill>
            <a:prstDash val="solid"/>
          </a:ln>
        </p:spPr>
      </p:sp>
      <p:sp>
        <p:nvSpPr>
          <p:cNvPr id="4" name="Text 2"/>
          <p:cNvSpPr txBox="1"/>
          <p:nvPr/>
        </p:nvSpPr>
        <p:spPr>
          <a:xfrm>
            <a:off x="960120" y="1691640"/>
            <a:ext cx="457200" cy="365760"/>
          </a:xfrm>
          <a:prstGeom prst="rect">
            <a:avLst/>
          </a:prstGeom>
          <a:noFill/>
          <a:ln/>
        </p:spPr>
        <p:txBody>
          <a:bodyPr wrap="square" lIns="0" tIns="0" rIns="0" bIns="0" rtlCol="0" anchor="ctr"/>
          <a:lstStyle/>
          <a:p>
            <a:pPr indent="0" marL="0">
              <a:buNone/>
            </a:pPr>
            <a:r>
              <a:rPr lang="en-US" sz="1400" dirty="0">
                <a:solidFill>
                  <a:schemeClr val="tx2"/>
                </a:solidFill>
                <a:latin typeface="JetBrains Mono" pitchFamily="34" charset="0"/>
                <a:ea typeface="JetBrains Mono" pitchFamily="34" charset="-122"/>
                <a:cs typeface="JetBrains Mono" pitchFamily="34" charset="-120"/>
              </a:rPr>
              <a:t>1</a:t>
            </a:r>
            <a:endParaRPr lang="en-US" sz="1400" dirty="0"/>
          </a:p>
        </p:txBody>
      </p:sp>
      <p:pic>
        <p:nvPicPr>
          <p:cNvPr id="5" name="Image 0" descr="preencoded.png">    </p:cNvPr>
          <p:cNvPicPr>
            <a:picLocks noChangeAspect="1"/>
          </p:cNvPicPr>
          <p:nvPr/>
        </p:nvPicPr>
        <p:blipFill>
          <a:blip r:embed="rId1"/>
          <a:stretch>
            <a:fillRect/>
          </a:stretch>
        </p:blipFill>
        <p:spPr>
          <a:xfrm>
            <a:off x="1399032" y="2011680"/>
            <a:ext cx="1143000" cy="1238250"/>
          </a:xfrm>
          <a:prstGeom prst="rect">
            <a:avLst/>
          </a:prstGeom>
        </p:spPr>
      </p:pic>
      <p:sp>
        <p:nvSpPr>
          <p:cNvPr id="6" name="Text 3"/>
          <p:cNvSpPr txBox="1"/>
          <p:nvPr/>
        </p:nvSpPr>
        <p:spPr>
          <a:xfrm>
            <a:off x="960120" y="4069080"/>
            <a:ext cx="2103120" cy="411480"/>
          </a:xfrm>
          <a:prstGeom prst="rect">
            <a:avLst/>
          </a:prstGeom>
          <a:noFill/>
          <a:ln/>
        </p:spPr>
        <p:txBody>
          <a:bodyPr wrap="square" lIns="0" tIns="0" rIns="0" bIns="0" rtlCol="0" anchor="t"/>
          <a:lstStyle/>
          <a:p>
            <a:pPr indent="0" marL="0">
              <a:buNone/>
            </a:pPr>
            <a:r>
              <a:rPr lang="en-US" sz="1700" b="1" dirty="0">
                <a:solidFill>
                  <a:schemeClr val="tx1"/>
                </a:solidFill>
                <a:latin typeface="Space Grotesk" pitchFamily="34" charset="0"/>
                <a:ea typeface="Space Grotesk" pitchFamily="34" charset="-122"/>
                <a:cs typeface="Space Grotesk" pitchFamily="34" charset="-120"/>
              </a:rPr>
              <a:t>Box on the machine</a:t>
            </a:r>
            <a:endParaRPr lang="en-US" sz="1700" dirty="0"/>
          </a:p>
        </p:txBody>
      </p:sp>
      <p:sp>
        <p:nvSpPr>
          <p:cNvPr id="7" name="Text 4"/>
          <p:cNvSpPr txBox="1"/>
          <p:nvPr/>
        </p:nvSpPr>
        <p:spPr>
          <a:xfrm>
            <a:off x="960120" y="4434840"/>
            <a:ext cx="2103120" cy="502920"/>
          </a:xfrm>
          <a:prstGeom prst="rect">
            <a:avLst/>
          </a:prstGeom>
          <a:noFill/>
          <a:ln/>
        </p:spPr>
        <p:txBody>
          <a:bodyPr wrap="square" lIns="0" tIns="0" rIns="0" bIns="0" rtlCol="0" anchor="t"/>
          <a:lstStyle/>
          <a:p>
            <a:pPr indent="0" marL="0">
              <a:buNone/>
            </a:pPr>
            <a:r>
              <a:rPr lang="en-US" sz="1200" dirty="0">
                <a:solidFill>
                  <a:schemeClr val="tx2"/>
                </a:solidFill>
              </a:rPr>
              <a:t>Keypad, current sensor, relay. ESP32 with Wi‑Fi.</a:t>
            </a:r>
            <a:endParaRPr lang="en-US" sz="1200" dirty="0"/>
          </a:p>
        </p:txBody>
      </p:sp>
      <p:pic>
        <p:nvPicPr>
          <p:cNvPr id="8" name="Image 1" descr="preencoded.png">    </p:cNvPr>
          <p:cNvPicPr>
            <a:picLocks noChangeAspect="1"/>
          </p:cNvPicPr>
          <p:nvPr/>
        </p:nvPicPr>
        <p:blipFill>
          <a:blip r:embed="rId2"/>
          <a:stretch>
            <a:fillRect/>
          </a:stretch>
        </p:blipFill>
        <p:spPr>
          <a:xfrm>
            <a:off x="3282696" y="3063240"/>
            <a:ext cx="164592" cy="164592"/>
          </a:xfrm>
          <a:prstGeom prst="rect">
            <a:avLst/>
          </a:prstGeom>
        </p:spPr>
      </p:pic>
      <p:sp>
        <p:nvSpPr>
          <p:cNvPr id="9" name="Step 2"/>
          <p:cNvSpPr/>
          <p:nvPr/>
        </p:nvSpPr>
        <p:spPr>
          <a:xfrm>
            <a:off x="3474720" y="1463040"/>
            <a:ext cx="2560320" cy="3520440"/>
          </a:xfrm>
          <a:prstGeom prst="roundRect">
            <a:avLst>
              <a:gd name="adj" fmla="val 4286"/>
            </a:avLst>
          </a:prstGeom>
          <a:solidFill>
            <a:schemeClr val="bg1"/>
          </a:solidFill>
          <a:ln w="9525">
            <a:solidFill>
              <a:srgbClr val="E3D6C0"/>
            </a:solidFill>
            <a:prstDash val="solid"/>
          </a:ln>
        </p:spPr>
      </p:sp>
      <p:sp>
        <p:nvSpPr>
          <p:cNvPr id="10" name="Text 6"/>
          <p:cNvSpPr txBox="1"/>
          <p:nvPr/>
        </p:nvSpPr>
        <p:spPr>
          <a:xfrm>
            <a:off x="3749040" y="1691640"/>
            <a:ext cx="457200" cy="365760"/>
          </a:xfrm>
          <a:prstGeom prst="rect">
            <a:avLst/>
          </a:prstGeom>
          <a:noFill/>
          <a:ln/>
        </p:spPr>
        <p:txBody>
          <a:bodyPr wrap="square" lIns="0" tIns="0" rIns="0" bIns="0" rtlCol="0" anchor="ctr"/>
          <a:lstStyle/>
          <a:p>
            <a:pPr indent="0" marL="0">
              <a:buNone/>
            </a:pPr>
            <a:r>
              <a:rPr lang="en-US" sz="1400" dirty="0">
                <a:solidFill>
                  <a:schemeClr val="tx2"/>
                </a:solidFill>
                <a:latin typeface="JetBrains Mono" pitchFamily="34" charset="0"/>
                <a:ea typeface="JetBrains Mono" pitchFamily="34" charset="-122"/>
                <a:cs typeface="JetBrains Mono" pitchFamily="34" charset="-120"/>
              </a:rPr>
              <a:t>2</a:t>
            </a:r>
            <a:endParaRPr lang="en-US" sz="1400" dirty="0"/>
          </a:p>
        </p:txBody>
      </p:sp>
      <p:pic>
        <p:nvPicPr>
          <p:cNvPr id="11" name="Image 2" descr="preencoded.png">    </p:cNvPr>
          <p:cNvPicPr>
            <a:picLocks noChangeAspect="1"/>
          </p:cNvPicPr>
          <p:nvPr/>
        </p:nvPicPr>
        <p:blipFill>
          <a:blip r:embed="rId3"/>
          <a:stretch>
            <a:fillRect/>
          </a:stretch>
        </p:blipFill>
        <p:spPr>
          <a:xfrm>
            <a:off x="3977640" y="2331720"/>
            <a:ext cx="685800" cy="685800"/>
          </a:xfrm>
          <a:prstGeom prst="rect">
            <a:avLst/>
          </a:prstGeom>
        </p:spPr>
      </p:pic>
      <p:pic>
        <p:nvPicPr>
          <p:cNvPr id="12" name="Image 3" descr="preencoded.png">    </p:cNvPr>
          <p:cNvPicPr>
            <a:picLocks noChangeAspect="1"/>
          </p:cNvPicPr>
          <p:nvPr/>
        </p:nvPicPr>
        <p:blipFill>
          <a:blip r:embed="rId4"/>
          <a:stretch>
            <a:fillRect/>
          </a:stretch>
        </p:blipFill>
        <p:spPr>
          <a:xfrm>
            <a:off x="4800600" y="2240280"/>
            <a:ext cx="868680" cy="868680"/>
          </a:xfrm>
          <a:prstGeom prst="rect">
            <a:avLst/>
          </a:prstGeom>
        </p:spPr>
      </p:pic>
      <p:sp>
        <p:nvSpPr>
          <p:cNvPr id="13" name="Text 7"/>
          <p:cNvSpPr txBox="1"/>
          <p:nvPr/>
        </p:nvSpPr>
        <p:spPr>
          <a:xfrm>
            <a:off x="3749040" y="4069080"/>
            <a:ext cx="2103120" cy="411480"/>
          </a:xfrm>
          <a:prstGeom prst="rect">
            <a:avLst/>
          </a:prstGeom>
          <a:noFill/>
          <a:ln/>
        </p:spPr>
        <p:txBody>
          <a:bodyPr wrap="square" lIns="0" tIns="0" rIns="0" bIns="0" rtlCol="0" anchor="t"/>
          <a:lstStyle/>
          <a:p>
            <a:pPr indent="0" marL="0">
              <a:buNone/>
            </a:pPr>
            <a:r>
              <a:rPr lang="en-US" sz="1700" b="1" dirty="0">
                <a:solidFill>
                  <a:schemeClr val="tx1"/>
                </a:solidFill>
                <a:latin typeface="Space Grotesk" pitchFamily="34" charset="0"/>
                <a:ea typeface="Space Grotesk" pitchFamily="34" charset="-122"/>
                <a:cs typeface="Space Grotesk" pitchFamily="34" charset="-120"/>
              </a:rPr>
              <a:t>Wi‑Fi to the cloud</a:t>
            </a:r>
            <a:endParaRPr lang="en-US" sz="1700" dirty="0"/>
          </a:p>
        </p:txBody>
      </p:sp>
      <p:sp>
        <p:nvSpPr>
          <p:cNvPr id="14" name="Text 8"/>
          <p:cNvSpPr txBox="1"/>
          <p:nvPr/>
        </p:nvSpPr>
        <p:spPr>
          <a:xfrm>
            <a:off x="3749040" y="4434840"/>
            <a:ext cx="2103120" cy="502920"/>
          </a:xfrm>
          <a:prstGeom prst="rect">
            <a:avLst/>
          </a:prstGeom>
          <a:noFill/>
          <a:ln/>
        </p:spPr>
        <p:txBody>
          <a:bodyPr wrap="square" lIns="0" tIns="0" rIns="0" bIns="0" rtlCol="0" anchor="t"/>
          <a:lstStyle/>
          <a:p>
            <a:pPr indent="0" marL="0">
              <a:buNone/>
            </a:pPr>
            <a:r>
              <a:rPr lang="en-US" sz="1200" dirty="0">
                <a:solidFill>
                  <a:schemeClr val="tx2"/>
                </a:solidFill>
              </a:rPr>
              <a:t>Every second of current, per session.</a:t>
            </a:r>
            <a:endParaRPr lang="en-US" sz="1200" dirty="0"/>
          </a:p>
        </p:txBody>
      </p:sp>
      <p:pic>
        <p:nvPicPr>
          <p:cNvPr id="15" name="Image 4" descr="preencoded.png">    </p:cNvPr>
          <p:cNvPicPr>
            <a:picLocks noChangeAspect="1"/>
          </p:cNvPicPr>
          <p:nvPr/>
        </p:nvPicPr>
        <p:blipFill>
          <a:blip r:embed="rId5"/>
          <a:stretch>
            <a:fillRect/>
          </a:stretch>
        </p:blipFill>
        <p:spPr>
          <a:xfrm>
            <a:off x="6071616" y="3063240"/>
            <a:ext cx="164592" cy="164592"/>
          </a:xfrm>
          <a:prstGeom prst="rect">
            <a:avLst/>
          </a:prstGeom>
        </p:spPr>
      </p:pic>
      <p:sp>
        <p:nvSpPr>
          <p:cNvPr id="16" name="Step 3"/>
          <p:cNvSpPr/>
          <p:nvPr/>
        </p:nvSpPr>
        <p:spPr>
          <a:xfrm>
            <a:off x="6263640" y="1463040"/>
            <a:ext cx="2560320" cy="3520440"/>
          </a:xfrm>
          <a:prstGeom prst="roundRect">
            <a:avLst>
              <a:gd name="adj" fmla="val 4286"/>
            </a:avLst>
          </a:prstGeom>
          <a:solidFill>
            <a:schemeClr val="bg1"/>
          </a:solidFill>
          <a:ln w="9525">
            <a:solidFill>
              <a:srgbClr val="E3D6C0"/>
            </a:solidFill>
            <a:prstDash val="solid"/>
          </a:ln>
        </p:spPr>
      </p:sp>
      <p:sp>
        <p:nvSpPr>
          <p:cNvPr id="17" name="Text 10"/>
          <p:cNvSpPr txBox="1"/>
          <p:nvPr/>
        </p:nvSpPr>
        <p:spPr>
          <a:xfrm>
            <a:off x="6537960" y="1691640"/>
            <a:ext cx="457200" cy="365760"/>
          </a:xfrm>
          <a:prstGeom prst="rect">
            <a:avLst/>
          </a:prstGeom>
          <a:noFill/>
          <a:ln/>
        </p:spPr>
        <p:txBody>
          <a:bodyPr wrap="square" lIns="0" tIns="0" rIns="0" bIns="0" rtlCol="0" anchor="ctr"/>
          <a:lstStyle/>
          <a:p>
            <a:pPr indent="0" marL="0">
              <a:buNone/>
            </a:pPr>
            <a:r>
              <a:rPr lang="en-US" sz="1400" dirty="0">
                <a:solidFill>
                  <a:schemeClr val="tx2"/>
                </a:solidFill>
                <a:latin typeface="JetBrains Mono" pitchFamily="34" charset="0"/>
                <a:ea typeface="JetBrains Mono" pitchFamily="34" charset="-122"/>
                <a:cs typeface="JetBrains Mono" pitchFamily="34" charset="-120"/>
              </a:rPr>
              <a:t>3</a:t>
            </a:r>
            <a:endParaRPr lang="en-US" sz="1400" dirty="0"/>
          </a:p>
        </p:txBody>
      </p:sp>
      <p:pic>
        <p:nvPicPr>
          <p:cNvPr id="18" name="Image 5" descr="preencoded.png">    </p:cNvPr>
          <p:cNvPicPr>
            <a:picLocks noChangeAspect="1"/>
          </p:cNvPicPr>
          <p:nvPr/>
        </p:nvPicPr>
        <p:blipFill>
          <a:blip r:embed="rId6"/>
          <a:stretch>
            <a:fillRect/>
          </a:stretch>
        </p:blipFill>
        <p:spPr>
          <a:xfrm>
            <a:off x="6537960" y="2240280"/>
            <a:ext cx="2011680" cy="1160585"/>
          </a:xfrm>
          <a:prstGeom prst="rect">
            <a:avLst/>
          </a:prstGeom>
        </p:spPr>
      </p:pic>
      <p:sp>
        <p:nvSpPr>
          <p:cNvPr id="19" name="Text 11"/>
          <p:cNvSpPr txBox="1"/>
          <p:nvPr/>
        </p:nvSpPr>
        <p:spPr>
          <a:xfrm>
            <a:off x="6537960" y="4069080"/>
            <a:ext cx="2103120" cy="411480"/>
          </a:xfrm>
          <a:prstGeom prst="rect">
            <a:avLst/>
          </a:prstGeom>
          <a:noFill/>
          <a:ln/>
        </p:spPr>
        <p:txBody>
          <a:bodyPr wrap="square" lIns="0" tIns="0" rIns="0" bIns="0" rtlCol="0" anchor="t"/>
          <a:lstStyle/>
          <a:p>
            <a:pPr indent="0" marL="0">
              <a:buNone/>
            </a:pPr>
            <a:r>
              <a:rPr lang="en-US" sz="1700" b="1" dirty="0">
                <a:solidFill>
                  <a:schemeClr val="tx1"/>
                </a:solidFill>
                <a:latin typeface="Space Grotesk" pitchFamily="34" charset="0"/>
                <a:ea typeface="Space Grotesk" pitchFamily="34" charset="-122"/>
                <a:cs typeface="Space Grotesk" pitchFamily="34" charset="-120"/>
              </a:rPr>
              <a:t>Learns its curve</a:t>
            </a:r>
            <a:endParaRPr lang="en-US" sz="1700" dirty="0"/>
          </a:p>
        </p:txBody>
      </p:sp>
      <p:sp>
        <p:nvSpPr>
          <p:cNvPr id="20" name="Text 12"/>
          <p:cNvSpPr txBox="1"/>
          <p:nvPr/>
        </p:nvSpPr>
        <p:spPr>
          <a:xfrm>
            <a:off x="6537960" y="4434840"/>
            <a:ext cx="2103120" cy="502920"/>
          </a:xfrm>
          <a:prstGeom prst="rect">
            <a:avLst/>
          </a:prstGeom>
          <a:noFill/>
          <a:ln/>
        </p:spPr>
        <p:txBody>
          <a:bodyPr wrap="square" lIns="0" tIns="0" rIns="0" bIns="0" rtlCol="0" anchor="t"/>
          <a:lstStyle/>
          <a:p>
            <a:pPr indent="0" marL="0">
              <a:buNone/>
            </a:pPr>
            <a:r>
              <a:rPr lang="en-US" sz="1200" dirty="0">
                <a:solidFill>
                  <a:schemeClr val="tx2"/>
                </a:solidFill>
              </a:rPr>
              <a:t>Each machine gets its own normal range.</a:t>
            </a:r>
            <a:endParaRPr lang="en-US" sz="1200" dirty="0"/>
          </a:p>
        </p:txBody>
      </p:sp>
      <p:pic>
        <p:nvPicPr>
          <p:cNvPr id="21" name="Image 6" descr="preencoded.png">    </p:cNvPr>
          <p:cNvPicPr>
            <a:picLocks noChangeAspect="1"/>
          </p:cNvPicPr>
          <p:nvPr/>
        </p:nvPicPr>
        <p:blipFill>
          <a:blip r:embed="rId7"/>
          <a:stretch>
            <a:fillRect/>
          </a:stretch>
        </p:blipFill>
        <p:spPr>
          <a:xfrm>
            <a:off x="8860536" y="3063240"/>
            <a:ext cx="164592" cy="164592"/>
          </a:xfrm>
          <a:prstGeom prst="rect">
            <a:avLst/>
          </a:prstGeom>
        </p:spPr>
      </p:pic>
      <p:sp>
        <p:nvSpPr>
          <p:cNvPr id="22" name="Step 4"/>
          <p:cNvSpPr/>
          <p:nvPr/>
        </p:nvSpPr>
        <p:spPr>
          <a:xfrm>
            <a:off x="9052560" y="1463040"/>
            <a:ext cx="2560320" cy="3520440"/>
          </a:xfrm>
          <a:prstGeom prst="roundRect">
            <a:avLst>
              <a:gd name="adj" fmla="val 4286"/>
            </a:avLst>
          </a:prstGeom>
          <a:solidFill>
            <a:schemeClr val="bg1"/>
          </a:solidFill>
          <a:ln w="9525">
            <a:solidFill>
              <a:srgbClr val="E3D6C0"/>
            </a:solidFill>
            <a:prstDash val="solid"/>
          </a:ln>
        </p:spPr>
      </p:sp>
      <p:sp>
        <p:nvSpPr>
          <p:cNvPr id="23" name="Text 14"/>
          <p:cNvSpPr txBox="1"/>
          <p:nvPr/>
        </p:nvSpPr>
        <p:spPr>
          <a:xfrm>
            <a:off x="9326880" y="1691640"/>
            <a:ext cx="457200" cy="365760"/>
          </a:xfrm>
          <a:prstGeom prst="rect">
            <a:avLst/>
          </a:prstGeom>
          <a:noFill/>
          <a:ln/>
        </p:spPr>
        <p:txBody>
          <a:bodyPr wrap="square" lIns="0" tIns="0" rIns="0" bIns="0" rtlCol="0" anchor="ctr"/>
          <a:lstStyle/>
          <a:p>
            <a:pPr indent="0" marL="0">
              <a:buNone/>
            </a:pPr>
            <a:r>
              <a:rPr lang="en-US" sz="1400" dirty="0">
                <a:solidFill>
                  <a:schemeClr val="tx2"/>
                </a:solidFill>
                <a:latin typeface="JetBrains Mono" pitchFamily="34" charset="0"/>
                <a:ea typeface="JetBrains Mono" pitchFamily="34" charset="-122"/>
                <a:cs typeface="JetBrains Mono" pitchFamily="34" charset="-120"/>
              </a:rPr>
              <a:t>4</a:t>
            </a:r>
            <a:endParaRPr lang="en-US" sz="1400" dirty="0"/>
          </a:p>
        </p:txBody>
      </p:sp>
      <p:sp>
        <p:nvSpPr>
          <p:cNvPr id="24" name="Shape 15"/>
          <p:cNvSpPr/>
          <p:nvPr/>
        </p:nvSpPr>
        <p:spPr>
          <a:xfrm>
            <a:off x="10012680" y="2011680"/>
            <a:ext cx="640080" cy="640080"/>
          </a:xfrm>
          <a:prstGeom prst="ellipse">
            <a:avLst/>
          </a:prstGeom>
          <a:solidFill>
            <a:srgbClr val="A63D1F"/>
          </a:solidFill>
          <a:ln w="12700">
            <a:solidFill>
              <a:srgbClr val="A63D1F"/>
            </a:solidFill>
            <a:prstDash val="solid"/>
          </a:ln>
        </p:spPr>
      </p:sp>
      <p:pic>
        <p:nvPicPr>
          <p:cNvPr id="25" name="Image 7" descr="preencoded.png">    </p:cNvPr>
          <p:cNvPicPr>
            <a:picLocks noChangeAspect="1"/>
          </p:cNvPicPr>
          <p:nvPr/>
        </p:nvPicPr>
        <p:blipFill>
          <a:blip r:embed="rId8"/>
          <a:stretch>
            <a:fillRect/>
          </a:stretch>
        </p:blipFill>
        <p:spPr>
          <a:xfrm>
            <a:off x="10149840" y="2148840"/>
            <a:ext cx="365760" cy="365760"/>
          </a:xfrm>
          <a:prstGeom prst="rect">
            <a:avLst/>
          </a:prstGeom>
        </p:spPr>
      </p:pic>
      <p:sp>
        <p:nvSpPr>
          <p:cNvPr id="26" name="Shape 16"/>
          <p:cNvSpPr/>
          <p:nvPr/>
        </p:nvSpPr>
        <p:spPr>
          <a:xfrm>
            <a:off x="9326880" y="2834640"/>
            <a:ext cx="2011680" cy="310896"/>
          </a:xfrm>
          <a:prstGeom prst="roundRect">
            <a:avLst>
              <a:gd name="adj" fmla="val 23529"/>
            </a:avLst>
          </a:prstGeom>
          <a:solidFill>
            <a:srgbClr val="A63D1F"/>
          </a:solidFill>
          <a:ln w="12700">
            <a:solidFill>
              <a:srgbClr val="A63D1F"/>
            </a:solidFill>
            <a:prstDash val="solid"/>
          </a:ln>
        </p:spPr>
      </p:sp>
      <p:sp>
        <p:nvSpPr>
          <p:cNvPr id="27" name="Text 17"/>
          <p:cNvSpPr txBox="1"/>
          <p:nvPr/>
        </p:nvSpPr>
        <p:spPr>
          <a:xfrm>
            <a:off x="9326880" y="2834640"/>
            <a:ext cx="2011680" cy="310896"/>
          </a:xfrm>
          <a:prstGeom prst="rect">
            <a:avLst/>
          </a:prstGeom>
          <a:noFill/>
          <a:ln/>
        </p:spPr>
        <p:txBody>
          <a:bodyPr wrap="square" lIns="0" tIns="0" rIns="0" bIns="0" rtlCol="0" anchor="ctr"/>
          <a:lstStyle/>
          <a:p>
            <a:pPr algn="ctr" indent="0" marL="0">
              <a:buNone/>
            </a:pPr>
            <a:r>
              <a:rPr lang="en-US" sz="1200" b="1" dirty="0">
                <a:solidFill>
                  <a:srgbClr val="FFFDF8"/>
                </a:solidFill>
              </a:rPr>
              <a:t>Shut down</a:t>
            </a:r>
            <a:endParaRPr lang="en-US" sz="1200" dirty="0"/>
          </a:p>
        </p:txBody>
      </p:sp>
      <p:sp>
        <p:nvSpPr>
          <p:cNvPr id="28" name="Shape 18"/>
          <p:cNvSpPr/>
          <p:nvPr/>
        </p:nvSpPr>
        <p:spPr>
          <a:xfrm>
            <a:off x="9326880" y="3218688"/>
            <a:ext cx="2011680" cy="310896"/>
          </a:xfrm>
          <a:prstGeom prst="roundRect">
            <a:avLst>
              <a:gd name="adj" fmla="val 23529"/>
            </a:avLst>
          </a:prstGeom>
          <a:solidFill>
            <a:srgbClr val="2F6B45"/>
          </a:solidFill>
          <a:ln w="12700">
            <a:solidFill>
              <a:srgbClr val="2F6B45"/>
            </a:solidFill>
            <a:prstDash val="solid"/>
          </a:ln>
        </p:spPr>
      </p:sp>
      <p:sp>
        <p:nvSpPr>
          <p:cNvPr id="29" name="Text 19"/>
          <p:cNvSpPr txBox="1"/>
          <p:nvPr/>
        </p:nvSpPr>
        <p:spPr>
          <a:xfrm>
            <a:off x="9326880" y="3218688"/>
            <a:ext cx="2011680" cy="310896"/>
          </a:xfrm>
          <a:prstGeom prst="rect">
            <a:avLst/>
          </a:prstGeom>
          <a:noFill/>
          <a:ln/>
        </p:spPr>
        <p:txBody>
          <a:bodyPr wrap="square" lIns="0" tIns="0" rIns="0" bIns="0" rtlCol="0" anchor="ctr"/>
          <a:lstStyle/>
          <a:p>
            <a:pPr algn="ctr" indent="0" marL="0">
              <a:buNone/>
            </a:pPr>
            <a:r>
              <a:rPr lang="en-US" sz="1200" b="1" dirty="0">
                <a:solidFill>
                  <a:srgbClr val="FFFDF8"/>
                </a:solidFill>
              </a:rPr>
              <a:t>Call technician</a:t>
            </a:r>
            <a:endParaRPr lang="en-US" sz="1200" dirty="0"/>
          </a:p>
        </p:txBody>
      </p:sp>
      <p:sp>
        <p:nvSpPr>
          <p:cNvPr id="30" name="Shape 20"/>
          <p:cNvSpPr/>
          <p:nvPr/>
        </p:nvSpPr>
        <p:spPr>
          <a:xfrm>
            <a:off x="9326880" y="3602736"/>
            <a:ext cx="2011680" cy="310896"/>
          </a:xfrm>
          <a:prstGeom prst="roundRect">
            <a:avLst>
              <a:gd name="adj" fmla="val 23529"/>
            </a:avLst>
          </a:prstGeom>
          <a:solidFill>
            <a:srgbClr val="EDE4D3"/>
          </a:solidFill>
          <a:ln w="12700">
            <a:solidFill>
              <a:srgbClr val="EDE4D3"/>
            </a:solidFill>
            <a:prstDash val="solid"/>
          </a:ln>
        </p:spPr>
      </p:sp>
      <p:sp>
        <p:nvSpPr>
          <p:cNvPr id="31" name="Text 21"/>
          <p:cNvSpPr txBox="1"/>
          <p:nvPr/>
        </p:nvSpPr>
        <p:spPr>
          <a:xfrm>
            <a:off x="9326880" y="3602736"/>
            <a:ext cx="2011680" cy="310896"/>
          </a:xfrm>
          <a:prstGeom prst="rect">
            <a:avLst/>
          </a:prstGeom>
          <a:noFill/>
          <a:ln/>
        </p:spPr>
        <p:txBody>
          <a:bodyPr wrap="square" lIns="0" tIns="0" rIns="0" bIns="0" rtlCol="0" anchor="ctr"/>
          <a:lstStyle/>
          <a:p>
            <a:pPr algn="ctr" indent="0" marL="0">
              <a:buNone/>
            </a:pPr>
            <a:r>
              <a:rPr lang="en-US" sz="1200" b="1" dirty="0">
                <a:solidFill>
                  <a:srgbClr val="1F3D2B"/>
                </a:solidFill>
              </a:rPr>
              <a:t>Mark OK</a:t>
            </a:r>
            <a:endParaRPr lang="en-US" sz="1200" dirty="0"/>
          </a:p>
        </p:txBody>
      </p:sp>
      <p:sp>
        <p:nvSpPr>
          <p:cNvPr id="32" name="Text 22"/>
          <p:cNvSpPr txBox="1"/>
          <p:nvPr/>
        </p:nvSpPr>
        <p:spPr>
          <a:xfrm>
            <a:off x="9326880" y="4069080"/>
            <a:ext cx="2103120" cy="411480"/>
          </a:xfrm>
          <a:prstGeom prst="rect">
            <a:avLst/>
          </a:prstGeom>
          <a:noFill/>
          <a:ln/>
        </p:spPr>
        <p:txBody>
          <a:bodyPr wrap="square" lIns="0" tIns="0" rIns="0" bIns="0" rtlCol="0" anchor="t"/>
          <a:lstStyle/>
          <a:p>
            <a:pPr indent="0" marL="0">
              <a:buNone/>
            </a:pPr>
            <a:r>
              <a:rPr lang="en-US" sz="1700" b="1" dirty="0">
                <a:solidFill>
                  <a:schemeClr val="tx1"/>
                </a:solidFill>
                <a:latin typeface="Space Grotesk" pitchFamily="34" charset="0"/>
                <a:ea typeface="Space Grotesk" pitchFamily="34" charset="-122"/>
                <a:cs typeface="Space Grotesk" pitchFamily="34" charset="-120"/>
              </a:rPr>
              <a:t>Owner decides</a:t>
            </a:r>
            <a:endParaRPr lang="en-US" sz="1700" dirty="0"/>
          </a:p>
        </p:txBody>
      </p:sp>
      <p:sp>
        <p:nvSpPr>
          <p:cNvPr id="33" name="Text 23"/>
          <p:cNvSpPr txBox="1"/>
          <p:nvPr/>
        </p:nvSpPr>
        <p:spPr>
          <a:xfrm>
            <a:off x="9326880" y="4434840"/>
            <a:ext cx="2103120" cy="502920"/>
          </a:xfrm>
          <a:prstGeom prst="rect">
            <a:avLst/>
          </a:prstGeom>
          <a:noFill/>
          <a:ln/>
        </p:spPr>
        <p:txBody>
          <a:bodyPr wrap="square" lIns="0" tIns="0" rIns="0" bIns="0" rtlCol="0" anchor="t"/>
          <a:lstStyle/>
          <a:p>
            <a:pPr indent="0" marL="0">
              <a:buNone/>
            </a:pPr>
            <a:r>
              <a:rPr lang="en-US" sz="1200" dirty="0">
                <a:solidFill>
                  <a:schemeClr val="tx2"/>
                </a:solidFill>
              </a:rPr>
              <a:t>Alert, then one tap.</a:t>
            </a:r>
            <a:endParaRPr lang="en-US" sz="1200" dirty="0"/>
          </a:p>
        </p:txBody>
      </p:sp>
      <p:pic>
        <p:nvPicPr>
          <p:cNvPr id="34" name="Image 8" descr="preencoded.png">    </p:cNvPr>
          <p:cNvPicPr>
            <a:picLocks noChangeAspect="1"/>
          </p:cNvPicPr>
          <p:nvPr/>
        </p:nvPicPr>
        <p:blipFill>
          <a:blip r:embed="rId9"/>
          <a:stretch>
            <a:fillRect/>
          </a:stretch>
        </p:blipFill>
        <p:spPr>
          <a:xfrm>
            <a:off x="685800" y="5349240"/>
            <a:ext cx="384048" cy="384048"/>
          </a:xfrm>
          <a:prstGeom prst="rect">
            <a:avLst/>
          </a:prstGeom>
        </p:spPr>
      </p:pic>
      <p:sp>
        <p:nvSpPr>
          <p:cNvPr id="35" name="Text 24"/>
          <p:cNvSpPr txBox="1"/>
          <p:nvPr/>
        </p:nvSpPr>
        <p:spPr>
          <a:xfrm>
            <a:off x="1188720" y="5321808"/>
            <a:ext cx="9144000" cy="438912"/>
          </a:xfrm>
          <a:prstGeom prst="rect">
            <a:avLst/>
          </a:prstGeom>
          <a:noFill/>
          <a:ln/>
        </p:spPr>
        <p:txBody>
          <a:bodyPr wrap="square" lIns="0" tIns="0" rIns="0" bIns="0" rtlCol="0" anchor="ctr"/>
          <a:lstStyle/>
          <a:p>
            <a:pPr indent="0" marL="0">
              <a:buNone/>
            </a:pPr>
            <a:r>
              <a:rPr lang="en-US" sz="1700" dirty="0">
                <a:solidFill>
                  <a:schemeClr val="tx1"/>
                </a:solidFill>
              </a:rPr>
              <a:t>Safety: no auto restart after a shutdown, and fridges are never cut.</a:t>
            </a:r>
            <a:endParaRPr lang="en-US" sz="1700" dirty="0"/>
          </a:p>
        </p:txBody>
      </p:sp>
      <p:sp>
        <p:nvSpPr>
          <p:cNvPr id="25" name="Slide Number Placeholder 0"/>
          <p:cNvSpPr>
            <a:spLocks noGrp="1"/>
          </p:cNvSpPr>
          <p:nvPr>
            <p:ph type="sldNum" sz="quarter" idx="4294967295"/>
          </p:nvPr>
        </p:nvSpPr>
        <p:spPr>
          <a:xfrm>
            <a:off x="1106424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5F"/>
                </a:solidFill>
                <a:latin typeface="JetBrains Mono"/>
                <a:ea typeface="JetBrains Mono"/>
                <a:cs typeface="JetBrains Mono"/>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685800" y="457200"/>
            <a:ext cx="10789920" cy="822960"/>
          </a:xfrm>
          <a:prstGeom prst="rect">
            <a:avLst/>
          </a:prstGeom>
          <a:noFill/>
          <a:ln/>
        </p:spPr>
        <p:txBody>
          <a:bodyPr wrap="square" lIns="0" tIns="0" rIns="0" bIns="0" rtlCol="0" anchor="t"/>
          <a:lstStyle/>
          <a:p>
            <a:pPr algn="l" indent="0" marL="0">
              <a:buNone/>
            </a:pPr>
            <a:r>
              <a:rPr lang="en-US" sz="3600" b="1" dirty="0">
                <a:solidFill>
                  <a:schemeClr val="tx1"/>
                </a:solidFill>
                <a:latin typeface="Space Grotesk" pitchFamily="34" charset="0"/>
                <a:ea typeface="Space Grotesk" pitchFamily="34" charset="-122"/>
                <a:cs typeface="Space Grotesk" pitchFamily="34" charset="-120"/>
              </a:rPr>
              <a:t>The owner app, live</a:t>
            </a:r>
            <a:endParaRPr lang="en-US" sz="3600" dirty="0"/>
          </a:p>
        </p:txBody>
      </p:sp>
      <p:sp>
        <p:nvSpPr>
          <p:cNvPr id="3" name="Video frame"/>
          <p:cNvSpPr/>
          <p:nvPr/>
        </p:nvSpPr>
        <p:spPr>
          <a:xfrm>
            <a:off x="640080" y="1371600"/>
            <a:ext cx="8046720" cy="4566285"/>
          </a:xfrm>
          <a:prstGeom prst="roundRect">
            <a:avLst>
              <a:gd name="adj" fmla="val 2003"/>
            </a:avLst>
          </a:prstGeom>
          <a:solidFill>
            <a:srgbClr val="1F3D2B"/>
          </a:solidFill>
          <a:ln w="12700">
            <a:solidFill>
              <a:srgbClr val="1F3D2B"/>
            </a:solidFill>
            <a:prstDash val="solid"/>
          </a:ln>
        </p:spPr>
      </p:sp>
      <p:pic>
        <p:nvPicPr>
          <p:cNvPr id="3" name="Owner app demo, 67 s, no audio">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685800" y="1417320"/>
            <a:ext cx="7955280" cy="4474845"/>
          </a:xfrm>
          <a:prstGeom prst="rect">
            <a:avLst/>
          </a:prstGeom>
        </p:spPr>
      </p:pic>
      <p:sp>
        <p:nvSpPr>
          <p:cNvPr id="5" name="Text 2"/>
          <p:cNvSpPr txBox="1"/>
          <p:nvPr/>
        </p:nvSpPr>
        <p:spPr>
          <a:xfrm>
            <a:off x="685800" y="5989320"/>
            <a:ext cx="7315200" cy="274320"/>
          </a:xfrm>
          <a:prstGeom prst="rect">
            <a:avLst/>
          </a:prstGeom>
          <a:noFill/>
          <a:ln/>
        </p:spPr>
        <p:txBody>
          <a:bodyPr wrap="square" lIns="0" tIns="0" rIns="0" bIns="0" rtlCol="0" anchor="ctr"/>
          <a:lstStyle/>
          <a:p>
            <a:pPr indent="0" marL="0">
              <a:buNone/>
            </a:pPr>
            <a:r>
              <a:rPr lang="en-US" sz="1100" dirty="0">
                <a:solidFill>
                  <a:schemeClr val="tx2"/>
                </a:solidFill>
              </a:rPr>
              <a:t>Owner side prototype. Simulated boxes, real flow. Click to play.</a:t>
            </a:r>
            <a:endParaRPr lang="en-US" sz="1100" dirty="0"/>
          </a:p>
        </p:txBody>
      </p:sp>
      <p:sp>
        <p:nvSpPr>
          <p:cNvPr id="6" name="Text 3"/>
          <p:cNvSpPr txBox="1"/>
          <p:nvPr/>
        </p:nvSpPr>
        <p:spPr>
          <a:xfrm>
            <a:off x="9372600" y="1417320"/>
            <a:ext cx="2148840" cy="411480"/>
          </a:xfrm>
          <a:prstGeom prst="rect">
            <a:avLst/>
          </a:prstGeom>
          <a:noFill/>
          <a:ln/>
        </p:spPr>
        <p:txBody>
          <a:bodyPr wrap="square" lIns="0" tIns="0" rIns="0" bIns="0" rtlCol="0" anchor="ctr"/>
          <a:lstStyle/>
          <a:p>
            <a:pPr indent="0" marL="0">
              <a:buNone/>
            </a:pPr>
            <a:r>
              <a:rPr lang="en-US" sz="2000" b="1" dirty="0">
                <a:solidFill>
                  <a:schemeClr val="tx1"/>
                </a:solidFill>
                <a:latin typeface="Space Grotesk" pitchFamily="34" charset="0"/>
                <a:ea typeface="Space Grotesk" pitchFamily="34" charset="-122"/>
                <a:cs typeface="Space Grotesk" pitchFamily="34" charset="-120"/>
              </a:rPr>
              <a:t>In the video</a:t>
            </a:r>
            <a:endParaRPr lang="en-US" sz="2000" dirty="0"/>
          </a:p>
        </p:txBody>
      </p:sp>
      <p:sp>
        <p:nvSpPr>
          <p:cNvPr id="7" name="Text 4"/>
          <p:cNvSpPr txBox="1"/>
          <p:nvPr/>
        </p:nvSpPr>
        <p:spPr>
          <a:xfrm>
            <a:off x="9372600" y="1965960"/>
            <a:ext cx="2148840" cy="1097280"/>
          </a:xfrm>
          <a:prstGeom prst="rect">
            <a:avLst/>
          </a:prstGeom>
          <a:noFill/>
          <a:ln/>
        </p:spPr>
        <p:txBody>
          <a:bodyPr wrap="square" lIns="0" tIns="0" rIns="0" bIns="0" rtlCol="0" anchor="t"/>
          <a:lstStyle/>
          <a:p>
            <a:pPr indent="0" marL="0">
              <a:buNone/>
            </a:pPr>
            <a:r>
              <a:rPr lang="en-US" sz="1300" dirty="0">
                <a:solidFill>
                  <a:schemeClr val="tx2"/>
                </a:solidFill>
              </a:rPr>
              <a:t>Login, alert, technician, idle shutdown, assign, daily report.</a:t>
            </a:r>
            <a:endParaRPr lang="en-US" sz="1300" dirty="0"/>
          </a:p>
        </p:txBody>
      </p:sp>
      <p:sp>
        <p:nvSpPr>
          <p:cNvPr id="25" name="Slide Number Placeholder 0"/>
          <p:cNvSpPr>
            <a:spLocks noGrp="1"/>
          </p:cNvSpPr>
          <p:nvPr>
            <p:ph type="sldNum" sz="quarter" idx="4294967295"/>
          </p:nvPr>
        </p:nvSpPr>
        <p:spPr>
          <a:xfrm>
            <a:off x="1106424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5F"/>
                </a:solidFill>
                <a:latin typeface="JetBrains Mono"/>
                <a:ea typeface="JetBrains Mono"/>
                <a:cs typeface="JetBrains Mono"/>
              </a:defRPr>
            </a:lvl1pPr>
          </a:lstStyle>
          <a:p>
            <a:pPr algn="r"/>
            <a:fld id="{F7021451-1387-4CA6-816F-3879F97B5CBC}" type="slidenum">
              <a:rPr b="0" lang="en-US"/>
              <a:t>6</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67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685800" y="457200"/>
            <a:ext cx="10789920" cy="822960"/>
          </a:xfrm>
          <a:prstGeom prst="rect">
            <a:avLst/>
          </a:prstGeom>
          <a:noFill/>
          <a:ln/>
        </p:spPr>
        <p:txBody>
          <a:bodyPr wrap="square" lIns="0" tIns="0" rIns="0" bIns="0" rtlCol="0" anchor="t"/>
          <a:lstStyle/>
          <a:p>
            <a:pPr algn="l" indent="0" marL="0">
              <a:buNone/>
            </a:pPr>
            <a:r>
              <a:rPr lang="en-US" sz="3600" b="1" dirty="0">
                <a:solidFill>
                  <a:schemeClr val="tx1"/>
                </a:solidFill>
                <a:latin typeface="Space Grotesk" pitchFamily="34" charset="0"/>
                <a:ea typeface="Space Grotesk" pitchFamily="34" charset="-122"/>
                <a:cs typeface="Space Grotesk" pitchFamily="34" charset="-120"/>
              </a:rPr>
              <a:t>A market that runs on electric equipment</a:t>
            </a:r>
            <a:endParaRPr lang="en-US" sz="3600" dirty="0"/>
          </a:p>
        </p:txBody>
      </p:sp>
      <p:sp>
        <p:nvSpPr>
          <p:cNvPr id="3" name="Text 1"/>
          <p:cNvSpPr txBox="1"/>
          <p:nvPr/>
        </p:nvSpPr>
        <p:spPr>
          <a:xfrm>
            <a:off x="685800" y="1554480"/>
            <a:ext cx="3383280" cy="1097280"/>
          </a:xfrm>
          <a:prstGeom prst="rect">
            <a:avLst/>
          </a:prstGeom>
          <a:noFill/>
          <a:ln/>
        </p:spPr>
        <p:txBody>
          <a:bodyPr wrap="square" lIns="0" tIns="0" rIns="0" bIns="0" rtlCol="0" anchor="b"/>
          <a:lstStyle/>
          <a:p>
            <a:pPr indent="0" marL="0">
              <a:buNone/>
            </a:pPr>
            <a:r>
              <a:rPr lang="en-US" sz="6400" dirty="0">
                <a:solidFill>
                  <a:schemeClr val="tx1"/>
                </a:solidFill>
                <a:latin typeface="JetBrains Mono" pitchFamily="34" charset="0"/>
                <a:ea typeface="JetBrains Mono" pitchFamily="34" charset="-122"/>
                <a:cs typeface="JetBrains Mono" pitchFamily="34" charset="-120"/>
              </a:rPr>
              <a:t>31</a:t>
            </a:r>
            <a:endParaRPr lang="en-US" sz="6400" dirty="0"/>
          </a:p>
        </p:txBody>
      </p:sp>
      <p:sp>
        <p:nvSpPr>
          <p:cNvPr id="4" name="Text 2"/>
          <p:cNvSpPr txBox="1"/>
          <p:nvPr/>
        </p:nvSpPr>
        <p:spPr>
          <a:xfrm>
            <a:off x="685800" y="2743200"/>
            <a:ext cx="3200400" cy="822960"/>
          </a:xfrm>
          <a:prstGeom prst="rect">
            <a:avLst/>
          </a:prstGeom>
          <a:noFill/>
          <a:ln/>
        </p:spPr>
        <p:txBody>
          <a:bodyPr wrap="square" lIns="0" tIns="0" rIns="0" bIns="0" rtlCol="0" anchor="t"/>
          <a:lstStyle/>
          <a:p>
            <a:pPr indent="0" marL="0">
              <a:buNone/>
            </a:pPr>
            <a:r>
              <a:rPr lang="en-US" sz="1600" dirty="0">
                <a:solidFill>
                  <a:schemeClr val="tx1"/>
                </a:solidFill>
              </a:rPr>
              <a:t>shared-use commercial kitchens in Ontario</a:t>
            </a:r>
            <a:endParaRPr lang="en-US" sz="1600" dirty="0"/>
          </a:p>
        </p:txBody>
      </p:sp>
      <p:sp>
        <p:nvSpPr>
          <p:cNvPr id="5" name="Text 3"/>
          <p:cNvSpPr txBox="1"/>
          <p:nvPr/>
        </p:nvSpPr>
        <p:spPr>
          <a:xfrm>
            <a:off x="685800" y="3611880"/>
            <a:ext cx="3200400" cy="274320"/>
          </a:xfrm>
          <a:prstGeom prst="rect">
            <a:avLst/>
          </a:prstGeom>
          <a:noFill/>
          <a:ln/>
        </p:spPr>
        <p:txBody>
          <a:bodyPr wrap="square" lIns="0" tIns="0" rIns="0" bIns="0" rtlCol="0" anchor="ctr"/>
          <a:lstStyle/>
          <a:p>
            <a:pPr indent="0" marL="0">
              <a:buNone/>
            </a:pPr>
            <a:r>
              <a:rPr lang="en-US" sz="1000" dirty="0">
                <a:solidFill>
                  <a:schemeClr val="tx2"/>
                </a:solidFill>
              </a:rPr>
              <a:t>poidata.io, Aug 2025</a:t>
            </a:r>
            <a:endParaRPr lang="en-US" sz="1000" dirty="0"/>
          </a:p>
        </p:txBody>
      </p:sp>
      <p:sp>
        <p:nvSpPr>
          <p:cNvPr id="6" name="Text 4"/>
          <p:cNvSpPr txBox="1"/>
          <p:nvPr/>
        </p:nvSpPr>
        <p:spPr>
          <a:xfrm>
            <a:off x="4343400" y="1554480"/>
            <a:ext cx="3383280" cy="1097280"/>
          </a:xfrm>
          <a:prstGeom prst="rect">
            <a:avLst/>
          </a:prstGeom>
          <a:noFill/>
          <a:ln/>
        </p:spPr>
        <p:txBody>
          <a:bodyPr wrap="square" lIns="0" tIns="0" rIns="0" bIns="0" rtlCol="0" anchor="b"/>
          <a:lstStyle/>
          <a:p>
            <a:pPr indent="0" marL="0">
              <a:buNone/>
            </a:pPr>
            <a:r>
              <a:rPr lang="en-US" sz="4600" dirty="0">
                <a:solidFill>
                  <a:srgbClr val="2F6B45"/>
                </a:solidFill>
                <a:latin typeface="JetBrains Mono" pitchFamily="34" charset="0"/>
                <a:ea typeface="JetBrains Mono" pitchFamily="34" charset="-122"/>
                <a:cs typeface="JetBrains Mono" pitchFamily="34" charset="-120"/>
              </a:rPr>
              <a:t>30 to 40%</a:t>
            </a:r>
            <a:endParaRPr lang="en-US" sz="4600" dirty="0"/>
          </a:p>
        </p:txBody>
      </p:sp>
      <p:sp>
        <p:nvSpPr>
          <p:cNvPr id="7" name="Text 5"/>
          <p:cNvSpPr txBox="1"/>
          <p:nvPr/>
        </p:nvSpPr>
        <p:spPr>
          <a:xfrm>
            <a:off x="4343400" y="2743200"/>
            <a:ext cx="3200400" cy="822960"/>
          </a:xfrm>
          <a:prstGeom prst="rect">
            <a:avLst/>
          </a:prstGeom>
          <a:noFill/>
          <a:ln/>
        </p:spPr>
        <p:txBody>
          <a:bodyPr wrap="square" lIns="0" tIns="0" rIns="0" bIns="0" rtlCol="0" anchor="t"/>
          <a:lstStyle/>
          <a:p>
            <a:pPr indent="0" marL="0">
              <a:buNone/>
            </a:pPr>
            <a:r>
              <a:rPr lang="en-US" sz="1600" dirty="0">
                <a:solidFill>
                  <a:schemeClr val="tx1"/>
                </a:solidFill>
              </a:rPr>
              <a:t>saved by predictive maintenance versus fixing after breakdown</a:t>
            </a:r>
            <a:endParaRPr lang="en-US" sz="1600" dirty="0"/>
          </a:p>
        </p:txBody>
      </p:sp>
      <p:sp>
        <p:nvSpPr>
          <p:cNvPr id="8" name="Text 6"/>
          <p:cNvSpPr txBox="1"/>
          <p:nvPr/>
        </p:nvSpPr>
        <p:spPr>
          <a:xfrm>
            <a:off x="4343400" y="3611880"/>
            <a:ext cx="3200400" cy="274320"/>
          </a:xfrm>
          <a:prstGeom prst="rect">
            <a:avLst/>
          </a:prstGeom>
          <a:noFill/>
          <a:ln/>
        </p:spPr>
        <p:txBody>
          <a:bodyPr wrap="square" lIns="0" tIns="0" rIns="0" bIns="0" rtlCol="0" anchor="ctr"/>
          <a:lstStyle/>
          <a:p>
            <a:pPr indent="0" marL="0">
              <a:buNone/>
            </a:pPr>
            <a:r>
              <a:rPr lang="en-US" sz="1000" dirty="0">
                <a:solidFill>
                  <a:schemeClr val="tx2"/>
                </a:solidFill>
              </a:rPr>
              <a:t>U.S. DOE, O&amp;M Best Practices Guide</a:t>
            </a:r>
            <a:endParaRPr lang="en-US" sz="1000" dirty="0"/>
          </a:p>
        </p:txBody>
      </p:sp>
      <p:sp>
        <p:nvSpPr>
          <p:cNvPr id="9" name="Text 7"/>
          <p:cNvSpPr txBox="1"/>
          <p:nvPr/>
        </p:nvSpPr>
        <p:spPr>
          <a:xfrm>
            <a:off x="8001000" y="1554480"/>
            <a:ext cx="3383280" cy="1097280"/>
          </a:xfrm>
          <a:prstGeom prst="rect">
            <a:avLst/>
          </a:prstGeom>
          <a:noFill/>
          <a:ln/>
        </p:spPr>
        <p:txBody>
          <a:bodyPr wrap="square" lIns="0" tIns="0" rIns="0" bIns="0" rtlCol="0" anchor="b"/>
          <a:lstStyle/>
          <a:p>
            <a:pPr indent="0" marL="0">
              <a:buNone/>
            </a:pPr>
            <a:r>
              <a:rPr lang="en-US" sz="4600" dirty="0">
                <a:solidFill>
                  <a:schemeClr val="tx1"/>
                </a:solidFill>
                <a:latin typeface="JetBrains Mono" pitchFamily="34" charset="0"/>
                <a:ea typeface="JetBrains Mono" pitchFamily="34" charset="-122"/>
                <a:cs typeface="JetBrains Mono" pitchFamily="34" charset="-120"/>
              </a:rPr>
              <a:t>5 to 7×</a:t>
            </a:r>
            <a:endParaRPr lang="en-US" sz="4600" dirty="0"/>
          </a:p>
        </p:txBody>
      </p:sp>
      <p:sp>
        <p:nvSpPr>
          <p:cNvPr id="10" name="Text 8"/>
          <p:cNvSpPr txBox="1"/>
          <p:nvPr/>
        </p:nvSpPr>
        <p:spPr>
          <a:xfrm>
            <a:off x="8001000" y="2743200"/>
            <a:ext cx="3200400" cy="822960"/>
          </a:xfrm>
          <a:prstGeom prst="rect">
            <a:avLst/>
          </a:prstGeom>
          <a:noFill/>
          <a:ln/>
        </p:spPr>
        <p:txBody>
          <a:bodyPr wrap="square" lIns="0" tIns="0" rIns="0" bIns="0" rtlCol="0" anchor="t"/>
          <a:lstStyle/>
          <a:p>
            <a:pPr indent="0" marL="0">
              <a:buNone/>
            </a:pPr>
            <a:r>
              <a:rPr lang="en-US" sz="1600" dirty="0">
                <a:solidFill>
                  <a:schemeClr val="tx1"/>
                </a:solidFill>
              </a:rPr>
              <a:t>more energy per sq ft in restaurants than other commercial buildings</a:t>
            </a:r>
            <a:endParaRPr lang="en-US" sz="1600" dirty="0"/>
          </a:p>
        </p:txBody>
      </p:sp>
      <p:sp>
        <p:nvSpPr>
          <p:cNvPr id="11" name="Text 9"/>
          <p:cNvSpPr txBox="1"/>
          <p:nvPr/>
        </p:nvSpPr>
        <p:spPr>
          <a:xfrm>
            <a:off x="8001000" y="3611880"/>
            <a:ext cx="3200400" cy="274320"/>
          </a:xfrm>
          <a:prstGeom prst="rect">
            <a:avLst/>
          </a:prstGeom>
          <a:noFill/>
          <a:ln/>
        </p:spPr>
        <p:txBody>
          <a:bodyPr wrap="square" lIns="0" tIns="0" rIns="0" bIns="0" rtlCol="0" anchor="ctr"/>
          <a:lstStyle/>
          <a:p>
            <a:pPr indent="0" marL="0">
              <a:buNone/>
            </a:pPr>
            <a:r>
              <a:rPr lang="en-US" sz="1000" dirty="0">
                <a:solidFill>
                  <a:schemeClr val="tx2"/>
                </a:solidFill>
              </a:rPr>
              <a:t>ENERGY STAR</a:t>
            </a:r>
            <a:endParaRPr lang="en-US" sz="1000" dirty="0"/>
          </a:p>
        </p:txBody>
      </p:sp>
      <p:pic>
        <p:nvPicPr>
          <p:cNvPr id="12" name="Heartbeat divider" descr="preencoded.png">    </p:cNvPr>
          <p:cNvPicPr>
            <a:picLocks noChangeAspect="1"/>
          </p:cNvPicPr>
          <p:nvPr/>
        </p:nvPicPr>
        <p:blipFill>
          <a:blip r:embed="rId1"/>
          <a:stretch>
            <a:fillRect/>
          </a:stretch>
        </p:blipFill>
        <p:spPr>
          <a:xfrm>
            <a:off x="685800" y="4069080"/>
            <a:ext cx="10789920" cy="539496"/>
          </a:xfrm>
          <a:prstGeom prst="rect">
            <a:avLst/>
          </a:prstGeom>
        </p:spPr>
      </p:pic>
      <p:sp>
        <p:nvSpPr>
          <p:cNvPr id="13" name="Text 10"/>
          <p:cNvSpPr txBox="1"/>
          <p:nvPr/>
        </p:nvSpPr>
        <p:spPr>
          <a:xfrm>
            <a:off x="685800" y="4800600"/>
            <a:ext cx="2743200" cy="320040"/>
          </a:xfrm>
          <a:prstGeom prst="rect">
            <a:avLst/>
          </a:prstGeom>
          <a:noFill/>
          <a:ln/>
        </p:spPr>
        <p:txBody>
          <a:bodyPr wrap="square" lIns="0" tIns="0" rIns="0" bIns="0" rtlCol="0" anchor="ctr"/>
          <a:lstStyle/>
          <a:p>
            <a:pPr indent="0" marL="0">
              <a:buNone/>
            </a:pPr>
            <a:r>
              <a:rPr lang="en-US" sz="1200" dirty="0">
                <a:solidFill>
                  <a:schemeClr val="tx2"/>
                </a:solidFill>
                <a:latin typeface="JetBrains Mono" pitchFamily="34" charset="0"/>
                <a:ea typeface="JetBrains Mono" pitchFamily="34" charset="-122"/>
                <a:cs typeface="JetBrains Mono" pitchFamily="34" charset="-120"/>
              </a:rPr>
              <a:t>Expansion path</a:t>
            </a:r>
            <a:endParaRPr lang="en-US" sz="1200" dirty="0"/>
          </a:p>
        </p:txBody>
      </p:sp>
      <p:sp>
        <p:nvSpPr>
          <p:cNvPr id="14" name="Shape 11"/>
          <p:cNvSpPr/>
          <p:nvPr/>
        </p:nvSpPr>
        <p:spPr>
          <a:xfrm>
            <a:off x="685800" y="5166360"/>
            <a:ext cx="3291840" cy="594360"/>
          </a:xfrm>
          <a:prstGeom prst="roundRect">
            <a:avLst>
              <a:gd name="adj" fmla="val 46154"/>
            </a:avLst>
          </a:prstGeom>
          <a:solidFill>
            <a:srgbClr val="2F6B45"/>
          </a:solidFill>
          <a:ln w="9525">
            <a:solidFill>
              <a:srgbClr val="2F6B45"/>
            </a:solidFill>
            <a:prstDash val="solid"/>
          </a:ln>
        </p:spPr>
      </p:sp>
      <p:sp>
        <p:nvSpPr>
          <p:cNvPr id="15" name="Text 12"/>
          <p:cNvSpPr txBox="1"/>
          <p:nvPr/>
        </p:nvSpPr>
        <p:spPr>
          <a:xfrm>
            <a:off x="914400" y="5166360"/>
            <a:ext cx="2834640" cy="594360"/>
          </a:xfrm>
          <a:prstGeom prst="rect">
            <a:avLst/>
          </a:prstGeom>
          <a:noFill/>
          <a:ln/>
        </p:spPr>
        <p:txBody>
          <a:bodyPr wrap="square" lIns="0" tIns="0" rIns="0" bIns="0" rtlCol="0" anchor="ctr"/>
          <a:lstStyle/>
          <a:p>
            <a:pPr indent="0" marL="0">
              <a:buNone/>
            </a:pPr>
            <a:r>
              <a:rPr lang="en-US" sz="1500" b="1" dirty="0">
                <a:solidFill>
                  <a:srgbClr val="FFFDF8"/>
                </a:solidFill>
              </a:rPr>
              <a:t>One makerspace</a:t>
            </a:r>
            <a:endParaRPr lang="en-US" sz="1500" dirty="0"/>
          </a:p>
        </p:txBody>
      </p:sp>
      <p:pic>
        <p:nvPicPr>
          <p:cNvPr id="16" name="Image 1" descr="preencoded.png">    </p:cNvPr>
          <p:cNvPicPr>
            <a:picLocks noChangeAspect="1"/>
          </p:cNvPicPr>
          <p:nvPr/>
        </p:nvPicPr>
        <p:blipFill>
          <a:blip r:embed="rId2"/>
          <a:stretch>
            <a:fillRect/>
          </a:stretch>
        </p:blipFill>
        <p:spPr>
          <a:xfrm>
            <a:off x="4032504" y="5376672"/>
            <a:ext cx="182880" cy="182880"/>
          </a:xfrm>
          <a:prstGeom prst="rect">
            <a:avLst/>
          </a:prstGeom>
        </p:spPr>
      </p:pic>
      <p:sp>
        <p:nvSpPr>
          <p:cNvPr id="17" name="Shape 13"/>
          <p:cNvSpPr/>
          <p:nvPr/>
        </p:nvSpPr>
        <p:spPr>
          <a:xfrm>
            <a:off x="4343400" y="5166360"/>
            <a:ext cx="3291840" cy="594360"/>
          </a:xfrm>
          <a:prstGeom prst="roundRect">
            <a:avLst>
              <a:gd name="adj" fmla="val 46154"/>
            </a:avLst>
          </a:prstGeom>
          <a:solidFill>
            <a:schemeClr val="bg1"/>
          </a:solidFill>
          <a:ln w="9525">
            <a:solidFill>
              <a:srgbClr val="E3D6C0"/>
            </a:solidFill>
            <a:prstDash val="solid"/>
          </a:ln>
        </p:spPr>
      </p:sp>
      <p:sp>
        <p:nvSpPr>
          <p:cNvPr id="18" name="Text 14"/>
          <p:cNvSpPr txBox="1"/>
          <p:nvPr/>
        </p:nvSpPr>
        <p:spPr>
          <a:xfrm>
            <a:off x="4572000" y="5166360"/>
            <a:ext cx="2834640" cy="594360"/>
          </a:xfrm>
          <a:prstGeom prst="rect">
            <a:avLst/>
          </a:prstGeom>
          <a:noFill/>
          <a:ln/>
        </p:spPr>
        <p:txBody>
          <a:bodyPr wrap="square" lIns="0" tIns="0" rIns="0" bIns="0" rtlCol="0" anchor="ctr"/>
          <a:lstStyle/>
          <a:p>
            <a:pPr indent="0" marL="0">
              <a:buNone/>
            </a:pPr>
            <a:r>
              <a:rPr lang="en-US" sz="1500" dirty="0">
                <a:solidFill>
                  <a:schemeClr val="tx1"/>
                </a:solidFill>
              </a:rPr>
              <a:t>University networks with several labs</a:t>
            </a:r>
            <a:endParaRPr lang="en-US" sz="1500" dirty="0"/>
          </a:p>
        </p:txBody>
      </p:sp>
      <p:pic>
        <p:nvPicPr>
          <p:cNvPr id="19" name="Image 2" descr="preencoded.png">    </p:cNvPr>
          <p:cNvPicPr>
            <a:picLocks noChangeAspect="1"/>
          </p:cNvPicPr>
          <p:nvPr/>
        </p:nvPicPr>
        <p:blipFill>
          <a:blip r:embed="rId3"/>
          <a:stretch>
            <a:fillRect/>
          </a:stretch>
        </p:blipFill>
        <p:spPr>
          <a:xfrm>
            <a:off x="7690104" y="5376672"/>
            <a:ext cx="182880" cy="182880"/>
          </a:xfrm>
          <a:prstGeom prst="rect">
            <a:avLst/>
          </a:prstGeom>
        </p:spPr>
      </p:pic>
      <p:sp>
        <p:nvSpPr>
          <p:cNvPr id="20" name="Shape 15"/>
          <p:cNvSpPr/>
          <p:nvPr/>
        </p:nvSpPr>
        <p:spPr>
          <a:xfrm>
            <a:off x="8001000" y="5166360"/>
            <a:ext cx="3291840" cy="594360"/>
          </a:xfrm>
          <a:prstGeom prst="roundRect">
            <a:avLst>
              <a:gd name="adj" fmla="val 46154"/>
            </a:avLst>
          </a:prstGeom>
          <a:solidFill>
            <a:schemeClr val="bg1"/>
          </a:solidFill>
          <a:ln w="9525">
            <a:solidFill>
              <a:srgbClr val="E3D6C0"/>
            </a:solidFill>
            <a:prstDash val="solid"/>
          </a:ln>
        </p:spPr>
      </p:sp>
      <p:sp>
        <p:nvSpPr>
          <p:cNvPr id="21" name="Text 16"/>
          <p:cNvSpPr txBox="1"/>
          <p:nvPr/>
        </p:nvSpPr>
        <p:spPr>
          <a:xfrm>
            <a:off x="8229600" y="5166360"/>
            <a:ext cx="2834640" cy="594360"/>
          </a:xfrm>
          <a:prstGeom prst="rect">
            <a:avLst/>
          </a:prstGeom>
          <a:noFill/>
          <a:ln/>
        </p:spPr>
        <p:txBody>
          <a:bodyPr wrap="square" lIns="0" tIns="0" rIns="0" bIns="0" rtlCol="0" anchor="ctr"/>
          <a:lstStyle/>
          <a:p>
            <a:pPr indent="0" marL="0">
              <a:buNone/>
            </a:pPr>
            <a:r>
              <a:rPr lang="en-US" sz="1500" dirty="0">
                <a:solidFill>
                  <a:schemeClr val="tx1"/>
                </a:solidFill>
              </a:rPr>
              <a:t>Shared kitchens</a:t>
            </a:r>
            <a:endParaRPr lang="en-US" sz="1500" dirty="0"/>
          </a:p>
        </p:txBody>
      </p:sp>
      <p:sp>
        <p:nvSpPr>
          <p:cNvPr id="25" name="Slide Number Placeholder 0"/>
          <p:cNvSpPr>
            <a:spLocks noGrp="1"/>
          </p:cNvSpPr>
          <p:nvPr>
            <p:ph type="sldNum" sz="quarter" idx="4294967295"/>
          </p:nvPr>
        </p:nvSpPr>
        <p:spPr>
          <a:xfrm>
            <a:off x="1106424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5F"/>
                </a:solidFill>
                <a:latin typeface="JetBrains Mono"/>
                <a:ea typeface="JetBrains Mono"/>
                <a:cs typeface="JetBrains Mono"/>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685800" y="457200"/>
            <a:ext cx="10789920" cy="822960"/>
          </a:xfrm>
          <a:prstGeom prst="rect">
            <a:avLst/>
          </a:prstGeom>
          <a:noFill/>
          <a:ln/>
        </p:spPr>
        <p:txBody>
          <a:bodyPr wrap="square" lIns="0" tIns="0" rIns="0" bIns="0" rtlCol="0" anchor="t"/>
          <a:lstStyle/>
          <a:p>
            <a:pPr algn="l" indent="0" marL="0">
              <a:buNone/>
            </a:pPr>
            <a:r>
              <a:rPr lang="en-US" sz="3600" b="1" dirty="0">
                <a:solidFill>
                  <a:schemeClr val="tx1"/>
                </a:solidFill>
                <a:latin typeface="Space Grotesk" pitchFamily="34" charset="0"/>
                <a:ea typeface="Space Grotesk" pitchFamily="34" charset="-122"/>
                <a:cs typeface="Space Grotesk" pitchFamily="34" charset="-120"/>
              </a:rPr>
              <a:t>What each one knows</a:t>
            </a:r>
            <a:endParaRPr lang="en-US" sz="3600" dirty="0"/>
          </a:p>
        </p:txBody>
      </p:sp>
      <p:graphicFrame>
        <p:nvGraphicFramePr>
          <p:cNvPr id="9" name="Positioning table"/>
          <p:cNvGraphicFramePr>
            <a:graphicFrameLocks noGrp="1"/>
          </p:cNvGraphicFramePr>
          <p:nvPr>
            <p:extLst>
              <p:ext uri="{D42A27DB-BD31-4B8C-83A1-F6EECF244321}">
                <p14:modId xmlns:p14="http://schemas.microsoft.com/office/powerpoint/2010/main" val="1579011935"/>
              </p:ext>
            </p:extLst>
          </p:nvPr>
        </p:nvGraphicFramePr>
        <p:xfrm>
          <a:off x="685800" y="1463040"/>
          <a:ext cx="10789920" cy="914400"/>
        </p:xfrm>
        <a:graphic>
          <a:graphicData uri="http://schemas.openxmlformats.org/drawingml/2006/table">
            <a:tbl>
              <a:tblPr/>
              <a:tblGrid>
                <a:gridCol w="2011680"/>
                <a:gridCol w="1920240"/>
                <a:gridCol w="3108960"/>
                <a:gridCol w="3749040"/>
              </a:tblGrid>
              <a:tr h="411480">
                <a:tc>
                  <a:txBody>
                    <a:bodyPr/>
                    <a:lstStyle/>
                    <a:p>
                      <a:pPr indent="0" marL="0">
                        <a:buNone/>
                      </a:pPr>
                      <a:r>
                        <a:rPr lang="en-US" sz="1200" b="1" dirty="0">
                          <a:solidFill>
                            <a:srgbClr val="5B6B5F"/>
                          </a:solidFill>
                          <a:latin typeface="Inter" pitchFamily="34" charset="0"/>
                          <a:ea typeface="Inter" pitchFamily="34" charset="-122"/>
                          <a:cs typeface="Inter" pitchFamily="34" charset="-120"/>
                        </a:rPr>
                        <a:t>Product</a:t>
                      </a:r>
                      <a:endParaRPr lang="en-US" sz="1200" dirty="0">
                        <a:latin typeface="Inter" charset="0"/>
                        <a:ea typeface="Inter" charset="0"/>
                        <a:cs typeface="Inter" charset="0"/>
                      </a:endParaRPr>
                    </a:p>
                  </a:txBody>
                  <a:tcPr marL="137160" marR="137160" marT="73152" marB="73152" anchor="ctr">
                    <a:lnL w="9525" cap="flat" cmpd="sng" algn="ctr">
                      <a:solidFill>
                        <a:srgbClr val="E3D6C0"/>
                      </a:solidFill>
                      <a:prstDash val="solid"/>
                      <a:round/>
                      <a:headEnd type="none" w="med" len="med"/>
                      <a:tailEnd type="none" w="med" len="med"/>
                    </a:lnL>
                    <a:lnR w="9525" cap="flat" cmpd="sng" algn="ctr">
                      <a:solidFill>
                        <a:srgbClr val="E3D6C0"/>
                      </a:solidFill>
                      <a:prstDash val="solid"/>
                      <a:round/>
                      <a:headEnd type="none" w="med" len="med"/>
                      <a:tailEnd type="none" w="med" len="med"/>
                    </a:lnR>
                    <a:lnT w="9525" cap="flat" cmpd="sng" algn="ctr">
                      <a:solidFill>
                        <a:srgbClr val="E3D6C0"/>
                      </a:solidFill>
                      <a:prstDash val="solid"/>
                      <a:round/>
                      <a:headEnd type="none" w="med" len="med"/>
                      <a:tailEnd type="none" w="med" len="med"/>
                    </a:lnT>
                    <a:lnB w="9525" cap="flat" cmpd="sng" algn="ctr">
                      <a:solidFill>
                        <a:srgbClr val="E3D6C0"/>
                      </a:solidFill>
                      <a:prstDash val="solid"/>
                      <a:round/>
                      <a:headEnd type="none" w="med" len="med"/>
                      <a:tailEnd type="none" w="med" len="med"/>
                    </a:lnB>
                    <a:solidFill>
                      <a:srgbClr val="F3EBDD"/>
                    </a:solidFill>
                  </a:tcPr>
                </a:tc>
                <a:tc>
                  <a:txBody>
                    <a:bodyPr/>
                    <a:lstStyle/>
                    <a:p>
                      <a:pPr indent="0" marL="0">
                        <a:buNone/>
                      </a:pPr>
                      <a:r>
                        <a:rPr lang="en-US" sz="1200" b="1" dirty="0">
                          <a:solidFill>
                            <a:srgbClr val="5B6B5F"/>
                          </a:solidFill>
                          <a:latin typeface="Inter" pitchFamily="34" charset="0"/>
                          <a:ea typeface="Inter" pitchFamily="34" charset="-122"/>
                          <a:cs typeface="Inter" pitchFamily="34" charset="-120"/>
                        </a:rPr>
                        <a:t>Category</a:t>
                      </a:r>
                      <a:endParaRPr lang="en-US" sz="1200" dirty="0">
                        <a:latin typeface="Inter" charset="0"/>
                        <a:ea typeface="Inter" charset="0"/>
                        <a:cs typeface="Inter" charset="0"/>
                      </a:endParaRPr>
                    </a:p>
                  </a:txBody>
                  <a:tcPr marL="137160" marR="137160" marT="73152" marB="73152" anchor="ctr">
                    <a:lnL w="9525" cap="flat" cmpd="sng" algn="ctr">
                      <a:solidFill>
                        <a:srgbClr val="E3D6C0"/>
                      </a:solidFill>
                      <a:prstDash val="solid"/>
                      <a:round/>
                      <a:headEnd type="none" w="med" len="med"/>
                      <a:tailEnd type="none" w="med" len="med"/>
                    </a:lnL>
                    <a:lnR w="9525" cap="flat" cmpd="sng" algn="ctr">
                      <a:solidFill>
                        <a:srgbClr val="E3D6C0"/>
                      </a:solidFill>
                      <a:prstDash val="solid"/>
                      <a:round/>
                      <a:headEnd type="none" w="med" len="med"/>
                      <a:tailEnd type="none" w="med" len="med"/>
                    </a:lnR>
                    <a:lnT w="9525" cap="flat" cmpd="sng" algn="ctr">
                      <a:solidFill>
                        <a:srgbClr val="E3D6C0"/>
                      </a:solidFill>
                      <a:prstDash val="solid"/>
                      <a:round/>
                      <a:headEnd type="none" w="med" len="med"/>
                      <a:tailEnd type="none" w="med" len="med"/>
                    </a:lnT>
                    <a:lnB w="9525" cap="flat" cmpd="sng" algn="ctr">
                      <a:solidFill>
                        <a:srgbClr val="E3D6C0"/>
                      </a:solidFill>
                      <a:prstDash val="solid"/>
                      <a:round/>
                      <a:headEnd type="none" w="med" len="med"/>
                      <a:tailEnd type="none" w="med" len="med"/>
                    </a:lnB>
                    <a:solidFill>
                      <a:srgbClr val="F3EBDD"/>
                    </a:solidFill>
                  </a:tcPr>
                </a:tc>
                <a:tc>
                  <a:txBody>
                    <a:bodyPr/>
                    <a:lstStyle/>
                    <a:p>
                      <a:pPr indent="0" marL="0">
                        <a:buNone/>
                      </a:pPr>
                      <a:r>
                        <a:rPr lang="en-US" sz="1200" b="1" dirty="0">
                          <a:solidFill>
                            <a:srgbClr val="5B6B5F"/>
                          </a:solidFill>
                          <a:latin typeface="Inter" pitchFamily="34" charset="0"/>
                          <a:ea typeface="Inter" pitchFamily="34" charset="-122"/>
                          <a:cs typeface="Inter" pitchFamily="34" charset="-120"/>
                        </a:rPr>
                        <a:t>Price</a:t>
                      </a:r>
                      <a:endParaRPr lang="en-US" sz="1200" dirty="0">
                        <a:latin typeface="Inter" charset="0"/>
                        <a:ea typeface="Inter" charset="0"/>
                        <a:cs typeface="Inter" charset="0"/>
                      </a:endParaRPr>
                    </a:p>
                  </a:txBody>
                  <a:tcPr marL="137160" marR="137160" marT="73152" marB="73152" anchor="ctr">
                    <a:lnL w="9525" cap="flat" cmpd="sng" algn="ctr">
                      <a:solidFill>
                        <a:srgbClr val="E3D6C0"/>
                      </a:solidFill>
                      <a:prstDash val="solid"/>
                      <a:round/>
                      <a:headEnd type="none" w="med" len="med"/>
                      <a:tailEnd type="none" w="med" len="med"/>
                    </a:lnL>
                    <a:lnR w="9525" cap="flat" cmpd="sng" algn="ctr">
                      <a:solidFill>
                        <a:srgbClr val="E3D6C0"/>
                      </a:solidFill>
                      <a:prstDash val="solid"/>
                      <a:round/>
                      <a:headEnd type="none" w="med" len="med"/>
                      <a:tailEnd type="none" w="med" len="med"/>
                    </a:lnR>
                    <a:lnT w="9525" cap="flat" cmpd="sng" algn="ctr">
                      <a:solidFill>
                        <a:srgbClr val="E3D6C0"/>
                      </a:solidFill>
                      <a:prstDash val="solid"/>
                      <a:round/>
                      <a:headEnd type="none" w="med" len="med"/>
                      <a:tailEnd type="none" w="med" len="med"/>
                    </a:lnT>
                    <a:lnB w="9525" cap="flat" cmpd="sng" algn="ctr">
                      <a:solidFill>
                        <a:srgbClr val="E3D6C0"/>
                      </a:solidFill>
                      <a:prstDash val="solid"/>
                      <a:round/>
                      <a:headEnd type="none" w="med" len="med"/>
                      <a:tailEnd type="none" w="med" len="med"/>
                    </a:lnB>
                    <a:solidFill>
                      <a:srgbClr val="F3EBDD"/>
                    </a:solidFill>
                  </a:tcPr>
                </a:tc>
                <a:tc>
                  <a:txBody>
                    <a:bodyPr/>
                    <a:lstStyle/>
                    <a:p>
                      <a:pPr indent="0" marL="0">
                        <a:buNone/>
                      </a:pPr>
                      <a:r>
                        <a:rPr lang="en-US" sz="1200" b="1" dirty="0">
                          <a:solidFill>
                            <a:srgbClr val="5B6B5F"/>
                          </a:solidFill>
                          <a:latin typeface="Inter" pitchFamily="34" charset="0"/>
                          <a:ea typeface="Inter" pitchFamily="34" charset="-122"/>
                          <a:cs typeface="Inter" pitchFamily="34" charset="-120"/>
                        </a:rPr>
                        <a:t>What it knows</a:t>
                      </a:r>
                      <a:endParaRPr lang="en-US" sz="1200" dirty="0">
                        <a:latin typeface="Inter" charset="0"/>
                        <a:ea typeface="Inter" charset="0"/>
                        <a:cs typeface="Inter" charset="0"/>
                      </a:endParaRPr>
                    </a:p>
                  </a:txBody>
                  <a:tcPr marL="137160" marR="137160" marT="73152" marB="73152" anchor="ctr">
                    <a:lnL w="9525" cap="flat" cmpd="sng" algn="ctr">
                      <a:solidFill>
                        <a:srgbClr val="E3D6C0"/>
                      </a:solidFill>
                      <a:prstDash val="solid"/>
                      <a:round/>
                      <a:headEnd type="none" w="med" len="med"/>
                      <a:tailEnd type="none" w="med" len="med"/>
                    </a:lnL>
                    <a:lnR w="9525" cap="flat" cmpd="sng" algn="ctr">
                      <a:solidFill>
                        <a:srgbClr val="E3D6C0"/>
                      </a:solidFill>
                      <a:prstDash val="solid"/>
                      <a:round/>
                      <a:headEnd type="none" w="med" len="med"/>
                      <a:tailEnd type="none" w="med" len="med"/>
                    </a:lnR>
                    <a:lnT w="9525" cap="flat" cmpd="sng" algn="ctr">
                      <a:solidFill>
                        <a:srgbClr val="E3D6C0"/>
                      </a:solidFill>
                      <a:prstDash val="solid"/>
                      <a:round/>
                      <a:headEnd type="none" w="med" len="med"/>
                      <a:tailEnd type="none" w="med" len="med"/>
                    </a:lnT>
                    <a:lnB w="9525" cap="flat" cmpd="sng" algn="ctr">
                      <a:solidFill>
                        <a:srgbClr val="E3D6C0"/>
                      </a:solidFill>
                      <a:prstDash val="solid"/>
                      <a:round/>
                      <a:headEnd type="none" w="med" len="med"/>
                      <a:tailEnd type="none" w="med" len="med"/>
                    </a:lnB>
                    <a:solidFill>
                      <a:srgbClr val="F3EBDD"/>
                    </a:solidFill>
                  </a:tcPr>
                </a:tc>
              </a:tr>
              <a:tr h="566928">
                <a:tc>
                  <a:txBody>
                    <a:bodyPr/>
                    <a:lstStyle/>
                    <a:p>
                      <a:pPr indent="0" marL="0">
                        <a:buNone/>
                      </a:pPr>
                      <a:r>
                        <a:rPr lang="en-US" sz="1400" b="1" dirty="0">
                          <a:solidFill>
                            <a:srgbClr val="1F3D2B"/>
                          </a:solidFill>
                          <a:latin typeface="Space Grotesk" pitchFamily="34" charset="0"/>
                          <a:ea typeface="Space Grotesk" pitchFamily="34" charset="-122"/>
                          <a:cs typeface="Space Grotesk" pitchFamily="34" charset="-120"/>
                        </a:rPr>
                        <a:t>Skedda</a:t>
                      </a:r>
                      <a:endParaRPr lang="en-US" sz="1400" dirty="0">
                        <a:latin typeface="Space Grotesk" charset="0"/>
                        <a:ea typeface="Space Grotesk" charset="0"/>
                        <a:cs typeface="Space Grotesk" charset="0"/>
                      </a:endParaRPr>
                    </a:p>
                  </a:txBody>
                  <a:tcPr marL="137160" marR="137160" marT="73152" marB="73152" anchor="ctr">
                    <a:lnL w="9525" cap="flat" cmpd="sng" algn="ctr">
                      <a:solidFill>
                        <a:srgbClr val="E3D6C0"/>
                      </a:solidFill>
                      <a:prstDash val="solid"/>
                      <a:round/>
                      <a:headEnd type="none" w="med" len="med"/>
                      <a:tailEnd type="none" w="med" len="med"/>
                    </a:lnL>
                    <a:lnR w="9525" cap="flat" cmpd="sng" algn="ctr">
                      <a:solidFill>
                        <a:srgbClr val="E3D6C0"/>
                      </a:solidFill>
                      <a:prstDash val="solid"/>
                      <a:round/>
                      <a:headEnd type="none" w="med" len="med"/>
                      <a:tailEnd type="none" w="med" len="med"/>
                    </a:lnR>
                    <a:lnT w="9525" cap="flat" cmpd="sng" algn="ctr">
                      <a:solidFill>
                        <a:srgbClr val="E3D6C0"/>
                      </a:solidFill>
                      <a:prstDash val="solid"/>
                      <a:round/>
                      <a:headEnd type="none" w="med" len="med"/>
                      <a:tailEnd type="none" w="med" len="med"/>
                    </a:lnT>
                    <a:lnB w="9525" cap="flat" cmpd="sng" algn="ctr">
                      <a:solidFill>
                        <a:srgbClr val="E3D6C0"/>
                      </a:solidFill>
                      <a:prstDash val="solid"/>
                      <a:round/>
                      <a:headEnd type="none" w="med" len="med"/>
                      <a:tailEnd type="none" w="med" len="med"/>
                    </a:lnB>
                    <a:solidFill>
                      <a:srgbClr val="FFFDF8"/>
                    </a:solidFill>
                  </a:tcPr>
                </a:tc>
                <a:tc>
                  <a:txBody>
                    <a:bodyPr/>
                    <a:lstStyle/>
                    <a:p>
                      <a:pPr indent="0" marL="0">
                        <a:buNone/>
                      </a:pPr>
                      <a:r>
                        <a:rPr lang="en-US" sz="1400" dirty="0">
                          <a:solidFill>
                            <a:srgbClr val="5B6B5F"/>
                          </a:solidFill>
                          <a:latin typeface="Inter" pitchFamily="34" charset="0"/>
                          <a:ea typeface="Inter" pitchFamily="34" charset="-122"/>
                          <a:cs typeface="Inter" pitchFamily="34" charset="-120"/>
                        </a:rPr>
                        <a:t>Booking</a:t>
                      </a:r>
                      <a:endParaRPr lang="en-US" sz="1400" dirty="0">
                        <a:latin typeface="Inter" charset="0"/>
                        <a:ea typeface="Inter" charset="0"/>
                        <a:cs typeface="Inter" charset="0"/>
                      </a:endParaRPr>
                    </a:p>
                  </a:txBody>
                  <a:tcPr marL="137160" marR="137160" marT="73152" marB="73152" anchor="ctr">
                    <a:lnL w="9525" cap="flat" cmpd="sng" algn="ctr">
                      <a:solidFill>
                        <a:srgbClr val="E3D6C0"/>
                      </a:solidFill>
                      <a:prstDash val="solid"/>
                      <a:round/>
                      <a:headEnd type="none" w="med" len="med"/>
                      <a:tailEnd type="none" w="med" len="med"/>
                    </a:lnL>
                    <a:lnR w="9525" cap="flat" cmpd="sng" algn="ctr">
                      <a:solidFill>
                        <a:srgbClr val="E3D6C0"/>
                      </a:solidFill>
                      <a:prstDash val="solid"/>
                      <a:round/>
                      <a:headEnd type="none" w="med" len="med"/>
                      <a:tailEnd type="none" w="med" len="med"/>
                    </a:lnR>
                    <a:lnT w="9525" cap="flat" cmpd="sng" algn="ctr">
                      <a:solidFill>
                        <a:srgbClr val="E3D6C0"/>
                      </a:solidFill>
                      <a:prstDash val="solid"/>
                      <a:round/>
                      <a:headEnd type="none" w="med" len="med"/>
                      <a:tailEnd type="none" w="med" len="med"/>
                    </a:lnT>
                    <a:lnB w="9525" cap="flat" cmpd="sng" algn="ctr">
                      <a:solidFill>
                        <a:srgbClr val="E3D6C0"/>
                      </a:solidFill>
                      <a:prstDash val="solid"/>
                      <a:round/>
                      <a:headEnd type="none" w="med" len="med"/>
                      <a:tailEnd type="none" w="med" len="med"/>
                    </a:lnB>
                    <a:solidFill>
                      <a:srgbClr val="FFFDF8"/>
                    </a:solidFill>
                  </a:tcPr>
                </a:tc>
                <a:tc>
                  <a:txBody>
                    <a:bodyPr/>
                    <a:lstStyle/>
                    <a:p>
                      <a:pPr indent="0" marL="0">
                        <a:buNone/>
                      </a:pPr>
                      <a:r>
                        <a:rPr lang="en-US" sz="1200" dirty="0">
                          <a:solidFill>
                            <a:srgbClr val="1F3D2B"/>
                          </a:solidFill>
                          <a:latin typeface="JetBrains Mono" pitchFamily="34" charset="0"/>
                          <a:ea typeface="JetBrains Mono" pitchFamily="34" charset="-122"/>
                          <a:cs typeface="JetBrains Mono" pitchFamily="34" charset="-120"/>
                        </a:rPr>
                        <a:t>US$249+ /mo</a:t>
                      </a:r>
                      <a:endParaRPr lang="en-US" sz="1200" dirty="0">
                        <a:latin typeface="JetBrains Mono" charset="0"/>
                        <a:ea typeface="JetBrains Mono" charset="0"/>
                        <a:cs typeface="JetBrains Mono" charset="0"/>
                      </a:endParaRPr>
                    </a:p>
                  </a:txBody>
                  <a:tcPr marL="137160" marR="137160" marT="73152" marB="73152" anchor="ctr">
                    <a:lnL w="9525" cap="flat" cmpd="sng" algn="ctr">
                      <a:solidFill>
                        <a:srgbClr val="E3D6C0"/>
                      </a:solidFill>
                      <a:prstDash val="solid"/>
                      <a:round/>
                      <a:headEnd type="none" w="med" len="med"/>
                      <a:tailEnd type="none" w="med" len="med"/>
                    </a:lnL>
                    <a:lnR w="9525" cap="flat" cmpd="sng" algn="ctr">
                      <a:solidFill>
                        <a:srgbClr val="E3D6C0"/>
                      </a:solidFill>
                      <a:prstDash val="solid"/>
                      <a:round/>
                      <a:headEnd type="none" w="med" len="med"/>
                      <a:tailEnd type="none" w="med" len="med"/>
                    </a:lnR>
                    <a:lnT w="9525" cap="flat" cmpd="sng" algn="ctr">
                      <a:solidFill>
                        <a:srgbClr val="E3D6C0"/>
                      </a:solidFill>
                      <a:prstDash val="solid"/>
                      <a:round/>
                      <a:headEnd type="none" w="med" len="med"/>
                      <a:tailEnd type="none" w="med" len="med"/>
                    </a:lnT>
                    <a:lnB w="9525" cap="flat" cmpd="sng" algn="ctr">
                      <a:solidFill>
                        <a:srgbClr val="E3D6C0"/>
                      </a:solidFill>
                      <a:prstDash val="solid"/>
                      <a:round/>
                      <a:headEnd type="none" w="med" len="med"/>
                      <a:tailEnd type="none" w="med" len="med"/>
                    </a:lnB>
                    <a:solidFill>
                      <a:srgbClr val="FFFDF8"/>
                    </a:solidFill>
                  </a:tcPr>
                </a:tc>
                <a:tc>
                  <a:txBody>
                    <a:bodyPr/>
                    <a:lstStyle/>
                    <a:p>
                      <a:pPr indent="0" marL="0">
                        <a:buNone/>
                      </a:pPr>
                      <a:r>
                        <a:rPr lang="en-US" sz="1400" dirty="0">
                          <a:solidFill>
                            <a:srgbClr val="1F3D2B"/>
                          </a:solidFill>
                          <a:latin typeface="Inter" pitchFamily="34" charset="0"/>
                          <a:ea typeface="Inter" pitchFamily="34" charset="-122"/>
                          <a:cs typeface="Inter" pitchFamily="34" charset="-120"/>
                        </a:rPr>
                        <a:t>Who booked</a:t>
                      </a:r>
                      <a:endParaRPr lang="en-US" sz="1400" dirty="0">
                        <a:latin typeface="Inter" charset="0"/>
                        <a:ea typeface="Inter" charset="0"/>
                        <a:cs typeface="Inter" charset="0"/>
                      </a:endParaRPr>
                    </a:p>
                  </a:txBody>
                  <a:tcPr marL="137160" marR="137160" marT="73152" marB="73152" anchor="ctr">
                    <a:lnL w="9525" cap="flat" cmpd="sng" algn="ctr">
                      <a:solidFill>
                        <a:srgbClr val="E3D6C0"/>
                      </a:solidFill>
                      <a:prstDash val="solid"/>
                      <a:round/>
                      <a:headEnd type="none" w="med" len="med"/>
                      <a:tailEnd type="none" w="med" len="med"/>
                    </a:lnL>
                    <a:lnR w="9525" cap="flat" cmpd="sng" algn="ctr">
                      <a:solidFill>
                        <a:srgbClr val="E3D6C0"/>
                      </a:solidFill>
                      <a:prstDash val="solid"/>
                      <a:round/>
                      <a:headEnd type="none" w="med" len="med"/>
                      <a:tailEnd type="none" w="med" len="med"/>
                    </a:lnR>
                    <a:lnT w="9525" cap="flat" cmpd="sng" algn="ctr">
                      <a:solidFill>
                        <a:srgbClr val="E3D6C0"/>
                      </a:solidFill>
                      <a:prstDash val="solid"/>
                      <a:round/>
                      <a:headEnd type="none" w="med" len="med"/>
                      <a:tailEnd type="none" w="med" len="med"/>
                    </a:lnT>
                    <a:lnB w="9525" cap="flat" cmpd="sng" algn="ctr">
                      <a:solidFill>
                        <a:srgbClr val="E3D6C0"/>
                      </a:solidFill>
                      <a:prstDash val="solid"/>
                      <a:round/>
                      <a:headEnd type="none" w="med" len="med"/>
                      <a:tailEnd type="none" w="med" len="med"/>
                    </a:lnB>
                    <a:solidFill>
                      <a:srgbClr val="FFFDF8"/>
                    </a:solidFill>
                  </a:tcPr>
                </a:tc>
              </a:tr>
              <a:tr h="566928">
                <a:tc>
                  <a:txBody>
                    <a:bodyPr/>
                    <a:lstStyle/>
                    <a:p>
                      <a:pPr indent="0" marL="0">
                        <a:buNone/>
                      </a:pPr>
                      <a:r>
                        <a:rPr lang="en-US" sz="1400" b="1" dirty="0">
                          <a:solidFill>
                            <a:srgbClr val="1F3D2B"/>
                          </a:solidFill>
                          <a:latin typeface="Space Grotesk" pitchFamily="34" charset="0"/>
                          <a:ea typeface="Space Grotesk" pitchFamily="34" charset="-122"/>
                          <a:cs typeface="Space Grotesk" pitchFamily="34" charset="-120"/>
                        </a:rPr>
                        <a:t>Fabman</a:t>
                      </a:r>
                      <a:endParaRPr lang="en-US" sz="1400" dirty="0">
                        <a:latin typeface="Space Grotesk" charset="0"/>
                        <a:ea typeface="Space Grotesk" charset="0"/>
                        <a:cs typeface="Space Grotesk" charset="0"/>
                      </a:endParaRPr>
                    </a:p>
                  </a:txBody>
                  <a:tcPr marL="137160" marR="137160" marT="73152" marB="73152" anchor="ctr">
                    <a:lnL w="9525" cap="flat" cmpd="sng" algn="ctr">
                      <a:solidFill>
                        <a:srgbClr val="E3D6C0"/>
                      </a:solidFill>
                      <a:prstDash val="solid"/>
                      <a:round/>
                      <a:headEnd type="none" w="med" len="med"/>
                      <a:tailEnd type="none" w="med" len="med"/>
                    </a:lnL>
                    <a:lnR w="9525" cap="flat" cmpd="sng" algn="ctr">
                      <a:solidFill>
                        <a:srgbClr val="E3D6C0"/>
                      </a:solidFill>
                      <a:prstDash val="solid"/>
                      <a:round/>
                      <a:headEnd type="none" w="med" len="med"/>
                      <a:tailEnd type="none" w="med" len="med"/>
                    </a:lnR>
                    <a:lnT w="9525" cap="flat" cmpd="sng" algn="ctr">
                      <a:solidFill>
                        <a:srgbClr val="E3D6C0"/>
                      </a:solidFill>
                      <a:prstDash val="solid"/>
                      <a:round/>
                      <a:headEnd type="none" w="med" len="med"/>
                      <a:tailEnd type="none" w="med" len="med"/>
                    </a:lnT>
                    <a:lnB w="9525" cap="flat" cmpd="sng" algn="ctr">
                      <a:solidFill>
                        <a:srgbClr val="E3D6C0"/>
                      </a:solidFill>
                      <a:prstDash val="solid"/>
                      <a:round/>
                      <a:headEnd type="none" w="med" len="med"/>
                      <a:tailEnd type="none" w="med" len="med"/>
                    </a:lnB>
                    <a:solidFill>
                      <a:srgbClr val="FFFDF8"/>
                    </a:solidFill>
                  </a:tcPr>
                </a:tc>
                <a:tc>
                  <a:txBody>
                    <a:bodyPr/>
                    <a:lstStyle/>
                    <a:p>
                      <a:pPr indent="0" marL="0">
                        <a:buNone/>
                      </a:pPr>
                      <a:r>
                        <a:rPr lang="en-US" sz="1400" dirty="0">
                          <a:solidFill>
                            <a:srgbClr val="5B6B5F"/>
                          </a:solidFill>
                          <a:latin typeface="Inter" pitchFamily="34" charset="0"/>
                          <a:ea typeface="Inter" pitchFamily="34" charset="-122"/>
                          <a:cs typeface="Inter" pitchFamily="34" charset="-120"/>
                        </a:rPr>
                        <a:t>Machine access</a:t>
                      </a:r>
                      <a:endParaRPr lang="en-US" sz="1400" dirty="0">
                        <a:latin typeface="Inter" charset="0"/>
                        <a:ea typeface="Inter" charset="0"/>
                        <a:cs typeface="Inter" charset="0"/>
                      </a:endParaRPr>
                    </a:p>
                  </a:txBody>
                  <a:tcPr marL="137160" marR="137160" marT="73152" marB="73152" anchor="ctr">
                    <a:lnL w="9525" cap="flat" cmpd="sng" algn="ctr">
                      <a:solidFill>
                        <a:srgbClr val="E3D6C0"/>
                      </a:solidFill>
                      <a:prstDash val="solid"/>
                      <a:round/>
                      <a:headEnd type="none" w="med" len="med"/>
                      <a:tailEnd type="none" w="med" len="med"/>
                    </a:lnL>
                    <a:lnR w="9525" cap="flat" cmpd="sng" algn="ctr">
                      <a:solidFill>
                        <a:srgbClr val="E3D6C0"/>
                      </a:solidFill>
                      <a:prstDash val="solid"/>
                      <a:round/>
                      <a:headEnd type="none" w="med" len="med"/>
                      <a:tailEnd type="none" w="med" len="med"/>
                    </a:lnR>
                    <a:lnT w="9525" cap="flat" cmpd="sng" algn="ctr">
                      <a:solidFill>
                        <a:srgbClr val="E3D6C0"/>
                      </a:solidFill>
                      <a:prstDash val="solid"/>
                      <a:round/>
                      <a:headEnd type="none" w="med" len="med"/>
                      <a:tailEnd type="none" w="med" len="med"/>
                    </a:lnT>
                    <a:lnB w="9525" cap="flat" cmpd="sng" algn="ctr">
                      <a:solidFill>
                        <a:srgbClr val="E3D6C0"/>
                      </a:solidFill>
                      <a:prstDash val="solid"/>
                      <a:round/>
                      <a:headEnd type="none" w="med" len="med"/>
                      <a:tailEnd type="none" w="med" len="med"/>
                    </a:lnB>
                    <a:solidFill>
                      <a:srgbClr val="FFFDF8"/>
                    </a:solidFill>
                  </a:tcPr>
                </a:tc>
                <a:tc>
                  <a:txBody>
                    <a:bodyPr/>
                    <a:lstStyle/>
                    <a:p>
                      <a:pPr indent="0" marL="0">
                        <a:buNone/>
                      </a:pPr>
                      <a:r>
                        <a:rPr lang="en-US" sz="1200" dirty="0">
                          <a:solidFill>
                            <a:srgbClr val="1F3D2B"/>
                          </a:solidFill>
                          <a:latin typeface="JetBrains Mono" pitchFamily="34" charset="0"/>
                          <a:ea typeface="JetBrains Mono" pitchFamily="34" charset="-122"/>
                          <a:cs typeface="JetBrains Mono" pitchFamily="34" charset="-120"/>
                        </a:rPr>
                        <a:t>€49 to €199 /mo + €10 to €14 per machine</a:t>
                      </a:r>
                      <a:endParaRPr lang="en-US" sz="1200" dirty="0">
                        <a:latin typeface="JetBrains Mono" charset="0"/>
                        <a:ea typeface="JetBrains Mono" charset="0"/>
                        <a:cs typeface="JetBrains Mono" charset="0"/>
                      </a:endParaRPr>
                    </a:p>
                  </a:txBody>
                  <a:tcPr marL="137160" marR="137160" marT="73152" marB="73152" anchor="ctr">
                    <a:lnL w="9525" cap="flat" cmpd="sng" algn="ctr">
                      <a:solidFill>
                        <a:srgbClr val="E3D6C0"/>
                      </a:solidFill>
                      <a:prstDash val="solid"/>
                      <a:round/>
                      <a:headEnd type="none" w="med" len="med"/>
                      <a:tailEnd type="none" w="med" len="med"/>
                    </a:lnL>
                    <a:lnR w="9525" cap="flat" cmpd="sng" algn="ctr">
                      <a:solidFill>
                        <a:srgbClr val="E3D6C0"/>
                      </a:solidFill>
                      <a:prstDash val="solid"/>
                      <a:round/>
                      <a:headEnd type="none" w="med" len="med"/>
                      <a:tailEnd type="none" w="med" len="med"/>
                    </a:lnR>
                    <a:lnT w="9525" cap="flat" cmpd="sng" algn="ctr">
                      <a:solidFill>
                        <a:srgbClr val="E3D6C0"/>
                      </a:solidFill>
                      <a:prstDash val="solid"/>
                      <a:round/>
                      <a:headEnd type="none" w="med" len="med"/>
                      <a:tailEnd type="none" w="med" len="med"/>
                    </a:lnT>
                    <a:lnB w="9525" cap="flat" cmpd="sng" algn="ctr">
                      <a:solidFill>
                        <a:srgbClr val="E3D6C0"/>
                      </a:solidFill>
                      <a:prstDash val="solid"/>
                      <a:round/>
                      <a:headEnd type="none" w="med" len="med"/>
                      <a:tailEnd type="none" w="med" len="med"/>
                    </a:lnB>
                    <a:solidFill>
                      <a:srgbClr val="FFFDF8"/>
                    </a:solidFill>
                  </a:tcPr>
                </a:tc>
                <a:tc>
                  <a:txBody>
                    <a:bodyPr/>
                    <a:lstStyle/>
                    <a:p>
                      <a:pPr indent="0" marL="0">
                        <a:buNone/>
                      </a:pPr>
                      <a:r>
                        <a:rPr lang="en-US" sz="1400" dirty="0">
                          <a:solidFill>
                            <a:srgbClr val="1F3D2B"/>
                          </a:solidFill>
                          <a:latin typeface="Inter" pitchFamily="34" charset="0"/>
                          <a:ea typeface="Inter" pitchFamily="34" charset="-122"/>
                          <a:cs typeface="Inter" pitchFamily="34" charset="-120"/>
                        </a:rPr>
                        <a:t>Who switched it on</a:t>
                      </a:r>
                      <a:endParaRPr lang="en-US" sz="1400" dirty="0">
                        <a:latin typeface="Inter" charset="0"/>
                        <a:ea typeface="Inter" charset="0"/>
                        <a:cs typeface="Inter" charset="0"/>
                      </a:endParaRPr>
                    </a:p>
                  </a:txBody>
                  <a:tcPr marL="137160" marR="137160" marT="73152" marB="73152" anchor="ctr">
                    <a:lnL w="9525" cap="flat" cmpd="sng" algn="ctr">
                      <a:solidFill>
                        <a:srgbClr val="E3D6C0"/>
                      </a:solidFill>
                      <a:prstDash val="solid"/>
                      <a:round/>
                      <a:headEnd type="none" w="med" len="med"/>
                      <a:tailEnd type="none" w="med" len="med"/>
                    </a:lnL>
                    <a:lnR w="9525" cap="flat" cmpd="sng" algn="ctr">
                      <a:solidFill>
                        <a:srgbClr val="E3D6C0"/>
                      </a:solidFill>
                      <a:prstDash val="solid"/>
                      <a:round/>
                      <a:headEnd type="none" w="med" len="med"/>
                      <a:tailEnd type="none" w="med" len="med"/>
                    </a:lnR>
                    <a:lnT w="9525" cap="flat" cmpd="sng" algn="ctr">
                      <a:solidFill>
                        <a:srgbClr val="E3D6C0"/>
                      </a:solidFill>
                      <a:prstDash val="solid"/>
                      <a:round/>
                      <a:headEnd type="none" w="med" len="med"/>
                      <a:tailEnd type="none" w="med" len="med"/>
                    </a:lnT>
                    <a:lnB w="9525" cap="flat" cmpd="sng" algn="ctr">
                      <a:solidFill>
                        <a:srgbClr val="E3D6C0"/>
                      </a:solidFill>
                      <a:prstDash val="solid"/>
                      <a:round/>
                      <a:headEnd type="none" w="med" len="med"/>
                      <a:tailEnd type="none" w="med" len="med"/>
                    </a:lnB>
                    <a:solidFill>
                      <a:srgbClr val="FFFDF8"/>
                    </a:solidFill>
                  </a:tcPr>
                </a:tc>
              </a:tr>
              <a:tr h="566928">
                <a:tc>
                  <a:txBody>
                    <a:bodyPr/>
                    <a:lstStyle/>
                    <a:p>
                      <a:pPr indent="0" marL="0">
                        <a:buNone/>
                      </a:pPr>
                      <a:r>
                        <a:rPr lang="en-US" sz="1400" b="1" dirty="0">
                          <a:solidFill>
                            <a:srgbClr val="1F3D2B"/>
                          </a:solidFill>
                          <a:latin typeface="Space Grotesk" pitchFamily="34" charset="0"/>
                          <a:ea typeface="Space Grotesk" pitchFamily="34" charset="-122"/>
                          <a:cs typeface="Space Grotesk" pitchFamily="34" charset="-120"/>
                        </a:rPr>
                        <a:t>Emporia</a:t>
                      </a:r>
                      <a:endParaRPr lang="en-US" sz="1400" dirty="0">
                        <a:latin typeface="Space Grotesk" charset="0"/>
                        <a:ea typeface="Space Grotesk" charset="0"/>
                        <a:cs typeface="Space Grotesk" charset="0"/>
                      </a:endParaRPr>
                    </a:p>
                  </a:txBody>
                  <a:tcPr marL="137160" marR="137160" marT="73152" marB="73152" anchor="ctr">
                    <a:lnL w="9525" cap="flat" cmpd="sng" algn="ctr">
                      <a:solidFill>
                        <a:srgbClr val="E3D6C0"/>
                      </a:solidFill>
                      <a:prstDash val="solid"/>
                      <a:round/>
                      <a:headEnd type="none" w="med" len="med"/>
                      <a:tailEnd type="none" w="med" len="med"/>
                    </a:lnL>
                    <a:lnR w="9525" cap="flat" cmpd="sng" algn="ctr">
                      <a:solidFill>
                        <a:srgbClr val="E3D6C0"/>
                      </a:solidFill>
                      <a:prstDash val="solid"/>
                      <a:round/>
                      <a:headEnd type="none" w="med" len="med"/>
                      <a:tailEnd type="none" w="med" len="med"/>
                    </a:lnR>
                    <a:lnT w="9525" cap="flat" cmpd="sng" algn="ctr">
                      <a:solidFill>
                        <a:srgbClr val="E3D6C0"/>
                      </a:solidFill>
                      <a:prstDash val="solid"/>
                      <a:round/>
                      <a:headEnd type="none" w="med" len="med"/>
                      <a:tailEnd type="none" w="med" len="med"/>
                    </a:lnT>
                    <a:lnB w="9525" cap="flat" cmpd="sng" algn="ctr">
                      <a:solidFill>
                        <a:srgbClr val="E3D6C0"/>
                      </a:solidFill>
                      <a:prstDash val="solid"/>
                      <a:round/>
                      <a:headEnd type="none" w="med" len="med"/>
                      <a:tailEnd type="none" w="med" len="med"/>
                    </a:lnB>
                    <a:solidFill>
                      <a:srgbClr val="FFFDF8"/>
                    </a:solidFill>
                  </a:tcPr>
                </a:tc>
                <a:tc>
                  <a:txBody>
                    <a:bodyPr/>
                    <a:lstStyle/>
                    <a:p>
                      <a:pPr indent="0" marL="0">
                        <a:buNone/>
                      </a:pPr>
                      <a:r>
                        <a:rPr lang="en-US" sz="1400" dirty="0">
                          <a:solidFill>
                            <a:srgbClr val="5B6B5F"/>
                          </a:solidFill>
                          <a:latin typeface="Inter" pitchFamily="34" charset="0"/>
                          <a:ea typeface="Inter" pitchFamily="34" charset="-122"/>
                          <a:cs typeface="Inter" pitchFamily="34" charset="-120"/>
                        </a:rPr>
                        <a:t>Energy monitor</a:t>
                      </a:r>
                      <a:endParaRPr lang="en-US" sz="1400" dirty="0">
                        <a:latin typeface="Inter" charset="0"/>
                        <a:ea typeface="Inter" charset="0"/>
                        <a:cs typeface="Inter" charset="0"/>
                      </a:endParaRPr>
                    </a:p>
                  </a:txBody>
                  <a:tcPr marL="137160" marR="137160" marT="73152" marB="73152" anchor="ctr">
                    <a:lnL w="9525" cap="flat" cmpd="sng" algn="ctr">
                      <a:solidFill>
                        <a:srgbClr val="E3D6C0"/>
                      </a:solidFill>
                      <a:prstDash val="solid"/>
                      <a:round/>
                      <a:headEnd type="none" w="med" len="med"/>
                      <a:tailEnd type="none" w="med" len="med"/>
                    </a:lnL>
                    <a:lnR w="9525" cap="flat" cmpd="sng" algn="ctr">
                      <a:solidFill>
                        <a:srgbClr val="E3D6C0"/>
                      </a:solidFill>
                      <a:prstDash val="solid"/>
                      <a:round/>
                      <a:headEnd type="none" w="med" len="med"/>
                      <a:tailEnd type="none" w="med" len="med"/>
                    </a:lnR>
                    <a:lnT w="9525" cap="flat" cmpd="sng" algn="ctr">
                      <a:solidFill>
                        <a:srgbClr val="E3D6C0"/>
                      </a:solidFill>
                      <a:prstDash val="solid"/>
                      <a:round/>
                      <a:headEnd type="none" w="med" len="med"/>
                      <a:tailEnd type="none" w="med" len="med"/>
                    </a:lnT>
                    <a:lnB w="9525" cap="flat" cmpd="sng" algn="ctr">
                      <a:solidFill>
                        <a:srgbClr val="E3D6C0"/>
                      </a:solidFill>
                      <a:prstDash val="solid"/>
                      <a:round/>
                      <a:headEnd type="none" w="med" len="med"/>
                      <a:tailEnd type="none" w="med" len="med"/>
                    </a:lnB>
                    <a:solidFill>
                      <a:srgbClr val="FFFDF8"/>
                    </a:solidFill>
                  </a:tcPr>
                </a:tc>
                <a:tc>
                  <a:txBody>
                    <a:bodyPr/>
                    <a:lstStyle/>
                    <a:p>
                      <a:pPr indent="0" marL="0">
                        <a:buNone/>
                      </a:pPr>
                      <a:r>
                        <a:rPr lang="en-US" sz="1200" dirty="0">
                          <a:solidFill>
                            <a:srgbClr val="1F3D2B"/>
                          </a:solidFill>
                          <a:latin typeface="JetBrains Mono" pitchFamily="34" charset="0"/>
                          <a:ea typeface="JetBrains Mono" pitchFamily="34" charset="-122"/>
                          <a:cs typeface="JetBrains Mono" pitchFamily="34" charset="-120"/>
                        </a:rPr>
                        <a:t>~US$200</a:t>
                      </a:r>
                      <a:endParaRPr lang="en-US" sz="1200" dirty="0">
                        <a:latin typeface="JetBrains Mono" charset="0"/>
                        <a:ea typeface="JetBrains Mono" charset="0"/>
                        <a:cs typeface="JetBrains Mono" charset="0"/>
                      </a:endParaRPr>
                    </a:p>
                  </a:txBody>
                  <a:tcPr marL="137160" marR="137160" marT="73152" marB="73152" anchor="ctr">
                    <a:lnL w="9525" cap="flat" cmpd="sng" algn="ctr">
                      <a:solidFill>
                        <a:srgbClr val="E3D6C0"/>
                      </a:solidFill>
                      <a:prstDash val="solid"/>
                      <a:round/>
                      <a:headEnd type="none" w="med" len="med"/>
                      <a:tailEnd type="none" w="med" len="med"/>
                    </a:lnL>
                    <a:lnR w="9525" cap="flat" cmpd="sng" algn="ctr">
                      <a:solidFill>
                        <a:srgbClr val="E3D6C0"/>
                      </a:solidFill>
                      <a:prstDash val="solid"/>
                      <a:round/>
                      <a:headEnd type="none" w="med" len="med"/>
                      <a:tailEnd type="none" w="med" len="med"/>
                    </a:lnR>
                    <a:lnT w="9525" cap="flat" cmpd="sng" algn="ctr">
                      <a:solidFill>
                        <a:srgbClr val="E3D6C0"/>
                      </a:solidFill>
                      <a:prstDash val="solid"/>
                      <a:round/>
                      <a:headEnd type="none" w="med" len="med"/>
                      <a:tailEnd type="none" w="med" len="med"/>
                    </a:lnT>
                    <a:lnB w="9525" cap="flat" cmpd="sng" algn="ctr">
                      <a:solidFill>
                        <a:srgbClr val="E3D6C0"/>
                      </a:solidFill>
                      <a:prstDash val="solid"/>
                      <a:round/>
                      <a:headEnd type="none" w="med" len="med"/>
                      <a:tailEnd type="none" w="med" len="med"/>
                    </a:lnB>
                    <a:solidFill>
                      <a:srgbClr val="FFFDF8"/>
                    </a:solidFill>
                  </a:tcPr>
                </a:tc>
                <a:tc>
                  <a:txBody>
                    <a:bodyPr/>
                    <a:lstStyle/>
                    <a:p>
                      <a:pPr indent="0" marL="0">
                        <a:buNone/>
                      </a:pPr>
                      <a:r>
                        <a:rPr lang="en-US" sz="1400" dirty="0">
                          <a:solidFill>
                            <a:srgbClr val="1F3D2B"/>
                          </a:solidFill>
                          <a:latin typeface="Inter" pitchFamily="34" charset="0"/>
                          <a:ea typeface="Inter" pitchFamily="34" charset="-122"/>
                          <a:cs typeface="Inter" pitchFamily="34" charset="-120"/>
                        </a:rPr>
                        <a:t>How much energy</a:t>
                      </a:r>
                      <a:endParaRPr lang="en-US" sz="1400" dirty="0">
                        <a:latin typeface="Inter" charset="0"/>
                        <a:ea typeface="Inter" charset="0"/>
                        <a:cs typeface="Inter" charset="0"/>
                      </a:endParaRPr>
                    </a:p>
                  </a:txBody>
                  <a:tcPr marL="137160" marR="137160" marT="73152" marB="73152" anchor="ctr">
                    <a:lnL w="9525" cap="flat" cmpd="sng" algn="ctr">
                      <a:solidFill>
                        <a:srgbClr val="E3D6C0"/>
                      </a:solidFill>
                      <a:prstDash val="solid"/>
                      <a:round/>
                      <a:headEnd type="none" w="med" len="med"/>
                      <a:tailEnd type="none" w="med" len="med"/>
                    </a:lnL>
                    <a:lnR w="9525" cap="flat" cmpd="sng" algn="ctr">
                      <a:solidFill>
                        <a:srgbClr val="E3D6C0"/>
                      </a:solidFill>
                      <a:prstDash val="solid"/>
                      <a:round/>
                      <a:headEnd type="none" w="med" len="med"/>
                      <a:tailEnd type="none" w="med" len="med"/>
                    </a:lnR>
                    <a:lnT w="9525" cap="flat" cmpd="sng" algn="ctr">
                      <a:solidFill>
                        <a:srgbClr val="E3D6C0"/>
                      </a:solidFill>
                      <a:prstDash val="solid"/>
                      <a:round/>
                      <a:headEnd type="none" w="med" len="med"/>
                      <a:tailEnd type="none" w="med" len="med"/>
                    </a:lnT>
                    <a:lnB w="9525" cap="flat" cmpd="sng" algn="ctr">
                      <a:solidFill>
                        <a:srgbClr val="E3D6C0"/>
                      </a:solidFill>
                      <a:prstDash val="solid"/>
                      <a:round/>
                      <a:headEnd type="none" w="med" len="med"/>
                      <a:tailEnd type="none" w="med" len="med"/>
                    </a:lnB>
                    <a:solidFill>
                      <a:srgbClr val="FFFDF8"/>
                    </a:solidFill>
                  </a:tcPr>
                </a:tc>
              </a:tr>
              <a:tr h="566928">
                <a:tc>
                  <a:txBody>
                    <a:bodyPr/>
                    <a:lstStyle/>
                    <a:p>
                      <a:pPr indent="0" marL="0">
                        <a:buNone/>
                      </a:pPr>
                      <a:r>
                        <a:rPr lang="en-US" sz="1400" b="1" dirty="0">
                          <a:solidFill>
                            <a:srgbClr val="1F3D2B"/>
                          </a:solidFill>
                          <a:latin typeface="Space Grotesk" pitchFamily="34" charset="0"/>
                          <a:ea typeface="Space Grotesk" pitchFamily="34" charset="-122"/>
                          <a:cs typeface="Space Grotesk" pitchFamily="34" charset="-120"/>
                        </a:rPr>
                        <a:t>MachineMetrics</a:t>
                      </a:r>
                      <a:endParaRPr lang="en-US" sz="1400" dirty="0">
                        <a:latin typeface="Space Grotesk" charset="0"/>
                        <a:ea typeface="Space Grotesk" charset="0"/>
                        <a:cs typeface="Space Grotesk" charset="0"/>
                      </a:endParaRPr>
                    </a:p>
                  </a:txBody>
                  <a:tcPr marL="137160" marR="137160" marT="73152" marB="73152" anchor="ctr">
                    <a:lnL w="9525" cap="flat" cmpd="sng" algn="ctr">
                      <a:solidFill>
                        <a:srgbClr val="E3D6C0"/>
                      </a:solidFill>
                      <a:prstDash val="solid"/>
                      <a:round/>
                      <a:headEnd type="none" w="med" len="med"/>
                      <a:tailEnd type="none" w="med" len="med"/>
                    </a:lnL>
                    <a:lnR w="9525" cap="flat" cmpd="sng" algn="ctr">
                      <a:solidFill>
                        <a:srgbClr val="E3D6C0"/>
                      </a:solidFill>
                      <a:prstDash val="solid"/>
                      <a:round/>
                      <a:headEnd type="none" w="med" len="med"/>
                      <a:tailEnd type="none" w="med" len="med"/>
                    </a:lnR>
                    <a:lnT w="9525" cap="flat" cmpd="sng" algn="ctr">
                      <a:solidFill>
                        <a:srgbClr val="E3D6C0"/>
                      </a:solidFill>
                      <a:prstDash val="solid"/>
                      <a:round/>
                      <a:headEnd type="none" w="med" len="med"/>
                      <a:tailEnd type="none" w="med" len="med"/>
                    </a:lnT>
                    <a:lnB w="9525" cap="flat" cmpd="sng" algn="ctr">
                      <a:solidFill>
                        <a:srgbClr val="E3D6C0"/>
                      </a:solidFill>
                      <a:prstDash val="solid"/>
                      <a:round/>
                      <a:headEnd type="none" w="med" len="med"/>
                      <a:tailEnd type="none" w="med" len="med"/>
                    </a:lnB>
                    <a:solidFill>
                      <a:srgbClr val="FFFDF8"/>
                    </a:solidFill>
                  </a:tcPr>
                </a:tc>
                <a:tc>
                  <a:txBody>
                    <a:bodyPr/>
                    <a:lstStyle/>
                    <a:p>
                      <a:pPr indent="0" marL="0">
                        <a:buNone/>
                      </a:pPr>
                      <a:r>
                        <a:rPr lang="en-US" sz="1400" dirty="0">
                          <a:solidFill>
                            <a:srgbClr val="5B6B5F"/>
                          </a:solidFill>
                          <a:latin typeface="Inter" pitchFamily="34" charset="0"/>
                          <a:ea typeface="Inter" pitchFamily="34" charset="-122"/>
                          <a:cs typeface="Inter" pitchFamily="34" charset="-120"/>
                        </a:rPr>
                        <a:t>Factory monitoring</a:t>
                      </a:r>
                      <a:endParaRPr lang="en-US" sz="1400" dirty="0">
                        <a:latin typeface="Inter" charset="0"/>
                        <a:ea typeface="Inter" charset="0"/>
                        <a:cs typeface="Inter" charset="0"/>
                      </a:endParaRPr>
                    </a:p>
                  </a:txBody>
                  <a:tcPr marL="137160" marR="137160" marT="73152" marB="73152" anchor="ctr">
                    <a:lnL w="9525" cap="flat" cmpd="sng" algn="ctr">
                      <a:solidFill>
                        <a:srgbClr val="E3D6C0"/>
                      </a:solidFill>
                      <a:prstDash val="solid"/>
                      <a:round/>
                      <a:headEnd type="none" w="med" len="med"/>
                      <a:tailEnd type="none" w="med" len="med"/>
                    </a:lnL>
                    <a:lnR w="9525" cap="flat" cmpd="sng" algn="ctr">
                      <a:solidFill>
                        <a:srgbClr val="E3D6C0"/>
                      </a:solidFill>
                      <a:prstDash val="solid"/>
                      <a:round/>
                      <a:headEnd type="none" w="med" len="med"/>
                      <a:tailEnd type="none" w="med" len="med"/>
                    </a:lnR>
                    <a:lnT w="9525" cap="flat" cmpd="sng" algn="ctr">
                      <a:solidFill>
                        <a:srgbClr val="E3D6C0"/>
                      </a:solidFill>
                      <a:prstDash val="solid"/>
                      <a:round/>
                      <a:headEnd type="none" w="med" len="med"/>
                      <a:tailEnd type="none" w="med" len="med"/>
                    </a:lnT>
                    <a:lnB w="9525" cap="flat" cmpd="sng" algn="ctr">
                      <a:solidFill>
                        <a:srgbClr val="E3D6C0"/>
                      </a:solidFill>
                      <a:prstDash val="solid"/>
                      <a:round/>
                      <a:headEnd type="none" w="med" len="med"/>
                      <a:tailEnd type="none" w="med" len="med"/>
                    </a:lnB>
                    <a:solidFill>
                      <a:srgbClr val="FFFDF8"/>
                    </a:solidFill>
                  </a:tcPr>
                </a:tc>
                <a:tc>
                  <a:txBody>
                    <a:bodyPr/>
                    <a:lstStyle/>
                    <a:p>
                      <a:pPr indent="0" marL="0">
                        <a:buNone/>
                      </a:pPr>
                      <a:r>
                        <a:rPr lang="en-US" sz="1200" dirty="0">
                          <a:solidFill>
                            <a:srgbClr val="1F3D2B"/>
                          </a:solidFill>
                          <a:latin typeface="JetBrains Mono" pitchFamily="34" charset="0"/>
                          <a:ea typeface="JetBrains Mono" pitchFamily="34" charset="-122"/>
                          <a:cs typeface="JetBrains Mono" pitchFamily="34" charset="-120"/>
                        </a:rPr>
                        <a:t>~US$1,400+ hardware per kit</a:t>
                      </a:r>
                      <a:endParaRPr lang="en-US" sz="1200" dirty="0">
                        <a:latin typeface="JetBrains Mono" charset="0"/>
                        <a:ea typeface="JetBrains Mono" charset="0"/>
                        <a:cs typeface="JetBrains Mono" charset="0"/>
                      </a:endParaRPr>
                    </a:p>
                  </a:txBody>
                  <a:tcPr marL="137160" marR="137160" marT="73152" marB="73152" anchor="ctr">
                    <a:lnL w="9525" cap="flat" cmpd="sng" algn="ctr">
                      <a:solidFill>
                        <a:srgbClr val="E3D6C0"/>
                      </a:solidFill>
                      <a:prstDash val="solid"/>
                      <a:round/>
                      <a:headEnd type="none" w="med" len="med"/>
                      <a:tailEnd type="none" w="med" len="med"/>
                    </a:lnL>
                    <a:lnR w="9525" cap="flat" cmpd="sng" algn="ctr">
                      <a:solidFill>
                        <a:srgbClr val="E3D6C0"/>
                      </a:solidFill>
                      <a:prstDash val="solid"/>
                      <a:round/>
                      <a:headEnd type="none" w="med" len="med"/>
                      <a:tailEnd type="none" w="med" len="med"/>
                    </a:lnR>
                    <a:lnT w="9525" cap="flat" cmpd="sng" algn="ctr">
                      <a:solidFill>
                        <a:srgbClr val="E3D6C0"/>
                      </a:solidFill>
                      <a:prstDash val="solid"/>
                      <a:round/>
                      <a:headEnd type="none" w="med" len="med"/>
                      <a:tailEnd type="none" w="med" len="med"/>
                    </a:lnT>
                    <a:lnB w="9525" cap="flat" cmpd="sng" algn="ctr">
                      <a:solidFill>
                        <a:srgbClr val="E3D6C0"/>
                      </a:solidFill>
                      <a:prstDash val="solid"/>
                      <a:round/>
                      <a:headEnd type="none" w="med" len="med"/>
                      <a:tailEnd type="none" w="med" len="med"/>
                    </a:lnB>
                    <a:solidFill>
                      <a:srgbClr val="FFFDF8"/>
                    </a:solidFill>
                  </a:tcPr>
                </a:tc>
                <a:tc>
                  <a:txBody>
                    <a:bodyPr/>
                    <a:lstStyle/>
                    <a:p>
                      <a:pPr indent="0" marL="0">
                        <a:buNone/>
                      </a:pPr>
                      <a:r>
                        <a:rPr lang="en-US" sz="1400" dirty="0">
                          <a:solidFill>
                            <a:srgbClr val="1F3D2B"/>
                          </a:solidFill>
                          <a:latin typeface="Inter" pitchFamily="34" charset="0"/>
                          <a:ea typeface="Inter" pitchFamily="34" charset="-122"/>
                          <a:cs typeface="Inter" pitchFamily="34" charset="-120"/>
                        </a:rPr>
                        <a:t>Machine health, for factories only</a:t>
                      </a:r>
                      <a:endParaRPr lang="en-US" sz="1400" dirty="0">
                        <a:latin typeface="Inter" charset="0"/>
                        <a:ea typeface="Inter" charset="0"/>
                        <a:cs typeface="Inter" charset="0"/>
                      </a:endParaRPr>
                    </a:p>
                  </a:txBody>
                  <a:tcPr marL="137160" marR="137160" marT="73152" marB="73152" anchor="ctr">
                    <a:lnL w="9525" cap="flat" cmpd="sng" algn="ctr">
                      <a:solidFill>
                        <a:srgbClr val="E3D6C0"/>
                      </a:solidFill>
                      <a:prstDash val="solid"/>
                      <a:round/>
                      <a:headEnd type="none" w="med" len="med"/>
                      <a:tailEnd type="none" w="med" len="med"/>
                    </a:lnL>
                    <a:lnR w="9525" cap="flat" cmpd="sng" algn="ctr">
                      <a:solidFill>
                        <a:srgbClr val="E3D6C0"/>
                      </a:solidFill>
                      <a:prstDash val="solid"/>
                      <a:round/>
                      <a:headEnd type="none" w="med" len="med"/>
                      <a:tailEnd type="none" w="med" len="med"/>
                    </a:lnR>
                    <a:lnT w="9525" cap="flat" cmpd="sng" algn="ctr">
                      <a:solidFill>
                        <a:srgbClr val="E3D6C0"/>
                      </a:solidFill>
                      <a:prstDash val="solid"/>
                      <a:round/>
                      <a:headEnd type="none" w="med" len="med"/>
                      <a:tailEnd type="none" w="med" len="med"/>
                    </a:lnT>
                    <a:lnB w="9525" cap="flat" cmpd="sng" algn="ctr">
                      <a:solidFill>
                        <a:srgbClr val="E3D6C0"/>
                      </a:solidFill>
                      <a:prstDash val="solid"/>
                      <a:round/>
                      <a:headEnd type="none" w="med" len="med"/>
                      <a:tailEnd type="none" w="med" len="med"/>
                    </a:lnB>
                    <a:solidFill>
                      <a:srgbClr val="FFFDF8"/>
                    </a:solidFill>
                  </a:tcPr>
                </a:tc>
              </a:tr>
              <a:tr h="658368">
                <a:tc>
                  <a:txBody>
                    <a:bodyPr/>
                    <a:lstStyle/>
                    <a:p>
                      <a:pPr indent="0" marL="0">
                        <a:buNone/>
                      </a:pPr>
                      <a:r>
                        <a:rPr lang="en-US" sz="1400" b="1" dirty="0">
                          <a:solidFill>
                            <a:srgbClr val="FFFDF8"/>
                          </a:solidFill>
                          <a:latin typeface="Space Grotesk" pitchFamily="34" charset="0"/>
                          <a:ea typeface="Space Grotesk" pitchFamily="34" charset="-122"/>
                          <a:cs typeface="Space Grotesk" pitchFamily="34" charset="-120"/>
                        </a:rPr>
                        <a:t>PREVUMO</a:t>
                      </a:r>
                      <a:endParaRPr lang="en-US" sz="1400" dirty="0">
                        <a:latin typeface="Space Grotesk" charset="0"/>
                        <a:ea typeface="Space Grotesk" charset="0"/>
                        <a:cs typeface="Space Grotesk" charset="0"/>
                      </a:endParaRPr>
                    </a:p>
                  </a:txBody>
                  <a:tcPr marL="137160" marR="137160" marT="73152" marB="73152" anchor="ctr">
                    <a:lnL w="9525" cap="flat" cmpd="sng" algn="ctr">
                      <a:solidFill>
                        <a:srgbClr val="E3D6C0"/>
                      </a:solidFill>
                      <a:prstDash val="solid"/>
                      <a:round/>
                      <a:headEnd type="none" w="med" len="med"/>
                      <a:tailEnd type="none" w="med" len="med"/>
                    </a:lnL>
                    <a:lnR w="9525" cap="flat" cmpd="sng" algn="ctr">
                      <a:solidFill>
                        <a:srgbClr val="E3D6C0"/>
                      </a:solidFill>
                      <a:prstDash val="solid"/>
                      <a:round/>
                      <a:headEnd type="none" w="med" len="med"/>
                      <a:tailEnd type="none" w="med" len="med"/>
                    </a:lnR>
                    <a:lnT w="9525" cap="flat" cmpd="sng" algn="ctr">
                      <a:solidFill>
                        <a:srgbClr val="E3D6C0"/>
                      </a:solidFill>
                      <a:prstDash val="solid"/>
                      <a:round/>
                      <a:headEnd type="none" w="med" len="med"/>
                      <a:tailEnd type="none" w="med" len="med"/>
                    </a:lnT>
                    <a:lnB w="9525" cap="flat" cmpd="sng" algn="ctr">
                      <a:solidFill>
                        <a:srgbClr val="E3D6C0"/>
                      </a:solidFill>
                      <a:prstDash val="solid"/>
                      <a:round/>
                      <a:headEnd type="none" w="med" len="med"/>
                      <a:tailEnd type="none" w="med" len="med"/>
                    </a:lnB>
                    <a:solidFill>
                      <a:srgbClr val="1F3D2B"/>
                    </a:solidFill>
                  </a:tcPr>
                </a:tc>
                <a:tc>
                  <a:txBody>
                    <a:bodyPr/>
                    <a:lstStyle/>
                    <a:p>
                      <a:pPr indent="0" marL="0">
                        <a:buNone/>
                      </a:pPr>
                      <a:r>
                        <a:rPr lang="en-US" sz="1400" dirty="0">
                          <a:solidFill>
                            <a:srgbClr val="D6E4D3"/>
                          </a:solidFill>
                          <a:latin typeface="Inter" pitchFamily="34" charset="0"/>
                          <a:ea typeface="Inter" pitchFamily="34" charset="-122"/>
                          <a:cs typeface="Inter" pitchFamily="34" charset="-120"/>
                        </a:rPr>
                        <a:t>Shared spaces</a:t>
                      </a:r>
                      <a:endParaRPr lang="en-US" sz="1400" dirty="0">
                        <a:latin typeface="Inter" charset="0"/>
                        <a:ea typeface="Inter" charset="0"/>
                        <a:cs typeface="Inter" charset="0"/>
                      </a:endParaRPr>
                    </a:p>
                  </a:txBody>
                  <a:tcPr marL="137160" marR="137160" marT="73152" marB="73152" anchor="ctr">
                    <a:lnL w="9525" cap="flat" cmpd="sng" algn="ctr">
                      <a:solidFill>
                        <a:srgbClr val="E3D6C0"/>
                      </a:solidFill>
                      <a:prstDash val="solid"/>
                      <a:round/>
                      <a:headEnd type="none" w="med" len="med"/>
                      <a:tailEnd type="none" w="med" len="med"/>
                    </a:lnL>
                    <a:lnR w="9525" cap="flat" cmpd="sng" algn="ctr">
                      <a:solidFill>
                        <a:srgbClr val="E3D6C0"/>
                      </a:solidFill>
                      <a:prstDash val="solid"/>
                      <a:round/>
                      <a:headEnd type="none" w="med" len="med"/>
                      <a:tailEnd type="none" w="med" len="med"/>
                    </a:lnR>
                    <a:lnT w="9525" cap="flat" cmpd="sng" algn="ctr">
                      <a:solidFill>
                        <a:srgbClr val="E3D6C0"/>
                      </a:solidFill>
                      <a:prstDash val="solid"/>
                      <a:round/>
                      <a:headEnd type="none" w="med" len="med"/>
                      <a:tailEnd type="none" w="med" len="med"/>
                    </a:lnT>
                    <a:lnB w="9525" cap="flat" cmpd="sng" algn="ctr">
                      <a:solidFill>
                        <a:srgbClr val="E3D6C0"/>
                      </a:solidFill>
                      <a:prstDash val="solid"/>
                      <a:round/>
                      <a:headEnd type="none" w="med" len="med"/>
                      <a:tailEnd type="none" w="med" len="med"/>
                    </a:lnB>
                    <a:solidFill>
                      <a:srgbClr val="1F3D2B"/>
                    </a:solidFill>
                  </a:tcPr>
                </a:tc>
                <a:tc>
                  <a:txBody>
                    <a:bodyPr/>
                    <a:lstStyle/>
                    <a:p>
                      <a:pPr indent="0" marL="0">
                        <a:buNone/>
                      </a:pPr>
                      <a:r>
                        <a:rPr lang="en-US" sz="1200" dirty="0">
                          <a:solidFill>
                            <a:srgbClr val="D6E4D3"/>
                          </a:solidFill>
                          <a:latin typeface="JetBrains Mono" pitchFamily="34" charset="0"/>
                          <a:ea typeface="JetBrains Mono" pitchFamily="34" charset="-122"/>
                          <a:cs typeface="JetBrains Mono" pitchFamily="34" charset="-120"/>
                        </a:rPr>
                        <a:t>Assumption, slide 9</a:t>
                      </a:r>
                      <a:endParaRPr lang="en-US" sz="1200" dirty="0">
                        <a:latin typeface="JetBrains Mono" charset="0"/>
                        <a:ea typeface="JetBrains Mono" charset="0"/>
                        <a:cs typeface="JetBrains Mono" charset="0"/>
                      </a:endParaRPr>
                    </a:p>
                  </a:txBody>
                  <a:tcPr marL="137160" marR="137160" marT="73152" marB="73152" anchor="ctr">
                    <a:lnL w="9525" cap="flat" cmpd="sng" algn="ctr">
                      <a:solidFill>
                        <a:srgbClr val="E3D6C0"/>
                      </a:solidFill>
                      <a:prstDash val="solid"/>
                      <a:round/>
                      <a:headEnd type="none" w="med" len="med"/>
                      <a:tailEnd type="none" w="med" len="med"/>
                    </a:lnL>
                    <a:lnR w="9525" cap="flat" cmpd="sng" algn="ctr">
                      <a:solidFill>
                        <a:srgbClr val="E3D6C0"/>
                      </a:solidFill>
                      <a:prstDash val="solid"/>
                      <a:round/>
                      <a:headEnd type="none" w="med" len="med"/>
                      <a:tailEnd type="none" w="med" len="med"/>
                    </a:lnR>
                    <a:lnT w="9525" cap="flat" cmpd="sng" algn="ctr">
                      <a:solidFill>
                        <a:srgbClr val="E3D6C0"/>
                      </a:solidFill>
                      <a:prstDash val="solid"/>
                      <a:round/>
                      <a:headEnd type="none" w="med" len="med"/>
                      <a:tailEnd type="none" w="med" len="med"/>
                    </a:lnT>
                    <a:lnB w="9525" cap="flat" cmpd="sng" algn="ctr">
                      <a:solidFill>
                        <a:srgbClr val="E3D6C0"/>
                      </a:solidFill>
                      <a:prstDash val="solid"/>
                      <a:round/>
                      <a:headEnd type="none" w="med" len="med"/>
                      <a:tailEnd type="none" w="med" len="med"/>
                    </a:lnB>
                    <a:solidFill>
                      <a:srgbClr val="1F3D2B"/>
                    </a:solidFill>
                  </a:tcPr>
                </a:tc>
                <a:tc>
                  <a:txBody>
                    <a:bodyPr/>
                    <a:lstStyle/>
                    <a:p>
                      <a:pPr indent="0" marL="0">
                        <a:buNone/>
                      </a:pPr>
                      <a:r>
                        <a:rPr lang="en-US" sz="1400" b="1" dirty="0">
                          <a:solidFill>
                            <a:srgbClr val="FFFDF8"/>
                          </a:solidFill>
                          <a:latin typeface="Inter" pitchFamily="34" charset="0"/>
                          <a:ea typeface="Inter" pitchFamily="34" charset="-122"/>
                          <a:cs typeface="Inter" pitchFamily="34" charset="-120"/>
                        </a:rPr>
                        <a:t>Who used it + how much + machine health + remote shutdown</a:t>
                      </a:r>
                      <a:endParaRPr lang="en-US" sz="1400" dirty="0">
                        <a:latin typeface="Inter" charset="0"/>
                        <a:ea typeface="Inter" charset="0"/>
                        <a:cs typeface="Inter" charset="0"/>
                      </a:endParaRPr>
                    </a:p>
                  </a:txBody>
                  <a:tcPr marL="137160" marR="137160" marT="73152" marB="73152" anchor="ctr">
                    <a:lnL w="9525" cap="flat" cmpd="sng" algn="ctr">
                      <a:solidFill>
                        <a:srgbClr val="E3D6C0"/>
                      </a:solidFill>
                      <a:prstDash val="solid"/>
                      <a:round/>
                      <a:headEnd type="none" w="med" len="med"/>
                      <a:tailEnd type="none" w="med" len="med"/>
                    </a:lnL>
                    <a:lnR w="9525" cap="flat" cmpd="sng" algn="ctr">
                      <a:solidFill>
                        <a:srgbClr val="E3D6C0"/>
                      </a:solidFill>
                      <a:prstDash val="solid"/>
                      <a:round/>
                      <a:headEnd type="none" w="med" len="med"/>
                      <a:tailEnd type="none" w="med" len="med"/>
                    </a:lnR>
                    <a:lnT w="9525" cap="flat" cmpd="sng" algn="ctr">
                      <a:solidFill>
                        <a:srgbClr val="E3D6C0"/>
                      </a:solidFill>
                      <a:prstDash val="solid"/>
                      <a:round/>
                      <a:headEnd type="none" w="med" len="med"/>
                      <a:tailEnd type="none" w="med" len="med"/>
                    </a:lnT>
                    <a:lnB w="9525" cap="flat" cmpd="sng" algn="ctr">
                      <a:solidFill>
                        <a:srgbClr val="E3D6C0"/>
                      </a:solidFill>
                      <a:prstDash val="solid"/>
                      <a:round/>
                      <a:headEnd type="none" w="med" len="med"/>
                      <a:tailEnd type="none" w="med" len="med"/>
                    </a:lnB>
                    <a:solidFill>
                      <a:srgbClr val="1F3D2B"/>
                    </a:solidFill>
                  </a:tcPr>
                </a:tc>
              </a:tr>
            </a:tbl>
          </a:graphicData>
        </a:graphic>
      </p:graphicFrame>
      <p:sp>
        <p:nvSpPr>
          <p:cNvPr id="4" name="Text 1"/>
          <p:cNvSpPr txBox="1"/>
          <p:nvPr/>
        </p:nvSpPr>
        <p:spPr>
          <a:xfrm>
            <a:off x="685800" y="5120640"/>
            <a:ext cx="10789920" cy="457200"/>
          </a:xfrm>
          <a:prstGeom prst="rect">
            <a:avLst/>
          </a:prstGeom>
          <a:noFill/>
          <a:ln/>
        </p:spPr>
        <p:txBody>
          <a:bodyPr wrap="square" lIns="0" tIns="0" rIns="0" bIns="0" rtlCol="0" anchor="ctr"/>
          <a:lstStyle/>
          <a:p>
            <a:pPr indent="0" marL="0">
              <a:buNone/>
            </a:pPr>
            <a:r>
              <a:rPr lang="en-US" sz="1700" dirty="0">
                <a:solidFill>
                  <a:schemeClr val="tx1"/>
                </a:solidFill>
              </a:rPr>
              <a:t>Skedda could be a partner, not just a competitor: a booking becomes a PIN on our box.</a:t>
            </a:r>
            <a:endParaRPr lang="en-US" sz="1700" dirty="0"/>
          </a:p>
        </p:txBody>
      </p:sp>
      <p:sp>
        <p:nvSpPr>
          <p:cNvPr id="5" name="Source"/>
          <p:cNvSpPr txBox="1"/>
          <p:nvPr/>
        </p:nvSpPr>
        <p:spPr>
          <a:xfrm>
            <a:off x="685800" y="5989320"/>
            <a:ext cx="10789920" cy="274320"/>
          </a:xfrm>
          <a:prstGeom prst="rect">
            <a:avLst/>
          </a:prstGeom>
          <a:noFill/>
          <a:ln/>
        </p:spPr>
        <p:txBody>
          <a:bodyPr wrap="square" lIns="0" tIns="0" rIns="0" bIns="0" rtlCol="0" anchor="ctr"/>
          <a:lstStyle/>
          <a:p>
            <a:pPr indent="0" marL="0">
              <a:buNone/>
            </a:pPr>
            <a:r>
              <a:rPr lang="en-US" sz="1000" dirty="0">
                <a:solidFill>
                  <a:schemeClr val="tx2"/>
                </a:solidFill>
              </a:rPr>
              <a:t>Prices from each company's public pricing, gathered in our competitor research.</a:t>
            </a:r>
            <a:endParaRPr lang="en-US" sz="1000" dirty="0"/>
          </a:p>
        </p:txBody>
      </p:sp>
      <p:sp>
        <p:nvSpPr>
          <p:cNvPr id="25" name="Slide Number Placeholder 0"/>
          <p:cNvSpPr>
            <a:spLocks noGrp="1"/>
          </p:cNvSpPr>
          <p:nvPr>
            <p:ph type="sldNum" sz="quarter" idx="4294967295"/>
          </p:nvPr>
        </p:nvSpPr>
        <p:spPr>
          <a:xfrm>
            <a:off x="1106424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5F"/>
                </a:solidFill>
                <a:latin typeface="JetBrains Mono"/>
                <a:ea typeface="JetBrains Mono"/>
                <a:cs typeface="JetBrains Mono"/>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685800" y="457200"/>
            <a:ext cx="10789920" cy="822960"/>
          </a:xfrm>
          <a:prstGeom prst="rect">
            <a:avLst/>
          </a:prstGeom>
          <a:noFill/>
          <a:ln/>
        </p:spPr>
        <p:txBody>
          <a:bodyPr wrap="square" lIns="0" tIns="0" rIns="0" bIns="0" rtlCol="0" anchor="t"/>
          <a:lstStyle/>
          <a:p>
            <a:pPr algn="l" indent="0" marL="0">
              <a:buNone/>
            </a:pPr>
            <a:r>
              <a:rPr lang="en-US" sz="3600" b="1" dirty="0">
                <a:solidFill>
                  <a:schemeClr val="tx1"/>
                </a:solidFill>
                <a:latin typeface="Space Grotesk" pitchFamily="34" charset="0"/>
                <a:ea typeface="Space Grotesk" pitchFamily="34" charset="-122"/>
                <a:cs typeface="Space Grotesk" pitchFamily="34" charset="-120"/>
              </a:rPr>
              <a:t>From billing to predictive maintenance</a:t>
            </a:r>
            <a:endParaRPr lang="en-US" sz="3600" dirty="0"/>
          </a:p>
        </p:txBody>
      </p:sp>
      <p:sp>
        <p:nvSpPr>
          <p:cNvPr id="3" name="Text 1"/>
          <p:cNvSpPr txBox="1"/>
          <p:nvPr/>
        </p:nvSpPr>
        <p:spPr>
          <a:xfrm>
            <a:off x="685800" y="1417320"/>
            <a:ext cx="4343400" cy="365760"/>
          </a:xfrm>
          <a:prstGeom prst="rect">
            <a:avLst/>
          </a:prstGeom>
          <a:noFill/>
          <a:ln/>
        </p:spPr>
        <p:txBody>
          <a:bodyPr wrap="square" lIns="0" tIns="0" rIns="0" bIns="0" rtlCol="0" anchor="ctr"/>
          <a:lstStyle/>
          <a:p>
            <a:pPr indent="0" marL="0">
              <a:buNone/>
            </a:pPr>
            <a:r>
              <a:rPr lang="en-US" sz="1800" b="1" dirty="0">
                <a:solidFill>
                  <a:srgbClr val="5B6B5F"/>
                </a:solidFill>
                <a:latin typeface="Space Grotesk" pitchFamily="34" charset="0"/>
                <a:ea typeface="Space Grotesk" pitchFamily="34" charset="-122"/>
                <a:cs typeface="Space Grotesk" pitchFamily="34" charset="-120"/>
              </a:rPr>
              <a:t>Plan A (PD A)</a:t>
            </a:r>
            <a:endParaRPr lang="en-US" sz="1800" dirty="0"/>
          </a:p>
        </p:txBody>
      </p:sp>
      <p:sp>
        <p:nvSpPr>
          <p:cNvPr id="4" name="Text 2"/>
          <p:cNvSpPr txBox="1"/>
          <p:nvPr/>
        </p:nvSpPr>
        <p:spPr>
          <a:xfrm>
            <a:off x="685800" y="1783080"/>
            <a:ext cx="4343400" cy="320040"/>
          </a:xfrm>
          <a:prstGeom prst="rect">
            <a:avLst/>
          </a:prstGeom>
          <a:noFill/>
          <a:ln/>
        </p:spPr>
        <p:txBody>
          <a:bodyPr wrap="square" lIns="0" tIns="0" rIns="0" bIns="0" rtlCol="0" anchor="ctr"/>
          <a:lstStyle/>
          <a:p>
            <a:pPr indent="0" marL="0">
              <a:buNone/>
            </a:pPr>
            <a:r>
              <a:rPr lang="en-US" sz="1300" dirty="0">
                <a:solidFill>
                  <a:srgbClr val="5B6B5F"/>
                </a:solidFill>
              </a:rPr>
              <a:t>Usage tracker and billing</a:t>
            </a:r>
            <a:endParaRPr lang="en-US" sz="1300" dirty="0"/>
          </a:p>
        </p:txBody>
      </p:sp>
      <p:sp>
        <p:nvSpPr>
          <p:cNvPr id="5" name="Shape 3"/>
          <p:cNvSpPr/>
          <p:nvPr/>
        </p:nvSpPr>
        <p:spPr>
          <a:xfrm>
            <a:off x="685800" y="2240280"/>
            <a:ext cx="868680" cy="1615440"/>
          </a:xfrm>
          <a:prstGeom prst="rect">
            <a:avLst/>
          </a:prstGeom>
          <a:solidFill>
            <a:srgbClr val="EDE4D3"/>
          </a:solidFill>
          <a:ln w="9525">
            <a:solidFill>
              <a:srgbClr val="E3D6C0"/>
            </a:solidFill>
            <a:prstDash val="solid"/>
          </a:ln>
        </p:spPr>
      </p:sp>
      <p:sp>
        <p:nvSpPr>
          <p:cNvPr id="6" name="Text 4"/>
          <p:cNvSpPr txBox="1"/>
          <p:nvPr/>
        </p:nvSpPr>
        <p:spPr>
          <a:xfrm>
            <a:off x="740664" y="2304288"/>
            <a:ext cx="758952" cy="201168"/>
          </a:xfrm>
          <a:prstGeom prst="rect">
            <a:avLst/>
          </a:prstGeom>
          <a:noFill/>
          <a:ln/>
        </p:spPr>
        <p:txBody>
          <a:bodyPr wrap="square" lIns="0" tIns="0" rIns="0" bIns="0" rtlCol="0" anchor="t"/>
          <a:lstStyle/>
          <a:p>
            <a:pPr indent="0" marL="0">
              <a:buNone/>
            </a:pPr>
            <a:r>
              <a:rPr lang="en-US" sz="1000" dirty="0">
                <a:solidFill>
                  <a:srgbClr val="5B6B5F"/>
                </a:solidFill>
              </a:rPr>
              <a:t>Partners</a:t>
            </a:r>
            <a:endParaRPr lang="en-US" sz="1000" dirty="0"/>
          </a:p>
        </p:txBody>
      </p:sp>
      <p:sp>
        <p:nvSpPr>
          <p:cNvPr id="7" name="Plan A (PD A) Partners"/>
          <p:cNvSpPr txBox="1"/>
          <p:nvPr/>
        </p:nvSpPr>
        <p:spPr>
          <a:xfrm>
            <a:off x="731520" y="2514600"/>
            <a:ext cx="777240" cy="1304544"/>
          </a:xfrm>
          <a:prstGeom prst="rect">
            <a:avLst/>
          </a:prstGeom>
          <a:noFill/>
          <a:ln/>
        </p:spPr>
        <p:txBody>
          <a:bodyPr wrap="square" lIns="0" tIns="0" rIns="0" bIns="0" rtlCol="0" anchor="t"/>
          <a:lstStyle/>
          <a:p>
            <a:pPr indent="0" marL="0">
              <a:buNone/>
            </a:pPr>
            <a:r>
              <a:rPr lang="en-US" sz="850" dirty="0">
                <a:solidFill>
                  <a:srgbClr val="5B6B5F"/>
                </a:solidFill>
              </a:rPr>
              <a:t>Component suppliers, electricians</a:t>
            </a:r>
            <a:endParaRPr lang="en-US" sz="850" dirty="0"/>
          </a:p>
        </p:txBody>
      </p:sp>
      <p:sp>
        <p:nvSpPr>
          <p:cNvPr id="8" name="Shape 6"/>
          <p:cNvSpPr/>
          <p:nvPr/>
        </p:nvSpPr>
        <p:spPr>
          <a:xfrm>
            <a:off x="1554480" y="2240280"/>
            <a:ext cx="868680" cy="807720"/>
          </a:xfrm>
          <a:prstGeom prst="rect">
            <a:avLst/>
          </a:prstGeom>
          <a:solidFill>
            <a:srgbClr val="EDE4D3"/>
          </a:solidFill>
          <a:ln w="9525">
            <a:solidFill>
              <a:srgbClr val="E3D6C0"/>
            </a:solidFill>
            <a:prstDash val="solid"/>
          </a:ln>
        </p:spPr>
      </p:sp>
      <p:sp>
        <p:nvSpPr>
          <p:cNvPr id="9" name="Text 7"/>
          <p:cNvSpPr txBox="1"/>
          <p:nvPr/>
        </p:nvSpPr>
        <p:spPr>
          <a:xfrm>
            <a:off x="1609344" y="2304288"/>
            <a:ext cx="758952" cy="201168"/>
          </a:xfrm>
          <a:prstGeom prst="rect">
            <a:avLst/>
          </a:prstGeom>
          <a:noFill/>
          <a:ln/>
        </p:spPr>
        <p:txBody>
          <a:bodyPr wrap="square" lIns="0" tIns="0" rIns="0" bIns="0" rtlCol="0" anchor="t"/>
          <a:lstStyle/>
          <a:p>
            <a:pPr indent="0" marL="0">
              <a:buNone/>
            </a:pPr>
            <a:r>
              <a:rPr lang="en-US" sz="1000" dirty="0">
                <a:solidFill>
                  <a:srgbClr val="5B6B5F"/>
                </a:solidFill>
              </a:rPr>
              <a:t>Activities</a:t>
            </a:r>
            <a:endParaRPr lang="en-US" sz="1000" dirty="0"/>
          </a:p>
        </p:txBody>
      </p:sp>
      <p:sp>
        <p:nvSpPr>
          <p:cNvPr id="10" name="Plan A (PD A) Activities"/>
          <p:cNvSpPr txBox="1"/>
          <p:nvPr/>
        </p:nvSpPr>
        <p:spPr>
          <a:xfrm>
            <a:off x="1600200" y="2514600"/>
            <a:ext cx="777240" cy="496824"/>
          </a:xfrm>
          <a:prstGeom prst="rect">
            <a:avLst/>
          </a:prstGeom>
          <a:noFill/>
          <a:ln/>
        </p:spPr>
        <p:txBody>
          <a:bodyPr wrap="square" lIns="0" tIns="0" rIns="0" bIns="0" rtlCol="0" anchor="t"/>
          <a:lstStyle/>
          <a:p>
            <a:pPr indent="0" marL="0">
              <a:buNone/>
            </a:pPr>
            <a:r>
              <a:rPr lang="en-US" sz="850" dirty="0">
                <a:solidFill>
                  <a:srgbClr val="5B6B5F"/>
                </a:solidFill>
              </a:rPr>
              <a:t>Box + app, billing reports</a:t>
            </a:r>
            <a:endParaRPr lang="en-US" sz="850" dirty="0"/>
          </a:p>
        </p:txBody>
      </p:sp>
      <p:sp>
        <p:nvSpPr>
          <p:cNvPr id="11" name="Shape 9"/>
          <p:cNvSpPr/>
          <p:nvPr/>
        </p:nvSpPr>
        <p:spPr>
          <a:xfrm>
            <a:off x="1554480" y="3048000"/>
            <a:ext cx="868680" cy="807720"/>
          </a:xfrm>
          <a:prstGeom prst="rect">
            <a:avLst/>
          </a:prstGeom>
          <a:solidFill>
            <a:srgbClr val="EDE4D3"/>
          </a:solidFill>
          <a:ln w="9525">
            <a:solidFill>
              <a:srgbClr val="E3D6C0"/>
            </a:solidFill>
            <a:prstDash val="solid"/>
          </a:ln>
        </p:spPr>
      </p:sp>
      <p:sp>
        <p:nvSpPr>
          <p:cNvPr id="12" name="Text 10"/>
          <p:cNvSpPr txBox="1"/>
          <p:nvPr/>
        </p:nvSpPr>
        <p:spPr>
          <a:xfrm>
            <a:off x="1609344" y="3112008"/>
            <a:ext cx="758952" cy="201168"/>
          </a:xfrm>
          <a:prstGeom prst="rect">
            <a:avLst/>
          </a:prstGeom>
          <a:noFill/>
          <a:ln/>
        </p:spPr>
        <p:txBody>
          <a:bodyPr wrap="square" lIns="0" tIns="0" rIns="0" bIns="0" rtlCol="0" anchor="t"/>
          <a:lstStyle/>
          <a:p>
            <a:pPr indent="0" marL="0">
              <a:buNone/>
            </a:pPr>
            <a:r>
              <a:rPr lang="en-US" sz="1000" dirty="0">
                <a:solidFill>
                  <a:srgbClr val="5B6B5F"/>
                </a:solidFill>
              </a:rPr>
              <a:t>Resources</a:t>
            </a:r>
            <a:endParaRPr lang="en-US" sz="1000" dirty="0"/>
          </a:p>
        </p:txBody>
      </p:sp>
      <p:sp>
        <p:nvSpPr>
          <p:cNvPr id="13" name="Plan A (PD A) Resources"/>
          <p:cNvSpPr txBox="1"/>
          <p:nvPr/>
        </p:nvSpPr>
        <p:spPr>
          <a:xfrm>
            <a:off x="1600200" y="3322320"/>
            <a:ext cx="777240" cy="496824"/>
          </a:xfrm>
          <a:prstGeom prst="rect">
            <a:avLst/>
          </a:prstGeom>
          <a:noFill/>
          <a:ln/>
        </p:spPr>
        <p:txBody>
          <a:bodyPr wrap="square" lIns="0" tIns="0" rIns="0" bIns="0" rtlCol="0" anchor="t"/>
          <a:lstStyle/>
          <a:p>
            <a:pPr indent="0" marL="0">
              <a:buNone/>
            </a:pPr>
            <a:r>
              <a:rPr lang="en-US" sz="850" dirty="0">
                <a:solidFill>
                  <a:srgbClr val="5B6B5F"/>
                </a:solidFill>
              </a:rPr>
              <a:t>Usage data per user</a:t>
            </a:r>
            <a:endParaRPr lang="en-US" sz="850" dirty="0"/>
          </a:p>
        </p:txBody>
      </p:sp>
      <p:sp>
        <p:nvSpPr>
          <p:cNvPr id="14" name="Shape 12"/>
          <p:cNvSpPr/>
          <p:nvPr/>
        </p:nvSpPr>
        <p:spPr>
          <a:xfrm>
            <a:off x="2423160" y="2240280"/>
            <a:ext cx="868680" cy="1615440"/>
          </a:xfrm>
          <a:prstGeom prst="rect">
            <a:avLst/>
          </a:prstGeom>
          <a:solidFill>
            <a:srgbClr val="EDE4D3"/>
          </a:solidFill>
          <a:ln w="9525">
            <a:solidFill>
              <a:srgbClr val="E3D6C0"/>
            </a:solidFill>
            <a:prstDash val="solid"/>
          </a:ln>
        </p:spPr>
      </p:sp>
      <p:sp>
        <p:nvSpPr>
          <p:cNvPr id="15" name="Text 13"/>
          <p:cNvSpPr txBox="1"/>
          <p:nvPr/>
        </p:nvSpPr>
        <p:spPr>
          <a:xfrm>
            <a:off x="2478024" y="2304288"/>
            <a:ext cx="758952" cy="201168"/>
          </a:xfrm>
          <a:prstGeom prst="rect">
            <a:avLst/>
          </a:prstGeom>
          <a:noFill/>
          <a:ln/>
        </p:spPr>
        <p:txBody>
          <a:bodyPr wrap="square" lIns="0" tIns="0" rIns="0" bIns="0" rtlCol="0" anchor="t"/>
          <a:lstStyle/>
          <a:p>
            <a:pPr indent="0" marL="0">
              <a:buNone/>
            </a:pPr>
            <a:r>
              <a:rPr lang="en-US" sz="1000" dirty="0">
                <a:solidFill>
                  <a:srgbClr val="5B6B5F"/>
                </a:solidFill>
              </a:rPr>
              <a:t>Value</a:t>
            </a:r>
            <a:endParaRPr lang="en-US" sz="1000" dirty="0"/>
          </a:p>
        </p:txBody>
      </p:sp>
      <p:sp>
        <p:nvSpPr>
          <p:cNvPr id="16" name="Plan A (PD A) Value"/>
          <p:cNvSpPr txBox="1"/>
          <p:nvPr/>
        </p:nvSpPr>
        <p:spPr>
          <a:xfrm>
            <a:off x="2468880" y="2514600"/>
            <a:ext cx="777240" cy="1304544"/>
          </a:xfrm>
          <a:prstGeom prst="rect">
            <a:avLst/>
          </a:prstGeom>
          <a:noFill/>
          <a:ln/>
        </p:spPr>
        <p:txBody>
          <a:bodyPr wrap="square" lIns="0" tIns="0" rIns="0" bIns="0" rtlCol="0" anchor="t"/>
          <a:lstStyle/>
          <a:p>
            <a:pPr indent="0" marL="0">
              <a:buNone/>
            </a:pPr>
            <a:r>
              <a:rPr lang="en-US" sz="850" dirty="0">
                <a:solidFill>
                  <a:srgbClr val="5B6B5F"/>
                </a:solidFill>
              </a:rPr>
              <a:t>Bill each user for energy</a:t>
            </a:r>
            <a:endParaRPr lang="en-US" sz="850" dirty="0"/>
          </a:p>
        </p:txBody>
      </p:sp>
      <p:sp>
        <p:nvSpPr>
          <p:cNvPr id="17" name="Shape 15"/>
          <p:cNvSpPr/>
          <p:nvPr/>
        </p:nvSpPr>
        <p:spPr>
          <a:xfrm>
            <a:off x="3291840" y="2240280"/>
            <a:ext cx="868680" cy="807720"/>
          </a:xfrm>
          <a:prstGeom prst="rect">
            <a:avLst/>
          </a:prstGeom>
          <a:solidFill>
            <a:srgbClr val="EDE4D3"/>
          </a:solidFill>
          <a:ln w="9525">
            <a:solidFill>
              <a:srgbClr val="E3D6C0"/>
            </a:solidFill>
            <a:prstDash val="solid"/>
          </a:ln>
        </p:spPr>
      </p:sp>
      <p:sp>
        <p:nvSpPr>
          <p:cNvPr id="18" name="Text 16"/>
          <p:cNvSpPr txBox="1"/>
          <p:nvPr/>
        </p:nvSpPr>
        <p:spPr>
          <a:xfrm>
            <a:off x="3346704" y="2304288"/>
            <a:ext cx="758952" cy="201168"/>
          </a:xfrm>
          <a:prstGeom prst="rect">
            <a:avLst/>
          </a:prstGeom>
          <a:noFill/>
          <a:ln/>
        </p:spPr>
        <p:txBody>
          <a:bodyPr wrap="square" lIns="0" tIns="0" rIns="0" bIns="0" rtlCol="0" anchor="t"/>
          <a:lstStyle/>
          <a:p>
            <a:pPr indent="0" marL="0">
              <a:buNone/>
            </a:pPr>
            <a:r>
              <a:rPr lang="en-US" sz="1000" dirty="0">
                <a:solidFill>
                  <a:srgbClr val="5B6B5F"/>
                </a:solidFill>
              </a:rPr>
              <a:t>Relations</a:t>
            </a:r>
            <a:endParaRPr lang="en-US" sz="1000" dirty="0"/>
          </a:p>
        </p:txBody>
      </p:sp>
      <p:sp>
        <p:nvSpPr>
          <p:cNvPr id="19" name="Plan A (PD A) Relations"/>
          <p:cNvSpPr txBox="1"/>
          <p:nvPr/>
        </p:nvSpPr>
        <p:spPr>
          <a:xfrm>
            <a:off x="3337560" y="2514600"/>
            <a:ext cx="777240" cy="496824"/>
          </a:xfrm>
          <a:prstGeom prst="rect">
            <a:avLst/>
          </a:prstGeom>
          <a:noFill/>
          <a:ln/>
        </p:spPr>
        <p:txBody>
          <a:bodyPr wrap="square" lIns="0" tIns="0" rIns="0" bIns="0" rtlCol="0" anchor="t"/>
          <a:lstStyle/>
          <a:p>
            <a:pPr indent="0" marL="0">
              <a:buNone/>
            </a:pPr>
            <a:r>
              <a:rPr lang="en-US" sz="850" dirty="0">
                <a:solidFill>
                  <a:srgbClr val="5B6B5F"/>
                </a:solidFill>
              </a:rPr>
              <a:t>Self-service app</a:t>
            </a:r>
            <a:endParaRPr lang="en-US" sz="850" dirty="0"/>
          </a:p>
        </p:txBody>
      </p:sp>
      <p:sp>
        <p:nvSpPr>
          <p:cNvPr id="20" name="Shape 18"/>
          <p:cNvSpPr/>
          <p:nvPr/>
        </p:nvSpPr>
        <p:spPr>
          <a:xfrm>
            <a:off x="3291840" y="3048000"/>
            <a:ext cx="868680" cy="807720"/>
          </a:xfrm>
          <a:prstGeom prst="rect">
            <a:avLst/>
          </a:prstGeom>
          <a:solidFill>
            <a:srgbClr val="EDE4D3"/>
          </a:solidFill>
          <a:ln w="9525">
            <a:solidFill>
              <a:srgbClr val="E3D6C0"/>
            </a:solidFill>
            <a:prstDash val="solid"/>
          </a:ln>
        </p:spPr>
      </p:sp>
      <p:sp>
        <p:nvSpPr>
          <p:cNvPr id="21" name="Text 19"/>
          <p:cNvSpPr txBox="1"/>
          <p:nvPr/>
        </p:nvSpPr>
        <p:spPr>
          <a:xfrm>
            <a:off x="3346704" y="3112008"/>
            <a:ext cx="758952" cy="201168"/>
          </a:xfrm>
          <a:prstGeom prst="rect">
            <a:avLst/>
          </a:prstGeom>
          <a:noFill/>
          <a:ln/>
        </p:spPr>
        <p:txBody>
          <a:bodyPr wrap="square" lIns="0" tIns="0" rIns="0" bIns="0" rtlCol="0" anchor="t"/>
          <a:lstStyle/>
          <a:p>
            <a:pPr indent="0" marL="0">
              <a:buNone/>
            </a:pPr>
            <a:r>
              <a:rPr lang="en-US" sz="1000" dirty="0">
                <a:solidFill>
                  <a:srgbClr val="5B6B5F"/>
                </a:solidFill>
              </a:rPr>
              <a:t>Channels</a:t>
            </a:r>
            <a:endParaRPr lang="en-US" sz="1000" dirty="0"/>
          </a:p>
        </p:txBody>
      </p:sp>
      <p:sp>
        <p:nvSpPr>
          <p:cNvPr id="22" name="Plan A (PD A) Channels"/>
          <p:cNvSpPr txBox="1"/>
          <p:nvPr/>
        </p:nvSpPr>
        <p:spPr>
          <a:xfrm>
            <a:off x="3337560" y="3322320"/>
            <a:ext cx="777240" cy="496824"/>
          </a:xfrm>
          <a:prstGeom prst="rect">
            <a:avLst/>
          </a:prstGeom>
          <a:noFill/>
          <a:ln/>
        </p:spPr>
        <p:txBody>
          <a:bodyPr wrap="square" lIns="0" tIns="0" rIns="0" bIns="0" rtlCol="0" anchor="t"/>
          <a:lstStyle/>
          <a:p>
            <a:pPr indent="0" marL="0">
              <a:buNone/>
            </a:pPr>
            <a:r>
              <a:rPr lang="en-US" sz="850" dirty="0">
                <a:solidFill>
                  <a:srgbClr val="5B6B5F"/>
                </a:solidFill>
              </a:rPr>
              <a:t>Website, outreach</a:t>
            </a:r>
            <a:endParaRPr lang="en-US" sz="850" dirty="0"/>
          </a:p>
        </p:txBody>
      </p:sp>
      <p:sp>
        <p:nvSpPr>
          <p:cNvPr id="23" name="Shape 21"/>
          <p:cNvSpPr/>
          <p:nvPr/>
        </p:nvSpPr>
        <p:spPr>
          <a:xfrm>
            <a:off x="4160520" y="2240280"/>
            <a:ext cx="868680" cy="1615440"/>
          </a:xfrm>
          <a:prstGeom prst="rect">
            <a:avLst/>
          </a:prstGeom>
          <a:solidFill>
            <a:srgbClr val="EDE4D3"/>
          </a:solidFill>
          <a:ln w="9525">
            <a:solidFill>
              <a:srgbClr val="E3D6C0"/>
            </a:solidFill>
            <a:prstDash val="solid"/>
          </a:ln>
        </p:spPr>
      </p:sp>
      <p:sp>
        <p:nvSpPr>
          <p:cNvPr id="24" name="Text 22"/>
          <p:cNvSpPr txBox="1"/>
          <p:nvPr/>
        </p:nvSpPr>
        <p:spPr>
          <a:xfrm>
            <a:off x="4215384" y="2304288"/>
            <a:ext cx="758952" cy="201168"/>
          </a:xfrm>
          <a:prstGeom prst="rect">
            <a:avLst/>
          </a:prstGeom>
          <a:noFill/>
          <a:ln/>
        </p:spPr>
        <p:txBody>
          <a:bodyPr wrap="square" lIns="0" tIns="0" rIns="0" bIns="0" rtlCol="0" anchor="t"/>
          <a:lstStyle/>
          <a:p>
            <a:pPr indent="0" marL="0">
              <a:buNone/>
            </a:pPr>
            <a:r>
              <a:rPr lang="en-US" sz="1000" dirty="0">
                <a:solidFill>
                  <a:srgbClr val="5B6B5F"/>
                </a:solidFill>
              </a:rPr>
              <a:t>Segments</a:t>
            </a:r>
            <a:endParaRPr lang="en-US" sz="1000" dirty="0"/>
          </a:p>
        </p:txBody>
      </p:sp>
      <p:sp>
        <p:nvSpPr>
          <p:cNvPr id="25" name="Plan A (PD A) Segments"/>
          <p:cNvSpPr txBox="1"/>
          <p:nvPr/>
        </p:nvSpPr>
        <p:spPr>
          <a:xfrm>
            <a:off x="4206240" y="2514600"/>
            <a:ext cx="777240" cy="1304544"/>
          </a:xfrm>
          <a:prstGeom prst="rect">
            <a:avLst/>
          </a:prstGeom>
          <a:noFill/>
          <a:ln/>
        </p:spPr>
        <p:txBody>
          <a:bodyPr wrap="square" lIns="0" tIns="0" rIns="0" bIns="0" rtlCol="0" anchor="t"/>
          <a:lstStyle/>
          <a:p>
            <a:pPr indent="0" marL="0">
              <a:buNone/>
            </a:pPr>
            <a:r>
              <a:rPr lang="en-US" sz="850" dirty="0">
                <a:solidFill>
                  <a:srgbClr val="5B6B5F"/>
                </a:solidFill>
              </a:rPr>
              <a:t>Coworking, makerspaces, kitchens, labs</a:t>
            </a:r>
            <a:endParaRPr lang="en-US" sz="850" dirty="0"/>
          </a:p>
        </p:txBody>
      </p:sp>
      <p:sp>
        <p:nvSpPr>
          <p:cNvPr id="26" name="Shape 24"/>
          <p:cNvSpPr/>
          <p:nvPr/>
        </p:nvSpPr>
        <p:spPr>
          <a:xfrm>
            <a:off x="685800" y="3855720"/>
            <a:ext cx="2171700" cy="807720"/>
          </a:xfrm>
          <a:prstGeom prst="rect">
            <a:avLst/>
          </a:prstGeom>
          <a:solidFill>
            <a:srgbClr val="EDE4D3"/>
          </a:solidFill>
          <a:ln w="9525">
            <a:solidFill>
              <a:srgbClr val="E3D6C0"/>
            </a:solidFill>
            <a:prstDash val="solid"/>
          </a:ln>
        </p:spPr>
      </p:sp>
      <p:sp>
        <p:nvSpPr>
          <p:cNvPr id="27" name="Text 25"/>
          <p:cNvSpPr txBox="1"/>
          <p:nvPr/>
        </p:nvSpPr>
        <p:spPr>
          <a:xfrm>
            <a:off x="740664" y="3919728"/>
            <a:ext cx="2061972" cy="201168"/>
          </a:xfrm>
          <a:prstGeom prst="rect">
            <a:avLst/>
          </a:prstGeom>
          <a:noFill/>
          <a:ln/>
        </p:spPr>
        <p:txBody>
          <a:bodyPr wrap="square" lIns="0" tIns="0" rIns="0" bIns="0" rtlCol="0" anchor="t"/>
          <a:lstStyle/>
          <a:p>
            <a:pPr indent="0" marL="0">
              <a:buNone/>
            </a:pPr>
            <a:r>
              <a:rPr lang="en-US" sz="1000" dirty="0">
                <a:solidFill>
                  <a:srgbClr val="5B6B5F"/>
                </a:solidFill>
              </a:rPr>
              <a:t>Costs</a:t>
            </a:r>
            <a:endParaRPr lang="en-US" sz="1000" dirty="0"/>
          </a:p>
        </p:txBody>
      </p:sp>
      <p:sp>
        <p:nvSpPr>
          <p:cNvPr id="28" name="Plan A (PD A) Costs"/>
          <p:cNvSpPr txBox="1"/>
          <p:nvPr/>
        </p:nvSpPr>
        <p:spPr>
          <a:xfrm>
            <a:off x="731520" y="4130040"/>
            <a:ext cx="2080260" cy="496824"/>
          </a:xfrm>
          <a:prstGeom prst="rect">
            <a:avLst/>
          </a:prstGeom>
          <a:noFill/>
          <a:ln/>
        </p:spPr>
        <p:txBody>
          <a:bodyPr wrap="square" lIns="0" tIns="0" rIns="0" bIns="0" rtlCol="0" anchor="t"/>
          <a:lstStyle/>
          <a:p>
            <a:pPr indent="0" marL="0">
              <a:buNone/>
            </a:pPr>
            <a:r>
              <a:rPr lang="en-US" sz="850" dirty="0">
                <a:solidFill>
                  <a:srgbClr val="5B6B5F"/>
                </a:solidFill>
              </a:rPr>
              <a:t>Box, install, hosting</a:t>
            </a:r>
            <a:endParaRPr lang="en-US" sz="850" dirty="0"/>
          </a:p>
        </p:txBody>
      </p:sp>
      <p:sp>
        <p:nvSpPr>
          <p:cNvPr id="29" name="Shape 27"/>
          <p:cNvSpPr/>
          <p:nvPr/>
        </p:nvSpPr>
        <p:spPr>
          <a:xfrm>
            <a:off x="2857500" y="3855720"/>
            <a:ext cx="2171700" cy="807720"/>
          </a:xfrm>
          <a:prstGeom prst="rect">
            <a:avLst/>
          </a:prstGeom>
          <a:solidFill>
            <a:srgbClr val="EDE4D3"/>
          </a:solidFill>
          <a:ln w="9525">
            <a:solidFill>
              <a:srgbClr val="E3D6C0"/>
            </a:solidFill>
            <a:prstDash val="solid"/>
          </a:ln>
        </p:spPr>
      </p:sp>
      <p:sp>
        <p:nvSpPr>
          <p:cNvPr id="30" name="Text 28"/>
          <p:cNvSpPr txBox="1"/>
          <p:nvPr/>
        </p:nvSpPr>
        <p:spPr>
          <a:xfrm>
            <a:off x="2912364" y="3919728"/>
            <a:ext cx="2061972" cy="201168"/>
          </a:xfrm>
          <a:prstGeom prst="rect">
            <a:avLst/>
          </a:prstGeom>
          <a:noFill/>
          <a:ln/>
        </p:spPr>
        <p:txBody>
          <a:bodyPr wrap="square" lIns="0" tIns="0" rIns="0" bIns="0" rtlCol="0" anchor="t"/>
          <a:lstStyle/>
          <a:p>
            <a:pPr indent="0" marL="0">
              <a:buNone/>
            </a:pPr>
            <a:r>
              <a:rPr lang="en-US" sz="1000" dirty="0">
                <a:solidFill>
                  <a:srgbClr val="5B6B5F"/>
                </a:solidFill>
              </a:rPr>
              <a:t>Revenue</a:t>
            </a:r>
            <a:endParaRPr lang="en-US" sz="1000" dirty="0"/>
          </a:p>
        </p:txBody>
      </p:sp>
      <p:sp>
        <p:nvSpPr>
          <p:cNvPr id="31" name="Plan A (PD A) Revenue"/>
          <p:cNvSpPr txBox="1"/>
          <p:nvPr/>
        </p:nvSpPr>
        <p:spPr>
          <a:xfrm>
            <a:off x="2903220" y="4130040"/>
            <a:ext cx="2080260" cy="496824"/>
          </a:xfrm>
          <a:prstGeom prst="rect">
            <a:avLst/>
          </a:prstGeom>
          <a:noFill/>
          <a:ln/>
        </p:spPr>
        <p:txBody>
          <a:bodyPr wrap="square" lIns="0" tIns="0" rIns="0" bIns="0" rtlCol="0" anchor="t"/>
          <a:lstStyle/>
          <a:p>
            <a:pPr indent="0" marL="0">
              <a:buNone/>
            </a:pPr>
            <a:r>
              <a:rPr lang="en-US" sz="850" dirty="0">
                <a:solidFill>
                  <a:srgbClr val="5B6B5F"/>
                </a:solidFill>
              </a:rPr>
              <a:t>~$150 box + ~$10/machine/mo</a:t>
            </a:r>
            <a:endParaRPr lang="en-US" sz="850" dirty="0"/>
          </a:p>
        </p:txBody>
      </p:sp>
      <p:sp>
        <p:nvSpPr>
          <p:cNvPr id="32" name="Text 30"/>
          <p:cNvSpPr txBox="1"/>
          <p:nvPr/>
        </p:nvSpPr>
        <p:spPr>
          <a:xfrm>
            <a:off x="5212080" y="1417320"/>
            <a:ext cx="4343400" cy="365760"/>
          </a:xfrm>
          <a:prstGeom prst="rect">
            <a:avLst/>
          </a:prstGeom>
          <a:noFill/>
          <a:ln/>
        </p:spPr>
        <p:txBody>
          <a:bodyPr wrap="square" lIns="0" tIns="0" rIns="0" bIns="0" rtlCol="0" anchor="ctr"/>
          <a:lstStyle/>
          <a:p>
            <a:pPr indent="0" marL="0">
              <a:buNone/>
            </a:pPr>
            <a:r>
              <a:rPr lang="en-US" sz="1800" b="1" dirty="0">
                <a:solidFill>
                  <a:srgbClr val="1F3D2B"/>
                </a:solidFill>
                <a:latin typeface="Space Grotesk" pitchFamily="34" charset="0"/>
                <a:ea typeface="Space Grotesk" pitchFamily="34" charset="-122"/>
                <a:cs typeface="Space Grotesk" pitchFamily="34" charset="-120"/>
              </a:rPr>
              <a:t>Plan B (now)</a:t>
            </a:r>
            <a:endParaRPr lang="en-US" sz="1800" dirty="0"/>
          </a:p>
        </p:txBody>
      </p:sp>
      <p:sp>
        <p:nvSpPr>
          <p:cNvPr id="33" name="Text 31"/>
          <p:cNvSpPr txBox="1"/>
          <p:nvPr/>
        </p:nvSpPr>
        <p:spPr>
          <a:xfrm>
            <a:off x="5212080" y="1783080"/>
            <a:ext cx="4343400" cy="320040"/>
          </a:xfrm>
          <a:prstGeom prst="rect">
            <a:avLst/>
          </a:prstGeom>
          <a:noFill/>
          <a:ln/>
        </p:spPr>
        <p:txBody>
          <a:bodyPr wrap="square" lIns="0" tIns="0" rIns="0" bIns="0" rtlCol="0" anchor="ctr"/>
          <a:lstStyle/>
          <a:p>
            <a:pPr indent="0" marL="0">
              <a:buNone/>
            </a:pPr>
            <a:r>
              <a:rPr lang="en-US" sz="1300" dirty="0">
                <a:solidFill>
                  <a:srgbClr val="5B6B5F"/>
                </a:solidFill>
              </a:rPr>
              <a:t>Safety and predictive maintenance</a:t>
            </a:r>
            <a:endParaRPr lang="en-US" sz="1300" dirty="0"/>
          </a:p>
        </p:txBody>
      </p:sp>
      <p:sp>
        <p:nvSpPr>
          <p:cNvPr id="34" name="Shape 32"/>
          <p:cNvSpPr/>
          <p:nvPr/>
        </p:nvSpPr>
        <p:spPr>
          <a:xfrm>
            <a:off x="5212080" y="2240280"/>
            <a:ext cx="868680" cy="1615440"/>
          </a:xfrm>
          <a:prstGeom prst="rect">
            <a:avLst/>
          </a:prstGeom>
          <a:solidFill>
            <a:srgbClr val="F6D2B4"/>
          </a:solidFill>
          <a:ln w="19050">
            <a:solidFill>
              <a:srgbClr val="E07A2E"/>
            </a:solidFill>
            <a:prstDash val="solid"/>
          </a:ln>
        </p:spPr>
      </p:sp>
      <p:sp>
        <p:nvSpPr>
          <p:cNvPr id="35" name="Text 33"/>
          <p:cNvSpPr txBox="1"/>
          <p:nvPr/>
        </p:nvSpPr>
        <p:spPr>
          <a:xfrm>
            <a:off x="5266944" y="2304288"/>
            <a:ext cx="758952" cy="201168"/>
          </a:xfrm>
          <a:prstGeom prst="rect">
            <a:avLst/>
          </a:prstGeom>
          <a:noFill/>
          <a:ln/>
        </p:spPr>
        <p:txBody>
          <a:bodyPr wrap="square" lIns="0" tIns="0" rIns="0" bIns="0" rtlCol="0" anchor="t"/>
          <a:lstStyle/>
          <a:p>
            <a:pPr indent="0" marL="0">
              <a:buNone/>
            </a:pPr>
            <a:r>
              <a:rPr lang="en-US" sz="1000" b="1" dirty="0">
                <a:solidFill>
                  <a:srgbClr val="1F3D2B"/>
                </a:solidFill>
              </a:rPr>
              <a:t>Partners</a:t>
            </a:r>
            <a:endParaRPr lang="en-US" sz="1000" dirty="0"/>
          </a:p>
        </p:txBody>
      </p:sp>
      <p:sp>
        <p:nvSpPr>
          <p:cNvPr id="36" name="Plan B (now) Partners"/>
          <p:cNvSpPr txBox="1"/>
          <p:nvPr/>
        </p:nvSpPr>
        <p:spPr>
          <a:xfrm>
            <a:off x="5257800" y="2514600"/>
            <a:ext cx="777240" cy="1304544"/>
          </a:xfrm>
          <a:prstGeom prst="rect">
            <a:avLst/>
          </a:prstGeom>
          <a:noFill/>
          <a:ln/>
        </p:spPr>
        <p:txBody>
          <a:bodyPr wrap="square" lIns="0" tIns="0" rIns="0" bIns="0" rtlCol="0" anchor="t"/>
          <a:lstStyle/>
          <a:p>
            <a:pPr indent="0" marL="0">
              <a:buNone/>
            </a:pPr>
            <a:r>
              <a:rPr lang="en-US" sz="850" dirty="0">
                <a:solidFill>
                  <a:srgbClr val="1F3D2B"/>
                </a:solidFill>
              </a:rPr>
              <a:t>Suppliers, </a:t>
            </a:r>
            <a:pPr indent="0" marL="0">
              <a:buNone/>
            </a:pPr>
            <a:r>
              <a:rPr lang="en-US" sz="850" b="1" dirty="0">
                <a:solidFill>
                  <a:srgbClr val="1F3D2B"/>
                </a:solidFill>
              </a:rPr>
              <a:t>technician network</a:t>
            </a:r>
            <a:pPr indent="0" marL="0">
              <a:buNone/>
            </a:pPr>
            <a:r>
              <a:rPr lang="en-US" sz="850" dirty="0">
                <a:solidFill>
                  <a:srgbClr val="1F3D2B"/>
                </a:solidFill>
              </a:rPr>
              <a:t>, booking platforms</a:t>
            </a:r>
            <a:endParaRPr lang="en-US" sz="850" dirty="0"/>
          </a:p>
        </p:txBody>
      </p:sp>
      <p:sp>
        <p:nvSpPr>
          <p:cNvPr id="37" name="Shape 35"/>
          <p:cNvSpPr/>
          <p:nvPr/>
        </p:nvSpPr>
        <p:spPr>
          <a:xfrm>
            <a:off x="6080760" y="2240280"/>
            <a:ext cx="868680" cy="807720"/>
          </a:xfrm>
          <a:prstGeom prst="rect">
            <a:avLst/>
          </a:prstGeom>
          <a:solidFill>
            <a:srgbClr val="F6D2B4"/>
          </a:solidFill>
          <a:ln w="19050">
            <a:solidFill>
              <a:srgbClr val="E07A2E"/>
            </a:solidFill>
            <a:prstDash val="solid"/>
          </a:ln>
        </p:spPr>
      </p:sp>
      <p:sp>
        <p:nvSpPr>
          <p:cNvPr id="38" name="Text 36"/>
          <p:cNvSpPr txBox="1"/>
          <p:nvPr/>
        </p:nvSpPr>
        <p:spPr>
          <a:xfrm>
            <a:off x="6135624" y="2304288"/>
            <a:ext cx="758952" cy="201168"/>
          </a:xfrm>
          <a:prstGeom prst="rect">
            <a:avLst/>
          </a:prstGeom>
          <a:noFill/>
          <a:ln/>
        </p:spPr>
        <p:txBody>
          <a:bodyPr wrap="square" lIns="0" tIns="0" rIns="0" bIns="0" rtlCol="0" anchor="t"/>
          <a:lstStyle/>
          <a:p>
            <a:pPr indent="0" marL="0">
              <a:buNone/>
            </a:pPr>
            <a:r>
              <a:rPr lang="en-US" sz="1000" b="1" dirty="0">
                <a:solidFill>
                  <a:srgbClr val="1F3D2B"/>
                </a:solidFill>
              </a:rPr>
              <a:t>Activities</a:t>
            </a:r>
            <a:endParaRPr lang="en-US" sz="1000" dirty="0"/>
          </a:p>
        </p:txBody>
      </p:sp>
      <p:sp>
        <p:nvSpPr>
          <p:cNvPr id="39" name="Plan B (now) Activities"/>
          <p:cNvSpPr txBox="1"/>
          <p:nvPr/>
        </p:nvSpPr>
        <p:spPr>
          <a:xfrm>
            <a:off x="6126480" y="2514600"/>
            <a:ext cx="777240" cy="496824"/>
          </a:xfrm>
          <a:prstGeom prst="rect">
            <a:avLst/>
          </a:prstGeom>
          <a:noFill/>
          <a:ln/>
        </p:spPr>
        <p:txBody>
          <a:bodyPr wrap="square" lIns="0" tIns="0" rIns="0" bIns="0" rtlCol="0" anchor="t"/>
          <a:lstStyle/>
          <a:p>
            <a:pPr indent="0" marL="0">
              <a:buNone/>
            </a:pPr>
            <a:r>
              <a:rPr lang="en-US" sz="850" dirty="0">
                <a:solidFill>
                  <a:srgbClr val="1F3D2B"/>
                </a:solidFill>
              </a:rPr>
              <a:t>Box + app, </a:t>
            </a:r>
            <a:pPr indent="0" marL="0">
              <a:buNone/>
            </a:pPr>
            <a:r>
              <a:rPr lang="en-US" sz="850" b="1" dirty="0">
                <a:solidFill>
                  <a:srgbClr val="1F3D2B"/>
                </a:solidFill>
              </a:rPr>
              <a:t>AI curve learning, alerts</a:t>
            </a:r>
            <a:endParaRPr lang="en-US" sz="850" dirty="0"/>
          </a:p>
        </p:txBody>
      </p:sp>
      <p:sp>
        <p:nvSpPr>
          <p:cNvPr id="40" name="Shape 38"/>
          <p:cNvSpPr/>
          <p:nvPr/>
        </p:nvSpPr>
        <p:spPr>
          <a:xfrm>
            <a:off x="6080760" y="3048000"/>
            <a:ext cx="868680" cy="807720"/>
          </a:xfrm>
          <a:prstGeom prst="rect">
            <a:avLst/>
          </a:prstGeom>
          <a:solidFill>
            <a:srgbClr val="F6D2B4"/>
          </a:solidFill>
          <a:ln w="19050">
            <a:solidFill>
              <a:srgbClr val="E07A2E"/>
            </a:solidFill>
            <a:prstDash val="solid"/>
          </a:ln>
        </p:spPr>
      </p:sp>
      <p:sp>
        <p:nvSpPr>
          <p:cNvPr id="41" name="Text 39"/>
          <p:cNvSpPr txBox="1"/>
          <p:nvPr/>
        </p:nvSpPr>
        <p:spPr>
          <a:xfrm>
            <a:off x="6135624" y="3112008"/>
            <a:ext cx="758952" cy="201168"/>
          </a:xfrm>
          <a:prstGeom prst="rect">
            <a:avLst/>
          </a:prstGeom>
          <a:noFill/>
          <a:ln/>
        </p:spPr>
        <p:txBody>
          <a:bodyPr wrap="square" lIns="0" tIns="0" rIns="0" bIns="0" rtlCol="0" anchor="t"/>
          <a:lstStyle/>
          <a:p>
            <a:pPr indent="0" marL="0">
              <a:buNone/>
            </a:pPr>
            <a:r>
              <a:rPr lang="en-US" sz="1000" b="1" dirty="0">
                <a:solidFill>
                  <a:srgbClr val="1F3D2B"/>
                </a:solidFill>
              </a:rPr>
              <a:t>Resources</a:t>
            </a:r>
            <a:endParaRPr lang="en-US" sz="1000" dirty="0"/>
          </a:p>
        </p:txBody>
      </p:sp>
      <p:sp>
        <p:nvSpPr>
          <p:cNvPr id="42" name="Plan B (now) Resources"/>
          <p:cNvSpPr txBox="1"/>
          <p:nvPr/>
        </p:nvSpPr>
        <p:spPr>
          <a:xfrm>
            <a:off x="6126480" y="3322320"/>
            <a:ext cx="777240" cy="496824"/>
          </a:xfrm>
          <a:prstGeom prst="rect">
            <a:avLst/>
          </a:prstGeom>
          <a:noFill/>
          <a:ln/>
        </p:spPr>
        <p:txBody>
          <a:bodyPr wrap="square" lIns="0" tIns="0" rIns="0" bIns="0" rtlCol="0" anchor="t"/>
          <a:lstStyle/>
          <a:p>
            <a:pPr indent="0" marL="0">
              <a:buNone/>
            </a:pPr>
            <a:r>
              <a:rPr lang="en-US" sz="850" b="1" dirty="0">
                <a:solidFill>
                  <a:srgbClr val="1F3D2B"/>
                </a:solidFill>
              </a:rPr>
              <a:t>Anomaly model, irregularity history</a:t>
            </a:r>
            <a:endParaRPr lang="en-US" sz="850" dirty="0"/>
          </a:p>
        </p:txBody>
      </p:sp>
      <p:sp>
        <p:nvSpPr>
          <p:cNvPr id="43" name="Shape 41"/>
          <p:cNvSpPr/>
          <p:nvPr/>
        </p:nvSpPr>
        <p:spPr>
          <a:xfrm>
            <a:off x="6949440" y="2240280"/>
            <a:ext cx="868680" cy="1615440"/>
          </a:xfrm>
          <a:prstGeom prst="rect">
            <a:avLst/>
          </a:prstGeom>
          <a:solidFill>
            <a:srgbClr val="F6D2B4"/>
          </a:solidFill>
          <a:ln w="19050">
            <a:solidFill>
              <a:srgbClr val="E07A2E"/>
            </a:solidFill>
            <a:prstDash val="solid"/>
          </a:ln>
        </p:spPr>
      </p:sp>
      <p:sp>
        <p:nvSpPr>
          <p:cNvPr id="44" name="Text 42"/>
          <p:cNvSpPr txBox="1"/>
          <p:nvPr/>
        </p:nvSpPr>
        <p:spPr>
          <a:xfrm>
            <a:off x="7004304" y="2304288"/>
            <a:ext cx="758952" cy="201168"/>
          </a:xfrm>
          <a:prstGeom prst="rect">
            <a:avLst/>
          </a:prstGeom>
          <a:noFill/>
          <a:ln/>
        </p:spPr>
        <p:txBody>
          <a:bodyPr wrap="square" lIns="0" tIns="0" rIns="0" bIns="0" rtlCol="0" anchor="t"/>
          <a:lstStyle/>
          <a:p>
            <a:pPr indent="0" marL="0">
              <a:buNone/>
            </a:pPr>
            <a:r>
              <a:rPr lang="en-US" sz="1000" b="1" dirty="0">
                <a:solidFill>
                  <a:srgbClr val="1F3D2B"/>
                </a:solidFill>
              </a:rPr>
              <a:t>Value</a:t>
            </a:r>
            <a:endParaRPr lang="en-US" sz="1000" dirty="0"/>
          </a:p>
        </p:txBody>
      </p:sp>
      <p:sp>
        <p:nvSpPr>
          <p:cNvPr id="45" name="Plan B (now) Value"/>
          <p:cNvSpPr txBox="1"/>
          <p:nvPr/>
        </p:nvSpPr>
        <p:spPr>
          <a:xfrm>
            <a:off x="6995160" y="2514600"/>
            <a:ext cx="777240" cy="1304544"/>
          </a:xfrm>
          <a:prstGeom prst="rect">
            <a:avLst/>
          </a:prstGeom>
          <a:noFill/>
          <a:ln/>
        </p:spPr>
        <p:txBody>
          <a:bodyPr wrap="square" lIns="0" tIns="0" rIns="0" bIns="0" rtlCol="0" anchor="t"/>
          <a:lstStyle/>
          <a:p>
            <a:pPr indent="0" marL="0">
              <a:buNone/>
            </a:pPr>
            <a:r>
              <a:rPr lang="en-US" sz="850" b="1" dirty="0">
                <a:solidFill>
                  <a:srgbClr val="1F3D2B"/>
                </a:solidFill>
              </a:rPr>
              <a:t>Warn before failure</a:t>
            </a:r>
            <a:pPr indent="0" marL="0">
              <a:buNone/>
            </a:pPr>
            <a:r>
              <a:rPr lang="en-US" sz="850" dirty="0">
                <a:solidFill>
                  <a:srgbClr val="1F3D2B"/>
                </a:solidFill>
              </a:rPr>
              <a:t>, remote shutdown, idle shut-off</a:t>
            </a:r>
            <a:endParaRPr lang="en-US" sz="850" dirty="0"/>
          </a:p>
        </p:txBody>
      </p:sp>
      <p:sp>
        <p:nvSpPr>
          <p:cNvPr id="46" name="Shape 44"/>
          <p:cNvSpPr/>
          <p:nvPr/>
        </p:nvSpPr>
        <p:spPr>
          <a:xfrm>
            <a:off x="7818120" y="2240280"/>
            <a:ext cx="868680" cy="807720"/>
          </a:xfrm>
          <a:prstGeom prst="rect">
            <a:avLst/>
          </a:prstGeom>
          <a:solidFill>
            <a:srgbClr val="FFFDF8"/>
          </a:solidFill>
          <a:ln w="9525">
            <a:solidFill>
              <a:srgbClr val="E3D6C0"/>
            </a:solidFill>
            <a:prstDash val="solid"/>
          </a:ln>
        </p:spPr>
      </p:sp>
      <p:sp>
        <p:nvSpPr>
          <p:cNvPr id="47" name="Text 45"/>
          <p:cNvSpPr txBox="1"/>
          <p:nvPr/>
        </p:nvSpPr>
        <p:spPr>
          <a:xfrm>
            <a:off x="7872984" y="2304288"/>
            <a:ext cx="758952" cy="201168"/>
          </a:xfrm>
          <a:prstGeom prst="rect">
            <a:avLst/>
          </a:prstGeom>
          <a:noFill/>
          <a:ln/>
        </p:spPr>
        <p:txBody>
          <a:bodyPr wrap="square" lIns="0" tIns="0" rIns="0" bIns="0" rtlCol="0" anchor="t"/>
          <a:lstStyle/>
          <a:p>
            <a:pPr indent="0" marL="0">
              <a:buNone/>
            </a:pPr>
            <a:r>
              <a:rPr lang="en-US" sz="1000" dirty="0">
                <a:solidFill>
                  <a:srgbClr val="5B6B5F"/>
                </a:solidFill>
              </a:rPr>
              <a:t>Relations</a:t>
            </a:r>
            <a:endParaRPr lang="en-US" sz="1000" dirty="0"/>
          </a:p>
        </p:txBody>
      </p:sp>
      <p:sp>
        <p:nvSpPr>
          <p:cNvPr id="48" name="Plan B (now) Relations"/>
          <p:cNvSpPr txBox="1"/>
          <p:nvPr/>
        </p:nvSpPr>
        <p:spPr>
          <a:xfrm>
            <a:off x="7863840" y="2514600"/>
            <a:ext cx="777240" cy="496824"/>
          </a:xfrm>
          <a:prstGeom prst="rect">
            <a:avLst/>
          </a:prstGeom>
          <a:noFill/>
          <a:ln/>
        </p:spPr>
        <p:txBody>
          <a:bodyPr wrap="square" lIns="0" tIns="0" rIns="0" bIns="0" rtlCol="0" anchor="t"/>
          <a:lstStyle/>
          <a:p>
            <a:pPr indent="0" marL="0">
              <a:buNone/>
            </a:pPr>
            <a:r>
              <a:rPr lang="en-US" sz="850" dirty="0">
                <a:solidFill>
                  <a:srgbClr val="1F3D2B"/>
                </a:solidFill>
              </a:rPr>
              <a:t>App + </a:t>
            </a:r>
            <a:pPr indent="0" marL="0">
              <a:buNone/>
            </a:pPr>
            <a:r>
              <a:rPr lang="en-US" sz="850" b="1" dirty="0">
                <a:solidFill>
                  <a:srgbClr val="1F3D2B"/>
                </a:solidFill>
              </a:rPr>
              <a:t>alert follow-up</a:t>
            </a:r>
            <a:endParaRPr lang="en-US" sz="850" dirty="0"/>
          </a:p>
        </p:txBody>
      </p:sp>
      <p:sp>
        <p:nvSpPr>
          <p:cNvPr id="49" name="Shape 47"/>
          <p:cNvSpPr/>
          <p:nvPr/>
        </p:nvSpPr>
        <p:spPr>
          <a:xfrm>
            <a:off x="7818120" y="3048000"/>
            <a:ext cx="868680" cy="807720"/>
          </a:xfrm>
          <a:prstGeom prst="rect">
            <a:avLst/>
          </a:prstGeom>
          <a:solidFill>
            <a:srgbClr val="FFFDF8"/>
          </a:solidFill>
          <a:ln w="9525">
            <a:solidFill>
              <a:srgbClr val="E3D6C0"/>
            </a:solidFill>
            <a:prstDash val="solid"/>
          </a:ln>
        </p:spPr>
      </p:sp>
      <p:sp>
        <p:nvSpPr>
          <p:cNvPr id="50" name="Text 48"/>
          <p:cNvSpPr txBox="1"/>
          <p:nvPr/>
        </p:nvSpPr>
        <p:spPr>
          <a:xfrm>
            <a:off x="7872984" y="3112008"/>
            <a:ext cx="758952" cy="201168"/>
          </a:xfrm>
          <a:prstGeom prst="rect">
            <a:avLst/>
          </a:prstGeom>
          <a:noFill/>
          <a:ln/>
        </p:spPr>
        <p:txBody>
          <a:bodyPr wrap="square" lIns="0" tIns="0" rIns="0" bIns="0" rtlCol="0" anchor="t"/>
          <a:lstStyle/>
          <a:p>
            <a:pPr indent="0" marL="0">
              <a:buNone/>
            </a:pPr>
            <a:r>
              <a:rPr lang="en-US" sz="1000" dirty="0">
                <a:solidFill>
                  <a:srgbClr val="5B6B5F"/>
                </a:solidFill>
              </a:rPr>
              <a:t>Channels</a:t>
            </a:r>
            <a:endParaRPr lang="en-US" sz="1000" dirty="0"/>
          </a:p>
        </p:txBody>
      </p:sp>
      <p:sp>
        <p:nvSpPr>
          <p:cNvPr id="51" name="Plan B (now) Channels"/>
          <p:cNvSpPr txBox="1"/>
          <p:nvPr/>
        </p:nvSpPr>
        <p:spPr>
          <a:xfrm>
            <a:off x="7863840" y="3322320"/>
            <a:ext cx="777240" cy="496824"/>
          </a:xfrm>
          <a:prstGeom prst="rect">
            <a:avLst/>
          </a:prstGeom>
          <a:noFill/>
          <a:ln/>
        </p:spPr>
        <p:txBody>
          <a:bodyPr wrap="square" lIns="0" tIns="0" rIns="0" bIns="0" rtlCol="0" anchor="t"/>
          <a:lstStyle/>
          <a:p>
            <a:pPr indent="0" marL="0">
              <a:buNone/>
            </a:pPr>
            <a:r>
              <a:rPr lang="en-US" sz="850" dirty="0">
                <a:solidFill>
                  <a:srgbClr val="1F3D2B"/>
                </a:solidFill>
              </a:rPr>
              <a:t>Website, outreach, </a:t>
            </a:r>
            <a:pPr indent="0" marL="0">
              <a:buNone/>
            </a:pPr>
            <a:r>
              <a:rPr lang="en-US" sz="850" b="1" dirty="0">
                <a:solidFill>
                  <a:srgbClr val="1F3D2B"/>
                </a:solidFill>
              </a:rPr>
              <a:t>partner referrals</a:t>
            </a:r>
            <a:endParaRPr lang="en-US" sz="850" dirty="0"/>
          </a:p>
        </p:txBody>
      </p:sp>
      <p:sp>
        <p:nvSpPr>
          <p:cNvPr id="52" name="Shape 50"/>
          <p:cNvSpPr/>
          <p:nvPr/>
        </p:nvSpPr>
        <p:spPr>
          <a:xfrm>
            <a:off x="8686800" y="2240280"/>
            <a:ext cx="868680" cy="1615440"/>
          </a:xfrm>
          <a:prstGeom prst="rect">
            <a:avLst/>
          </a:prstGeom>
          <a:solidFill>
            <a:srgbClr val="F6D2B4"/>
          </a:solidFill>
          <a:ln w="19050">
            <a:solidFill>
              <a:srgbClr val="E07A2E"/>
            </a:solidFill>
            <a:prstDash val="solid"/>
          </a:ln>
        </p:spPr>
      </p:sp>
      <p:sp>
        <p:nvSpPr>
          <p:cNvPr id="53" name="Text 51"/>
          <p:cNvSpPr txBox="1"/>
          <p:nvPr/>
        </p:nvSpPr>
        <p:spPr>
          <a:xfrm>
            <a:off x="8741664" y="2304288"/>
            <a:ext cx="758952" cy="201168"/>
          </a:xfrm>
          <a:prstGeom prst="rect">
            <a:avLst/>
          </a:prstGeom>
          <a:noFill/>
          <a:ln/>
        </p:spPr>
        <p:txBody>
          <a:bodyPr wrap="square" lIns="0" tIns="0" rIns="0" bIns="0" rtlCol="0" anchor="t"/>
          <a:lstStyle/>
          <a:p>
            <a:pPr indent="0" marL="0">
              <a:buNone/>
            </a:pPr>
            <a:r>
              <a:rPr lang="en-US" sz="1000" b="1" dirty="0">
                <a:solidFill>
                  <a:srgbClr val="1F3D2B"/>
                </a:solidFill>
              </a:rPr>
              <a:t>Segments</a:t>
            </a:r>
            <a:endParaRPr lang="en-US" sz="1000" dirty="0"/>
          </a:p>
        </p:txBody>
      </p:sp>
      <p:sp>
        <p:nvSpPr>
          <p:cNvPr id="54" name="Plan B (now) Segments"/>
          <p:cNvSpPr txBox="1"/>
          <p:nvPr/>
        </p:nvSpPr>
        <p:spPr>
          <a:xfrm>
            <a:off x="8732520" y="2514600"/>
            <a:ext cx="777240" cy="1304544"/>
          </a:xfrm>
          <a:prstGeom prst="rect">
            <a:avLst/>
          </a:prstGeom>
          <a:noFill/>
          <a:ln/>
        </p:spPr>
        <p:txBody>
          <a:bodyPr wrap="square" lIns="0" tIns="0" rIns="0" bIns="0" rtlCol="0" anchor="t"/>
          <a:lstStyle/>
          <a:p>
            <a:pPr indent="0" marL="0">
              <a:buNone/>
            </a:pPr>
            <a:r>
              <a:rPr lang="en-US" sz="850" b="1" dirty="0">
                <a:solidFill>
                  <a:srgbClr val="1F3D2B"/>
                </a:solidFill>
              </a:rPr>
              <a:t>Makerspaces, labs</a:t>
            </a:r>
            <a:pPr indent="0" marL="0">
              <a:buNone/>
            </a:pPr>
            <a:r>
              <a:rPr lang="en-US" sz="850" dirty="0">
                <a:solidFill>
                  <a:srgbClr val="1F3D2B"/>
                </a:solidFill>
              </a:rPr>
              <a:t> first, then kitchens</a:t>
            </a:r>
            <a:endParaRPr lang="en-US" sz="850" dirty="0"/>
          </a:p>
        </p:txBody>
      </p:sp>
      <p:sp>
        <p:nvSpPr>
          <p:cNvPr id="55" name="Shape 53"/>
          <p:cNvSpPr/>
          <p:nvPr/>
        </p:nvSpPr>
        <p:spPr>
          <a:xfrm>
            <a:off x="5212080" y="3855720"/>
            <a:ext cx="2171700" cy="807720"/>
          </a:xfrm>
          <a:prstGeom prst="rect">
            <a:avLst/>
          </a:prstGeom>
          <a:solidFill>
            <a:srgbClr val="FFFDF8"/>
          </a:solidFill>
          <a:ln w="9525">
            <a:solidFill>
              <a:srgbClr val="E3D6C0"/>
            </a:solidFill>
            <a:prstDash val="solid"/>
          </a:ln>
        </p:spPr>
      </p:sp>
      <p:sp>
        <p:nvSpPr>
          <p:cNvPr id="56" name="Text 54"/>
          <p:cNvSpPr txBox="1"/>
          <p:nvPr/>
        </p:nvSpPr>
        <p:spPr>
          <a:xfrm>
            <a:off x="5266944" y="3919728"/>
            <a:ext cx="2061972" cy="201168"/>
          </a:xfrm>
          <a:prstGeom prst="rect">
            <a:avLst/>
          </a:prstGeom>
          <a:noFill/>
          <a:ln/>
        </p:spPr>
        <p:txBody>
          <a:bodyPr wrap="square" lIns="0" tIns="0" rIns="0" bIns="0" rtlCol="0" anchor="t"/>
          <a:lstStyle/>
          <a:p>
            <a:pPr indent="0" marL="0">
              <a:buNone/>
            </a:pPr>
            <a:r>
              <a:rPr lang="en-US" sz="1000" dirty="0">
                <a:solidFill>
                  <a:srgbClr val="5B6B5F"/>
                </a:solidFill>
              </a:rPr>
              <a:t>Costs</a:t>
            </a:r>
            <a:endParaRPr lang="en-US" sz="1000" dirty="0"/>
          </a:p>
        </p:txBody>
      </p:sp>
      <p:sp>
        <p:nvSpPr>
          <p:cNvPr id="57" name="Plan B (now) Costs"/>
          <p:cNvSpPr txBox="1"/>
          <p:nvPr/>
        </p:nvSpPr>
        <p:spPr>
          <a:xfrm>
            <a:off x="5257800" y="4130040"/>
            <a:ext cx="2080260" cy="496824"/>
          </a:xfrm>
          <a:prstGeom prst="rect">
            <a:avLst/>
          </a:prstGeom>
          <a:noFill/>
          <a:ln/>
        </p:spPr>
        <p:txBody>
          <a:bodyPr wrap="square" lIns="0" tIns="0" rIns="0" bIns="0" rtlCol="0" anchor="t"/>
          <a:lstStyle/>
          <a:p>
            <a:pPr indent="0" marL="0">
              <a:buNone/>
            </a:pPr>
            <a:r>
              <a:rPr lang="en-US" sz="850" dirty="0">
                <a:solidFill>
                  <a:srgbClr val="1F3D2B"/>
                </a:solidFill>
              </a:rPr>
              <a:t>Box, install, hosting + </a:t>
            </a:r>
            <a:pPr indent="0" marL="0">
              <a:buNone/>
            </a:pPr>
            <a:r>
              <a:rPr lang="en-US" sz="850" b="1" dirty="0">
                <a:solidFill>
                  <a:srgbClr val="1F3D2B"/>
                </a:solidFill>
              </a:rPr>
              <a:t>AI development</a:t>
            </a:r>
            <a:endParaRPr lang="en-US" sz="850" dirty="0"/>
          </a:p>
        </p:txBody>
      </p:sp>
      <p:sp>
        <p:nvSpPr>
          <p:cNvPr id="58" name="Shape 56"/>
          <p:cNvSpPr/>
          <p:nvPr/>
        </p:nvSpPr>
        <p:spPr>
          <a:xfrm>
            <a:off x="7383780" y="3855720"/>
            <a:ext cx="2171700" cy="807720"/>
          </a:xfrm>
          <a:prstGeom prst="rect">
            <a:avLst/>
          </a:prstGeom>
          <a:solidFill>
            <a:srgbClr val="F6D2B4"/>
          </a:solidFill>
          <a:ln w="19050">
            <a:solidFill>
              <a:srgbClr val="E07A2E"/>
            </a:solidFill>
            <a:prstDash val="solid"/>
          </a:ln>
        </p:spPr>
      </p:sp>
      <p:sp>
        <p:nvSpPr>
          <p:cNvPr id="59" name="Text 57"/>
          <p:cNvSpPr txBox="1"/>
          <p:nvPr/>
        </p:nvSpPr>
        <p:spPr>
          <a:xfrm>
            <a:off x="7438644" y="3919728"/>
            <a:ext cx="2061972" cy="201168"/>
          </a:xfrm>
          <a:prstGeom prst="rect">
            <a:avLst/>
          </a:prstGeom>
          <a:noFill/>
          <a:ln/>
        </p:spPr>
        <p:txBody>
          <a:bodyPr wrap="square" lIns="0" tIns="0" rIns="0" bIns="0" rtlCol="0" anchor="t"/>
          <a:lstStyle/>
          <a:p>
            <a:pPr indent="0" marL="0">
              <a:buNone/>
            </a:pPr>
            <a:r>
              <a:rPr lang="en-US" sz="1000" b="1" dirty="0">
                <a:solidFill>
                  <a:srgbClr val="1F3D2B"/>
                </a:solidFill>
              </a:rPr>
              <a:t>Revenue</a:t>
            </a:r>
            <a:endParaRPr lang="en-US" sz="1000" dirty="0"/>
          </a:p>
        </p:txBody>
      </p:sp>
      <p:sp>
        <p:nvSpPr>
          <p:cNvPr id="60" name="Plan B (now) Revenue"/>
          <p:cNvSpPr txBox="1"/>
          <p:nvPr/>
        </p:nvSpPr>
        <p:spPr>
          <a:xfrm>
            <a:off x="7429500" y="4130040"/>
            <a:ext cx="2080260" cy="496824"/>
          </a:xfrm>
          <a:prstGeom prst="rect">
            <a:avLst/>
          </a:prstGeom>
          <a:noFill/>
          <a:ln/>
        </p:spPr>
        <p:txBody>
          <a:bodyPr wrap="square" lIns="0" tIns="0" rIns="0" bIns="0" rtlCol="0" anchor="t"/>
          <a:lstStyle/>
          <a:p>
            <a:pPr indent="0" marL="0">
              <a:buNone/>
            </a:pPr>
            <a:r>
              <a:rPr lang="en-US" sz="850" dirty="0">
                <a:solidFill>
                  <a:srgbClr val="1F3D2B"/>
                </a:solidFill>
              </a:rPr>
              <a:t>~$300 box + ~$25/machine/mo + referral</a:t>
            </a:r>
            <a:endParaRPr lang="en-US" sz="850" dirty="0"/>
          </a:p>
        </p:txBody>
      </p:sp>
      <p:sp>
        <p:nvSpPr>
          <p:cNvPr id="61" name="Text 59"/>
          <p:cNvSpPr txBox="1"/>
          <p:nvPr/>
        </p:nvSpPr>
        <p:spPr>
          <a:xfrm>
            <a:off x="5212080" y="4709160"/>
            <a:ext cx="4343400" cy="274320"/>
          </a:xfrm>
          <a:prstGeom prst="rect">
            <a:avLst/>
          </a:prstGeom>
          <a:noFill/>
          <a:ln/>
        </p:spPr>
        <p:txBody>
          <a:bodyPr wrap="square" lIns="0" tIns="0" rIns="0" bIns="0" rtlCol="0" anchor="ctr"/>
          <a:lstStyle/>
          <a:p>
            <a:pPr indent="0" marL="0">
              <a:buNone/>
            </a:pPr>
            <a:r>
              <a:rPr lang="en-US" sz="1100" dirty="0">
                <a:solidFill>
                  <a:srgbClr val="5B6B5F"/>
                </a:solidFill>
              </a:rPr>
              <a:t>Orange = changed</a:t>
            </a:r>
            <a:endParaRPr lang="en-US" sz="1100" dirty="0"/>
          </a:p>
        </p:txBody>
      </p:sp>
      <p:sp>
        <p:nvSpPr>
          <p:cNvPr id="62" name="Revenue"/>
          <p:cNvSpPr/>
          <p:nvPr/>
        </p:nvSpPr>
        <p:spPr>
          <a:xfrm>
            <a:off x="9784080" y="1417320"/>
            <a:ext cx="1737360" cy="4434840"/>
          </a:xfrm>
          <a:prstGeom prst="roundRect">
            <a:avLst>
              <a:gd name="adj" fmla="val 6316"/>
            </a:avLst>
          </a:prstGeom>
          <a:solidFill>
            <a:schemeClr val="bg1"/>
          </a:solidFill>
          <a:ln w="9525">
            <a:solidFill>
              <a:srgbClr val="E3D6C0"/>
            </a:solidFill>
            <a:prstDash val="solid"/>
          </a:ln>
        </p:spPr>
      </p:sp>
      <p:sp>
        <p:nvSpPr>
          <p:cNvPr id="63" name="Text 61"/>
          <p:cNvSpPr txBox="1"/>
          <p:nvPr/>
        </p:nvSpPr>
        <p:spPr>
          <a:xfrm>
            <a:off x="9921240" y="1554480"/>
            <a:ext cx="1508760" cy="502920"/>
          </a:xfrm>
          <a:prstGeom prst="rect">
            <a:avLst/>
          </a:prstGeom>
          <a:noFill/>
          <a:ln/>
        </p:spPr>
        <p:txBody>
          <a:bodyPr wrap="square" lIns="0" tIns="0" rIns="0" bIns="0" rtlCol="0" anchor="t"/>
          <a:lstStyle/>
          <a:p>
            <a:pPr indent="0" marL="0">
              <a:buNone/>
            </a:pPr>
            <a:r>
              <a:rPr lang="en-US" sz="1100" dirty="0">
                <a:solidFill>
                  <a:srgbClr val="5B6B5F"/>
                </a:solidFill>
              </a:rPr>
              <a:t>Revenue (assumptions)</a:t>
            </a:r>
            <a:endParaRPr lang="en-US" sz="1100" dirty="0"/>
          </a:p>
        </p:txBody>
      </p:sp>
      <p:sp>
        <p:nvSpPr>
          <p:cNvPr id="64" name="Text 62"/>
          <p:cNvSpPr txBox="1"/>
          <p:nvPr/>
        </p:nvSpPr>
        <p:spPr>
          <a:xfrm>
            <a:off x="9921240" y="2011680"/>
            <a:ext cx="1508760" cy="868680"/>
          </a:xfrm>
          <a:prstGeom prst="rect">
            <a:avLst/>
          </a:prstGeom>
          <a:noFill/>
          <a:ln/>
        </p:spPr>
        <p:txBody>
          <a:bodyPr wrap="square" lIns="0" tIns="0" rIns="0" bIns="0" rtlCol="0" anchor="t"/>
          <a:lstStyle/>
          <a:p>
            <a:pPr indent="0" marL="0">
              <a:buNone/>
            </a:pPr>
            <a:r>
              <a:rPr lang="en-US" sz="2600" dirty="0">
                <a:solidFill>
                  <a:srgbClr val="1F3D2B"/>
                </a:solidFill>
                <a:latin typeface="JetBrains Mono" pitchFamily="34" charset="0"/>
                <a:ea typeface="JetBrains Mono" pitchFamily="34" charset="-122"/>
                <a:cs typeface="JetBrains Mono" pitchFamily="34" charset="-120"/>
              </a:rPr>
              <a:t>$300</a:t>
            </a:r>
            <a:endParaRPr lang="en-US" sz="2600" dirty="0"/>
          </a:p>
          <a:p>
            <a:pPr indent="0" marL="0">
              <a:buNone/>
            </a:pPr>
            <a:r>
              <a:rPr lang="en-US" sz="1100" dirty="0">
                <a:solidFill>
                  <a:srgbClr val="5B6B5F"/>
                </a:solidFill>
              </a:rPr>
              <a:t>box per machine, one time</a:t>
            </a:r>
            <a:endParaRPr lang="en-US" sz="2600" dirty="0"/>
          </a:p>
        </p:txBody>
      </p:sp>
      <p:sp>
        <p:nvSpPr>
          <p:cNvPr id="65" name="Text 63"/>
          <p:cNvSpPr txBox="1"/>
          <p:nvPr/>
        </p:nvSpPr>
        <p:spPr>
          <a:xfrm>
            <a:off x="9921240" y="2880360"/>
            <a:ext cx="1508760" cy="868680"/>
          </a:xfrm>
          <a:prstGeom prst="rect">
            <a:avLst/>
          </a:prstGeom>
          <a:noFill/>
          <a:ln/>
        </p:spPr>
        <p:txBody>
          <a:bodyPr wrap="square" lIns="0" tIns="0" rIns="0" bIns="0" rtlCol="0" anchor="t"/>
          <a:lstStyle/>
          <a:p>
            <a:pPr indent="0" marL="0">
              <a:buNone/>
            </a:pPr>
            <a:r>
              <a:rPr lang="en-US" sz="2600" dirty="0">
                <a:solidFill>
                  <a:srgbClr val="1F3D2B"/>
                </a:solidFill>
                <a:latin typeface="JetBrains Mono" pitchFamily="34" charset="0"/>
                <a:ea typeface="JetBrains Mono" pitchFamily="34" charset="-122"/>
                <a:cs typeface="JetBrains Mono" pitchFamily="34" charset="-120"/>
              </a:rPr>
              <a:t>$25</a:t>
            </a:r>
            <a:endParaRPr lang="en-US" sz="2600" dirty="0"/>
          </a:p>
          <a:p>
            <a:pPr indent="0" marL="0">
              <a:buNone/>
            </a:pPr>
            <a:r>
              <a:rPr lang="en-US" sz="1100" dirty="0">
                <a:solidFill>
                  <a:srgbClr val="5B6B5F"/>
                </a:solidFill>
              </a:rPr>
              <a:t>per machine per month</a:t>
            </a:r>
            <a:endParaRPr lang="en-US" sz="2600" dirty="0"/>
          </a:p>
        </p:txBody>
      </p:sp>
      <p:sp>
        <p:nvSpPr>
          <p:cNvPr id="66" name="Text 64"/>
          <p:cNvSpPr txBox="1"/>
          <p:nvPr/>
        </p:nvSpPr>
        <p:spPr>
          <a:xfrm>
            <a:off x="9921240" y="3749040"/>
            <a:ext cx="1508760" cy="548640"/>
          </a:xfrm>
          <a:prstGeom prst="rect">
            <a:avLst/>
          </a:prstGeom>
          <a:noFill/>
          <a:ln/>
        </p:spPr>
        <p:txBody>
          <a:bodyPr wrap="square" lIns="0" tIns="0" rIns="0" bIns="0" rtlCol="0" anchor="t"/>
          <a:lstStyle/>
          <a:p>
            <a:pPr indent="0" marL="0">
              <a:buNone/>
            </a:pPr>
            <a:r>
              <a:rPr lang="en-US" sz="1100" dirty="0">
                <a:solidFill>
                  <a:srgbClr val="1F3D2B"/>
                </a:solidFill>
              </a:rPr>
              <a:t>+ possible referral fee on technician jobs</a:t>
            </a:r>
            <a:endParaRPr lang="en-US" sz="1100" dirty="0"/>
          </a:p>
        </p:txBody>
      </p:sp>
      <p:sp>
        <p:nvSpPr>
          <p:cNvPr id="67" name="Expected revenue"/>
          <p:cNvSpPr/>
          <p:nvPr/>
        </p:nvSpPr>
        <p:spPr>
          <a:xfrm>
            <a:off x="9875520" y="4389120"/>
            <a:ext cx="1554480" cy="1371600"/>
          </a:xfrm>
          <a:prstGeom prst="roundRect">
            <a:avLst>
              <a:gd name="adj" fmla="val 5333"/>
            </a:avLst>
          </a:prstGeom>
          <a:solidFill>
            <a:srgbClr val="D6E4D3"/>
          </a:solidFill>
          <a:ln w="12700">
            <a:solidFill>
              <a:srgbClr val="D6E4D3"/>
            </a:solidFill>
            <a:prstDash val="solid"/>
          </a:ln>
        </p:spPr>
      </p:sp>
      <p:sp>
        <p:nvSpPr>
          <p:cNvPr id="68" name="Text 66"/>
          <p:cNvSpPr txBox="1"/>
          <p:nvPr/>
        </p:nvSpPr>
        <p:spPr>
          <a:xfrm>
            <a:off x="9966960" y="4480560"/>
            <a:ext cx="1371600" cy="1188720"/>
          </a:xfrm>
          <a:prstGeom prst="rect">
            <a:avLst/>
          </a:prstGeom>
          <a:noFill/>
          <a:ln/>
        </p:spPr>
        <p:txBody>
          <a:bodyPr wrap="square" lIns="0" tIns="0" rIns="0" bIns="0" rtlCol="0" anchor="t"/>
          <a:lstStyle/>
          <a:p>
            <a:pPr indent="0" marL="0">
              <a:spcAft>
                <a:spcPts val="200"/>
              </a:spcAft>
              <a:buNone/>
            </a:pPr>
            <a:r>
              <a:rPr lang="en-US" sz="1000" b="1" dirty="0">
                <a:solidFill>
                  <a:srgbClr val="1F3D2B"/>
                </a:solidFill>
              </a:rPr>
              <a:t>Per machine, year 1</a:t>
            </a:r>
            <a:endParaRPr lang="en-US" sz="1000" dirty="0"/>
          </a:p>
          <a:p>
            <a:pPr indent="0" marL="0">
              <a:spcAft>
                <a:spcPts val="200"/>
              </a:spcAft>
              <a:buNone/>
            </a:pPr>
            <a:r>
              <a:rPr lang="en-US" sz="1000" dirty="0">
                <a:solidFill>
                  <a:srgbClr val="1F3D2B"/>
                </a:solidFill>
              </a:rPr>
              <a:t>$300 box + $300 subscription</a:t>
            </a:r>
            <a:endParaRPr lang="en-US" sz="1000" dirty="0"/>
          </a:p>
          <a:p>
            <a:pPr indent="0" marL="0">
              <a:spcAft>
                <a:spcPts val="200"/>
              </a:spcAft>
              <a:buNone/>
            </a:pPr>
            <a:r>
              <a:rPr lang="en-US" sz="1500" b="1" dirty="0">
                <a:solidFill>
                  <a:srgbClr val="1F3D2B"/>
                </a:solidFill>
                <a:latin typeface="JetBrains Mono" pitchFamily="34" charset="0"/>
                <a:ea typeface="JetBrains Mono" pitchFamily="34" charset="-122"/>
                <a:cs typeface="JetBrains Mono" pitchFamily="34" charset="-120"/>
              </a:rPr>
              <a:t>= $600 revenue</a:t>
            </a:r>
            <a:endParaRPr lang="en-US" sz="1000" dirty="0"/>
          </a:p>
          <a:p>
            <a:pPr indent="0" marL="0">
              <a:spcAft>
                <a:spcPts val="200"/>
              </a:spcAft>
              <a:buNone/>
            </a:pPr>
            <a:r>
              <a:rPr lang="en-US" sz="900" dirty="0">
                <a:solidFill>
                  <a:srgbClr val="5B6B5F"/>
                </a:solidFill>
              </a:rPr>
              <a:t>Assumptions to validate</a:t>
            </a:r>
            <a:endParaRPr lang="en-US" sz="1000" dirty="0"/>
          </a:p>
        </p:txBody>
      </p:sp>
      <p:sp>
        <p:nvSpPr>
          <p:cNvPr id="69" name="Text 67"/>
          <p:cNvSpPr txBox="1"/>
          <p:nvPr/>
        </p:nvSpPr>
        <p:spPr>
          <a:xfrm>
            <a:off x="685800" y="5120640"/>
            <a:ext cx="8778240" cy="685800"/>
          </a:xfrm>
          <a:prstGeom prst="rect">
            <a:avLst/>
          </a:prstGeom>
          <a:noFill/>
          <a:ln/>
        </p:spPr>
        <p:txBody>
          <a:bodyPr wrap="square" lIns="0" tIns="0" rIns="0" bIns="0" rtlCol="0" anchor="t"/>
          <a:lstStyle/>
          <a:p>
            <a:pPr indent="0" marL="0">
              <a:buNone/>
            </a:pPr>
            <a:r>
              <a:rPr lang="en-US" sz="1400" b="1" dirty="0">
                <a:solidFill>
                  <a:schemeClr val="tx1"/>
                </a:solidFill>
              </a:rPr>
              <a:t>Why it changed: </a:t>
            </a:r>
            <a:pPr indent="0" marL="0">
              <a:buNone/>
            </a:pPr>
            <a:r>
              <a:rPr lang="en-US" sz="1400" dirty="0">
                <a:solidFill>
                  <a:schemeClr val="tx1"/>
                </a:solidFill>
              </a:rPr>
              <a:t>Every owner we asked bundles electricity into rent or membership, so per-user billing isn't the pain. Breakdowns and equipment left on are.</a:t>
            </a:r>
            <a:endParaRPr lang="en-US" sz="1400" dirty="0"/>
          </a:p>
        </p:txBody>
      </p:sp>
      <p:sp>
        <p:nvSpPr>
          <p:cNvPr id="25" name="Slide Number Placeholder 0"/>
          <p:cNvSpPr>
            <a:spLocks noGrp="1"/>
          </p:cNvSpPr>
          <p:nvPr>
            <p:ph type="sldNum" sz="quarter" idx="4294967295"/>
          </p:nvPr>
        </p:nvSpPr>
        <p:spPr>
          <a:xfrm>
            <a:off x="1106424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5F"/>
                </a:solidFill>
                <a:latin typeface="JetBrains Mono"/>
                <a:ea typeface="JetBrains Mono"/>
                <a:cs typeface="JetBrains Mono"/>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685800" y="457200"/>
            <a:ext cx="10789920" cy="822960"/>
          </a:xfrm>
          <a:prstGeom prst="rect">
            <a:avLst/>
          </a:prstGeom>
          <a:noFill/>
          <a:ln/>
        </p:spPr>
        <p:txBody>
          <a:bodyPr wrap="square" lIns="0" tIns="0" rIns="0" bIns="0" rtlCol="0" anchor="t"/>
          <a:lstStyle/>
          <a:p>
            <a:pPr algn="l" indent="0" marL="0">
              <a:buNone/>
            </a:pPr>
            <a:r>
              <a:rPr lang="en-US" sz="3600" b="1" dirty="0">
                <a:solidFill>
                  <a:schemeClr val="tx1"/>
                </a:solidFill>
                <a:latin typeface="Space Grotesk" pitchFamily="34" charset="0"/>
                <a:ea typeface="Space Grotesk" pitchFamily="34" charset="-122"/>
                <a:cs typeface="Space Grotesk" pitchFamily="34" charset="-120"/>
              </a:rPr>
              <a:t>What we've tested so far</a:t>
            </a:r>
            <a:endParaRPr lang="en-US" sz="3600" dirty="0"/>
          </a:p>
        </p:txBody>
      </p:sp>
      <p:sp>
        <p:nvSpPr>
          <p:cNvPr id="3" name="Text 1"/>
          <p:cNvSpPr txBox="1"/>
          <p:nvPr/>
        </p:nvSpPr>
        <p:spPr>
          <a:xfrm>
            <a:off x="685800" y="1325880"/>
            <a:ext cx="1920240" cy="685800"/>
          </a:xfrm>
          <a:prstGeom prst="rect">
            <a:avLst/>
          </a:prstGeom>
          <a:noFill/>
          <a:ln/>
        </p:spPr>
        <p:txBody>
          <a:bodyPr wrap="square" lIns="0" tIns="0" rIns="0" bIns="0" rtlCol="0" anchor="b"/>
          <a:lstStyle/>
          <a:p>
            <a:pPr indent="0" marL="0">
              <a:buNone/>
            </a:pPr>
            <a:r>
              <a:rPr lang="en-US" sz="4000" dirty="0">
                <a:solidFill>
                  <a:srgbClr val="1F3D2B"/>
                </a:solidFill>
                <a:latin typeface="JetBrains Mono" pitchFamily="34" charset="0"/>
                <a:ea typeface="JetBrains Mono" pitchFamily="34" charset="-122"/>
                <a:cs typeface="JetBrains Mono" pitchFamily="34" charset="-120"/>
              </a:rPr>
              <a:t>6</a:t>
            </a:r>
            <a:endParaRPr lang="en-US" sz="4000" dirty="0"/>
          </a:p>
        </p:txBody>
      </p:sp>
      <p:sp>
        <p:nvSpPr>
          <p:cNvPr id="4" name="Text 2"/>
          <p:cNvSpPr txBox="1"/>
          <p:nvPr/>
        </p:nvSpPr>
        <p:spPr>
          <a:xfrm>
            <a:off x="685800" y="2057400"/>
            <a:ext cx="1828800" cy="411480"/>
          </a:xfrm>
          <a:prstGeom prst="rect">
            <a:avLst/>
          </a:prstGeom>
          <a:noFill/>
          <a:ln/>
        </p:spPr>
        <p:txBody>
          <a:bodyPr wrap="square" lIns="0" tIns="0" rIns="0" bIns="0" rtlCol="0" anchor="t"/>
          <a:lstStyle/>
          <a:p>
            <a:pPr indent="0" marL="0">
              <a:buNone/>
            </a:pPr>
            <a:r>
              <a:rPr lang="en-US" sz="1200" dirty="0">
                <a:solidFill>
                  <a:srgbClr val="5B6B5F"/>
                </a:solidFill>
              </a:rPr>
              <a:t>competitors reverse engineered</a:t>
            </a:r>
            <a:endParaRPr lang="en-US" sz="1200" dirty="0"/>
          </a:p>
        </p:txBody>
      </p:sp>
      <p:sp>
        <p:nvSpPr>
          <p:cNvPr id="5" name="Text 3"/>
          <p:cNvSpPr txBox="1"/>
          <p:nvPr/>
        </p:nvSpPr>
        <p:spPr>
          <a:xfrm>
            <a:off x="2743200" y="1325880"/>
            <a:ext cx="1920240" cy="685800"/>
          </a:xfrm>
          <a:prstGeom prst="rect">
            <a:avLst/>
          </a:prstGeom>
          <a:noFill/>
          <a:ln/>
        </p:spPr>
        <p:txBody>
          <a:bodyPr wrap="square" lIns="0" tIns="0" rIns="0" bIns="0" rtlCol="0" anchor="b"/>
          <a:lstStyle/>
          <a:p>
            <a:pPr indent="0" marL="0">
              <a:buNone/>
            </a:pPr>
            <a:r>
              <a:rPr lang="en-US" sz="4000" dirty="0">
                <a:solidFill>
                  <a:srgbClr val="1F3D2B"/>
                </a:solidFill>
                <a:latin typeface="JetBrains Mono" pitchFamily="34" charset="0"/>
                <a:ea typeface="JetBrains Mono" pitchFamily="34" charset="-122"/>
                <a:cs typeface="JetBrains Mono" pitchFamily="34" charset="-120"/>
              </a:rPr>
              <a:t>2</a:t>
            </a:r>
            <a:endParaRPr lang="en-US" sz="4000" dirty="0"/>
          </a:p>
        </p:txBody>
      </p:sp>
      <p:sp>
        <p:nvSpPr>
          <p:cNvPr id="6" name="Text 4"/>
          <p:cNvSpPr txBox="1"/>
          <p:nvPr/>
        </p:nvSpPr>
        <p:spPr>
          <a:xfrm>
            <a:off x="2743200" y="2057400"/>
            <a:ext cx="1828800" cy="411480"/>
          </a:xfrm>
          <a:prstGeom prst="rect">
            <a:avLst/>
          </a:prstGeom>
          <a:noFill/>
          <a:ln/>
        </p:spPr>
        <p:txBody>
          <a:bodyPr wrap="square" lIns="0" tIns="0" rIns="0" bIns="0" rtlCol="0" anchor="t"/>
          <a:lstStyle/>
          <a:p>
            <a:pPr indent="0" marL="0">
              <a:buNone/>
            </a:pPr>
            <a:r>
              <a:rPr lang="en-US" sz="1200" dirty="0">
                <a:solidFill>
                  <a:srgbClr val="5B6B5F"/>
                </a:solidFill>
              </a:rPr>
              <a:t>business model canvases</a:t>
            </a:r>
            <a:endParaRPr lang="en-US" sz="1200" dirty="0"/>
          </a:p>
        </p:txBody>
      </p:sp>
      <p:sp>
        <p:nvSpPr>
          <p:cNvPr id="7" name="Text 5"/>
          <p:cNvSpPr txBox="1"/>
          <p:nvPr/>
        </p:nvSpPr>
        <p:spPr>
          <a:xfrm>
            <a:off x="4800600" y="1325880"/>
            <a:ext cx="1920240" cy="685800"/>
          </a:xfrm>
          <a:prstGeom prst="rect">
            <a:avLst/>
          </a:prstGeom>
          <a:noFill/>
          <a:ln/>
        </p:spPr>
        <p:txBody>
          <a:bodyPr wrap="square" lIns="0" tIns="0" rIns="0" bIns="0" rtlCol="0" anchor="b"/>
          <a:lstStyle/>
          <a:p>
            <a:pPr indent="0" marL="0">
              <a:buNone/>
            </a:pPr>
            <a:r>
              <a:rPr lang="en-US" sz="4000" dirty="0">
                <a:solidFill>
                  <a:srgbClr val="1F3D2B"/>
                </a:solidFill>
                <a:latin typeface="JetBrains Mono" pitchFamily="34" charset="0"/>
                <a:ea typeface="JetBrains Mono" pitchFamily="34" charset="-122"/>
                <a:cs typeface="JetBrains Mono" pitchFamily="34" charset="-120"/>
              </a:rPr>
              <a:t>49</a:t>
            </a:r>
            <a:endParaRPr lang="en-US" sz="4000" dirty="0"/>
          </a:p>
        </p:txBody>
      </p:sp>
      <p:sp>
        <p:nvSpPr>
          <p:cNvPr id="8" name="Text 6"/>
          <p:cNvSpPr txBox="1"/>
          <p:nvPr/>
        </p:nvSpPr>
        <p:spPr>
          <a:xfrm>
            <a:off x="4800600" y="2057400"/>
            <a:ext cx="1828800" cy="411480"/>
          </a:xfrm>
          <a:prstGeom prst="rect">
            <a:avLst/>
          </a:prstGeom>
          <a:noFill/>
          <a:ln/>
        </p:spPr>
        <p:txBody>
          <a:bodyPr wrap="square" lIns="0" tIns="0" rIns="0" bIns="0" rtlCol="0" anchor="t"/>
          <a:lstStyle/>
          <a:p>
            <a:pPr indent="0" marL="0">
              <a:buNone/>
            </a:pPr>
            <a:r>
              <a:rPr lang="en-US" sz="1200" dirty="0">
                <a:solidFill>
                  <a:srgbClr val="5B6B5F"/>
                </a:solidFill>
              </a:rPr>
              <a:t>outreach emails, Canada, US, Europe</a:t>
            </a:r>
            <a:endParaRPr lang="en-US" sz="1200" dirty="0"/>
          </a:p>
        </p:txBody>
      </p:sp>
      <p:sp>
        <p:nvSpPr>
          <p:cNvPr id="9" name="Text 7"/>
          <p:cNvSpPr txBox="1"/>
          <p:nvPr/>
        </p:nvSpPr>
        <p:spPr>
          <a:xfrm>
            <a:off x="4800600" y="2450592"/>
            <a:ext cx="1828800" cy="228600"/>
          </a:xfrm>
          <a:prstGeom prst="rect">
            <a:avLst/>
          </a:prstGeom>
          <a:noFill/>
          <a:ln/>
        </p:spPr>
        <p:txBody>
          <a:bodyPr wrap="square" lIns="0" tIns="0" rIns="0" bIns="0" rtlCol="0" anchor="t"/>
          <a:lstStyle/>
          <a:p>
            <a:pPr indent="0" marL="0">
              <a:buNone/>
            </a:pPr>
            <a:r>
              <a:rPr lang="en-US" sz="1100" i="1" dirty="0">
                <a:solidFill>
                  <a:srgbClr val="1F3D2B"/>
                </a:solidFill>
              </a:rPr>
              <a:t>replies still coming in</a:t>
            </a:r>
            <a:endParaRPr lang="en-US" sz="1100" dirty="0"/>
          </a:p>
        </p:txBody>
      </p:sp>
      <p:sp>
        <p:nvSpPr>
          <p:cNvPr id="10" name="Text 8"/>
          <p:cNvSpPr txBox="1"/>
          <p:nvPr/>
        </p:nvSpPr>
        <p:spPr>
          <a:xfrm>
            <a:off x="6858000" y="1325880"/>
            <a:ext cx="1920240" cy="685800"/>
          </a:xfrm>
          <a:prstGeom prst="rect">
            <a:avLst/>
          </a:prstGeom>
          <a:noFill/>
          <a:ln/>
        </p:spPr>
        <p:txBody>
          <a:bodyPr wrap="square" lIns="0" tIns="0" rIns="0" bIns="0" rtlCol="0" anchor="b"/>
          <a:lstStyle/>
          <a:p>
            <a:pPr indent="0" marL="0">
              <a:buNone/>
            </a:pPr>
            <a:r>
              <a:rPr lang="en-US" sz="4000" dirty="0">
                <a:solidFill>
                  <a:srgbClr val="1F3D2B"/>
                </a:solidFill>
                <a:latin typeface="JetBrains Mono" pitchFamily="34" charset="0"/>
                <a:ea typeface="JetBrains Mono" pitchFamily="34" charset="-122"/>
                <a:cs typeface="JetBrains Mono" pitchFamily="34" charset="-120"/>
              </a:rPr>
              <a:t>10</a:t>
            </a:r>
            <a:endParaRPr lang="en-US" sz="4000" dirty="0"/>
          </a:p>
        </p:txBody>
      </p:sp>
      <p:sp>
        <p:nvSpPr>
          <p:cNvPr id="11" name="Text 9"/>
          <p:cNvSpPr txBox="1"/>
          <p:nvPr/>
        </p:nvSpPr>
        <p:spPr>
          <a:xfrm>
            <a:off x="6858000" y="2057400"/>
            <a:ext cx="1828800" cy="411480"/>
          </a:xfrm>
          <a:prstGeom prst="rect">
            <a:avLst/>
          </a:prstGeom>
          <a:noFill/>
          <a:ln/>
        </p:spPr>
        <p:txBody>
          <a:bodyPr wrap="square" lIns="0" tIns="0" rIns="0" bIns="0" rtlCol="0" anchor="t"/>
          <a:lstStyle/>
          <a:p>
            <a:pPr indent="0" marL="0">
              <a:buNone/>
            </a:pPr>
            <a:r>
              <a:rPr lang="en-US" sz="1200" dirty="0">
                <a:solidFill>
                  <a:srgbClr val="5B6B5F"/>
                </a:solidFill>
              </a:rPr>
              <a:t>interviews</a:t>
            </a:r>
            <a:endParaRPr lang="en-US" sz="1200" dirty="0"/>
          </a:p>
        </p:txBody>
      </p:sp>
      <p:sp>
        <p:nvSpPr>
          <p:cNvPr id="12" name="Pivot"/>
          <p:cNvSpPr/>
          <p:nvPr/>
        </p:nvSpPr>
        <p:spPr>
          <a:xfrm>
            <a:off x="9006840" y="1325880"/>
            <a:ext cx="2514600" cy="1325880"/>
          </a:xfrm>
          <a:prstGeom prst="roundRect">
            <a:avLst>
              <a:gd name="adj" fmla="val 8276"/>
            </a:avLst>
          </a:prstGeom>
          <a:solidFill>
            <a:schemeClr val="bg1"/>
          </a:solidFill>
          <a:ln w="9525">
            <a:solidFill>
              <a:srgbClr val="E3D6C0"/>
            </a:solidFill>
            <a:prstDash val="solid"/>
          </a:ln>
        </p:spPr>
      </p:sp>
      <p:sp>
        <p:nvSpPr>
          <p:cNvPr id="13" name="Text 11"/>
          <p:cNvSpPr txBox="1"/>
          <p:nvPr/>
        </p:nvSpPr>
        <p:spPr>
          <a:xfrm>
            <a:off x="9189720" y="1463040"/>
            <a:ext cx="2194560" cy="1097280"/>
          </a:xfrm>
          <a:prstGeom prst="rect">
            <a:avLst/>
          </a:prstGeom>
          <a:noFill/>
          <a:ln/>
        </p:spPr>
        <p:txBody>
          <a:bodyPr wrap="square" lIns="0" tIns="0" rIns="0" bIns="0" rtlCol="0" anchor="t"/>
          <a:lstStyle/>
          <a:p>
            <a:pPr indent="0" marL="0">
              <a:buNone/>
            </a:pPr>
            <a:r>
              <a:rPr lang="en-US" sz="1100" dirty="0">
                <a:solidFill>
                  <a:srgbClr val="E07A2E"/>
                </a:solidFill>
                <a:latin typeface="JetBrains Mono" pitchFamily="34" charset="0"/>
                <a:ea typeface="JetBrains Mono" pitchFamily="34" charset="-122"/>
                <a:cs typeface="JetBrains Mono" pitchFamily="34" charset="-120"/>
              </a:rPr>
              <a:t>The pivot</a:t>
            </a:r>
            <a:endParaRPr lang="en-US" sz="1100" dirty="0"/>
          </a:p>
          <a:p>
            <a:pPr indent="0" marL="0">
              <a:buNone/>
            </a:pPr>
            <a:r>
              <a:rPr lang="en-US" sz="1600" b="1" dirty="0">
                <a:solidFill>
                  <a:srgbClr val="1F3D2B"/>
                </a:solidFill>
                <a:latin typeface="Space Grotesk" pitchFamily="34" charset="0"/>
                <a:ea typeface="Space Grotesk" pitchFamily="34" charset="-122"/>
                <a:cs typeface="Space Grotesk" pitchFamily="34" charset="-120"/>
              </a:rPr>
              <a:t>Billing → predictive maintenance</a:t>
            </a:r>
            <a:endParaRPr lang="en-US" sz="1100" dirty="0"/>
          </a:p>
        </p:txBody>
      </p:sp>
      <p:pic>
        <p:nvPicPr>
          <p:cNvPr id="14" name="Image 0" descr="preencoded.png">    </p:cNvPr>
          <p:cNvPicPr>
            <a:picLocks noChangeAspect="1"/>
          </p:cNvPicPr>
          <p:nvPr/>
        </p:nvPicPr>
        <p:blipFill>
          <a:blip r:embed="rId1"/>
          <a:stretch>
            <a:fillRect/>
          </a:stretch>
        </p:blipFill>
        <p:spPr>
          <a:xfrm>
            <a:off x="685800" y="2834640"/>
            <a:ext cx="347472" cy="347472"/>
          </a:xfrm>
          <a:prstGeom prst="rect">
            <a:avLst/>
          </a:prstGeom>
        </p:spPr>
      </p:pic>
      <p:sp>
        <p:nvSpPr>
          <p:cNvPr id="15" name="Text 12"/>
          <p:cNvSpPr txBox="1"/>
          <p:nvPr/>
        </p:nvSpPr>
        <p:spPr>
          <a:xfrm>
            <a:off x="1143000" y="2788920"/>
            <a:ext cx="4937760" cy="566928"/>
          </a:xfrm>
          <a:prstGeom prst="rect">
            <a:avLst/>
          </a:prstGeom>
          <a:noFill/>
          <a:ln/>
        </p:spPr>
        <p:txBody>
          <a:bodyPr wrap="square" lIns="0" tIns="0" rIns="0" bIns="0" rtlCol="0" anchor="t"/>
          <a:lstStyle/>
          <a:p>
            <a:pPr indent="0" marL="0">
              <a:buNone/>
            </a:pPr>
            <a:r>
              <a:rPr lang="en-US" sz="1800" b="1" dirty="0">
                <a:solidFill>
                  <a:srgbClr val="1F3D2B"/>
                </a:solidFill>
                <a:latin typeface="Space Grotesk" pitchFamily="34" charset="0"/>
                <a:ea typeface="Space Grotesk" pitchFamily="34" charset="-122"/>
                <a:cs typeface="Space Grotesk" pitchFamily="34" charset="-120"/>
              </a:rPr>
              <a:t>“Managing equipment is one of the biggest tasks we have.”</a:t>
            </a:r>
            <a:endParaRPr lang="en-US" sz="1800" dirty="0"/>
          </a:p>
        </p:txBody>
      </p:sp>
      <p:sp>
        <p:nvSpPr>
          <p:cNvPr id="16" name="Text 13"/>
          <p:cNvSpPr txBox="1"/>
          <p:nvPr/>
        </p:nvSpPr>
        <p:spPr>
          <a:xfrm>
            <a:off x="1143000" y="3364992"/>
            <a:ext cx="4937760" cy="228600"/>
          </a:xfrm>
          <a:prstGeom prst="rect">
            <a:avLst/>
          </a:prstGeom>
          <a:noFill/>
          <a:ln/>
        </p:spPr>
        <p:txBody>
          <a:bodyPr wrap="square" lIns="0" tIns="0" rIns="0" bIns="0" rtlCol="0" anchor="ctr"/>
          <a:lstStyle/>
          <a:p>
            <a:pPr indent="0" marL="0">
              <a:buNone/>
            </a:pPr>
            <a:r>
              <a:rPr lang="en-US" sz="1100" dirty="0">
                <a:solidFill>
                  <a:srgbClr val="5B6B5F"/>
                </a:solidFill>
              </a:rPr>
              <a:t>Executive Director, Ontario makerspace</a:t>
            </a:r>
            <a:endParaRPr lang="en-US" sz="1100" dirty="0"/>
          </a:p>
        </p:txBody>
      </p:sp>
      <p:pic>
        <p:nvPicPr>
          <p:cNvPr id="17" name="Image 1" descr="preencoded.png">    </p:cNvPr>
          <p:cNvPicPr>
            <a:picLocks noChangeAspect="1"/>
          </p:cNvPicPr>
          <p:nvPr/>
        </p:nvPicPr>
        <p:blipFill>
          <a:blip r:embed="rId2"/>
          <a:stretch>
            <a:fillRect/>
          </a:stretch>
        </p:blipFill>
        <p:spPr>
          <a:xfrm>
            <a:off x="685800" y="3749040"/>
            <a:ext cx="347472" cy="347472"/>
          </a:xfrm>
          <a:prstGeom prst="rect">
            <a:avLst/>
          </a:prstGeom>
        </p:spPr>
      </p:pic>
      <p:sp>
        <p:nvSpPr>
          <p:cNvPr id="18" name="Text 14"/>
          <p:cNvSpPr txBox="1"/>
          <p:nvPr/>
        </p:nvSpPr>
        <p:spPr>
          <a:xfrm>
            <a:off x="1143000" y="3703320"/>
            <a:ext cx="4937760" cy="502920"/>
          </a:xfrm>
          <a:prstGeom prst="rect">
            <a:avLst/>
          </a:prstGeom>
          <a:noFill/>
          <a:ln/>
        </p:spPr>
        <p:txBody>
          <a:bodyPr wrap="square" lIns="0" tIns="0" rIns="0" bIns="0" rtlCol="0" anchor="t"/>
          <a:lstStyle/>
          <a:p>
            <a:pPr indent="0" marL="0">
              <a:buNone/>
            </a:pPr>
            <a:r>
              <a:rPr lang="en-US" sz="1500" b="1" dirty="0">
                <a:solidFill>
                  <a:srgbClr val="1F3D2B"/>
                </a:solidFill>
                <a:latin typeface="Space Grotesk" pitchFamily="34" charset="0"/>
                <a:ea typeface="Space Grotesk" pitchFamily="34" charset="-122"/>
                <a:cs typeface="Space Grotesk" pitchFamily="34" charset="-120"/>
              </a:rPr>
              <a:t>“I pay all the electricity and build that price into my monthly rent. Simple, easy, fair.”</a:t>
            </a:r>
            <a:endParaRPr lang="en-US" sz="1500" dirty="0"/>
          </a:p>
        </p:txBody>
      </p:sp>
      <p:sp>
        <p:nvSpPr>
          <p:cNvPr id="19" name="Text 15"/>
          <p:cNvSpPr txBox="1"/>
          <p:nvPr/>
        </p:nvSpPr>
        <p:spPr>
          <a:xfrm>
            <a:off x="1143000" y="4224528"/>
            <a:ext cx="4937760" cy="228600"/>
          </a:xfrm>
          <a:prstGeom prst="rect">
            <a:avLst/>
          </a:prstGeom>
          <a:noFill/>
          <a:ln/>
        </p:spPr>
        <p:txBody>
          <a:bodyPr wrap="square" lIns="0" tIns="0" rIns="0" bIns="0" rtlCol="0" anchor="ctr"/>
          <a:lstStyle/>
          <a:p>
            <a:pPr indent="0" marL="0">
              <a:buNone/>
            </a:pPr>
            <a:r>
              <a:rPr lang="en-US" sz="1100" dirty="0">
                <a:solidFill>
                  <a:srgbClr val="5B6B5F"/>
                </a:solidFill>
              </a:rPr>
              <a:t>Owner, Manitoba shared kitchen</a:t>
            </a:r>
            <a:endParaRPr lang="en-US" sz="1100" dirty="0"/>
          </a:p>
        </p:txBody>
      </p:sp>
      <p:graphicFrame>
        <p:nvGraphicFramePr>
          <p:cNvPr id="11" name="Validation board"/>
          <p:cNvGraphicFramePr>
            <a:graphicFrameLocks noGrp="1"/>
          </p:cNvGraphicFramePr>
          <p:nvPr>
            <p:extLst>
              <p:ext uri="{D42A27DB-BD31-4B8C-83A1-F6EECF244321}">
                <p14:modId xmlns:p14="http://schemas.microsoft.com/office/powerpoint/2010/main" val="1579011935"/>
              </p:ext>
            </p:extLst>
          </p:nvPr>
        </p:nvGraphicFramePr>
        <p:xfrm>
          <a:off x="6400800" y="2788920"/>
          <a:ext cx="5120640" cy="914400"/>
        </p:xfrm>
        <a:graphic>
          <a:graphicData uri="http://schemas.openxmlformats.org/drawingml/2006/table">
            <a:tbl>
              <a:tblPr/>
              <a:tblGrid>
                <a:gridCol w="2148840"/>
                <a:gridCol w="1188720"/>
                <a:gridCol w="1783080"/>
              </a:tblGrid>
              <a:tr h="329184">
                <a:tc>
                  <a:txBody>
                    <a:bodyPr/>
                    <a:lstStyle/>
                    <a:p>
                      <a:pPr indent="0" marL="0">
                        <a:buNone/>
                      </a:pPr>
                      <a:r>
                        <a:rPr lang="en-US" sz="1200" b="1" dirty="0">
                          <a:solidFill>
                            <a:srgbClr val="5B6B5F"/>
                          </a:solidFill>
                          <a:latin typeface="Inter" pitchFamily="34" charset="0"/>
                          <a:ea typeface="Inter" pitchFamily="34" charset="-122"/>
                          <a:cs typeface="Inter" pitchFamily="34" charset="-120"/>
                        </a:rPr>
                        <a:t>Assumption</a:t>
                      </a:r>
                      <a:endParaRPr lang="en-US" sz="1200" dirty="0">
                        <a:latin typeface="Inter" charset="0"/>
                        <a:ea typeface="Inter" charset="0"/>
                        <a:cs typeface="Inter" charset="0"/>
                      </a:endParaRPr>
                    </a:p>
                  </a:txBody>
                  <a:tcPr marL="91440" marR="91440" marT="45720" marB="45720" anchor="ctr">
                    <a:lnL w="9525" cap="flat" cmpd="sng" algn="ctr">
                      <a:solidFill>
                        <a:srgbClr val="E3D6C0"/>
                      </a:solidFill>
                      <a:prstDash val="solid"/>
                      <a:round/>
                      <a:headEnd type="none" w="med" len="med"/>
                      <a:tailEnd type="none" w="med" len="med"/>
                    </a:lnL>
                    <a:lnR w="9525" cap="flat" cmpd="sng" algn="ctr">
                      <a:solidFill>
                        <a:srgbClr val="E3D6C0"/>
                      </a:solidFill>
                      <a:prstDash val="solid"/>
                      <a:round/>
                      <a:headEnd type="none" w="med" len="med"/>
                      <a:tailEnd type="none" w="med" len="med"/>
                    </a:lnR>
                    <a:lnT w="9525" cap="flat" cmpd="sng" algn="ctr">
                      <a:solidFill>
                        <a:srgbClr val="E3D6C0"/>
                      </a:solidFill>
                      <a:prstDash val="solid"/>
                      <a:round/>
                      <a:headEnd type="none" w="med" len="med"/>
                      <a:tailEnd type="none" w="med" len="med"/>
                    </a:lnT>
                    <a:lnB w="9525" cap="flat" cmpd="sng" algn="ctr">
                      <a:solidFill>
                        <a:srgbClr val="E3D6C0"/>
                      </a:solidFill>
                      <a:prstDash val="solid"/>
                      <a:round/>
                      <a:headEnd type="none" w="med" len="med"/>
                      <a:tailEnd type="none" w="med" len="med"/>
                    </a:lnB>
                    <a:solidFill>
                      <a:srgbClr val="F3EBDD"/>
                    </a:solidFill>
                  </a:tcPr>
                </a:tc>
                <a:tc>
                  <a:txBody>
                    <a:bodyPr/>
                    <a:lstStyle/>
                    <a:p>
                      <a:pPr indent="0" marL="0">
                        <a:buNone/>
                      </a:pPr>
                      <a:r>
                        <a:rPr lang="en-US" sz="1200" b="1" dirty="0">
                          <a:solidFill>
                            <a:srgbClr val="5B6B5F"/>
                          </a:solidFill>
                          <a:latin typeface="Inter" pitchFamily="34" charset="0"/>
                          <a:ea typeface="Inter" pitchFamily="34" charset="-122"/>
                          <a:cs typeface="Inter" pitchFamily="34" charset="-120"/>
                        </a:rPr>
                        <a:t>Method</a:t>
                      </a:r>
                      <a:endParaRPr lang="en-US" sz="1200" dirty="0">
                        <a:latin typeface="Inter" charset="0"/>
                        <a:ea typeface="Inter" charset="0"/>
                        <a:cs typeface="Inter" charset="0"/>
                      </a:endParaRPr>
                    </a:p>
                  </a:txBody>
                  <a:tcPr marL="91440" marR="91440" marT="45720" marB="45720" anchor="ctr">
                    <a:lnL w="9525" cap="flat" cmpd="sng" algn="ctr">
                      <a:solidFill>
                        <a:srgbClr val="E3D6C0"/>
                      </a:solidFill>
                      <a:prstDash val="solid"/>
                      <a:round/>
                      <a:headEnd type="none" w="med" len="med"/>
                      <a:tailEnd type="none" w="med" len="med"/>
                    </a:lnL>
                    <a:lnR w="9525" cap="flat" cmpd="sng" algn="ctr">
                      <a:solidFill>
                        <a:srgbClr val="E3D6C0"/>
                      </a:solidFill>
                      <a:prstDash val="solid"/>
                      <a:round/>
                      <a:headEnd type="none" w="med" len="med"/>
                      <a:tailEnd type="none" w="med" len="med"/>
                    </a:lnR>
                    <a:lnT w="9525" cap="flat" cmpd="sng" algn="ctr">
                      <a:solidFill>
                        <a:srgbClr val="E3D6C0"/>
                      </a:solidFill>
                      <a:prstDash val="solid"/>
                      <a:round/>
                      <a:headEnd type="none" w="med" len="med"/>
                      <a:tailEnd type="none" w="med" len="med"/>
                    </a:lnT>
                    <a:lnB w="9525" cap="flat" cmpd="sng" algn="ctr">
                      <a:solidFill>
                        <a:srgbClr val="E3D6C0"/>
                      </a:solidFill>
                      <a:prstDash val="solid"/>
                      <a:round/>
                      <a:headEnd type="none" w="med" len="med"/>
                      <a:tailEnd type="none" w="med" len="med"/>
                    </a:lnB>
                    <a:solidFill>
                      <a:srgbClr val="F3EBDD"/>
                    </a:solidFill>
                  </a:tcPr>
                </a:tc>
                <a:tc>
                  <a:txBody>
                    <a:bodyPr/>
                    <a:lstStyle/>
                    <a:p>
                      <a:pPr indent="0" marL="0">
                        <a:buNone/>
                      </a:pPr>
                      <a:r>
                        <a:rPr lang="en-US" sz="1200" b="1" dirty="0">
                          <a:solidFill>
                            <a:srgbClr val="5B6B5F"/>
                          </a:solidFill>
                          <a:latin typeface="Inter" pitchFamily="34" charset="0"/>
                          <a:ea typeface="Inter" pitchFamily="34" charset="-122"/>
                          <a:cs typeface="Inter" pitchFamily="34" charset="-120"/>
                        </a:rPr>
                        <a:t>Result</a:t>
                      </a:r>
                      <a:endParaRPr lang="en-US" sz="1200" dirty="0">
                        <a:latin typeface="Inter" charset="0"/>
                        <a:ea typeface="Inter" charset="0"/>
                        <a:cs typeface="Inter" charset="0"/>
                      </a:endParaRPr>
                    </a:p>
                  </a:txBody>
                  <a:tcPr marL="91440" marR="91440" marT="45720" marB="45720" anchor="ctr">
                    <a:lnL w="9525" cap="flat" cmpd="sng" algn="ctr">
                      <a:solidFill>
                        <a:srgbClr val="E3D6C0"/>
                      </a:solidFill>
                      <a:prstDash val="solid"/>
                      <a:round/>
                      <a:headEnd type="none" w="med" len="med"/>
                      <a:tailEnd type="none" w="med" len="med"/>
                    </a:lnL>
                    <a:lnR w="9525" cap="flat" cmpd="sng" algn="ctr">
                      <a:solidFill>
                        <a:srgbClr val="E3D6C0"/>
                      </a:solidFill>
                      <a:prstDash val="solid"/>
                      <a:round/>
                      <a:headEnd type="none" w="med" len="med"/>
                      <a:tailEnd type="none" w="med" len="med"/>
                    </a:lnR>
                    <a:lnT w="9525" cap="flat" cmpd="sng" algn="ctr">
                      <a:solidFill>
                        <a:srgbClr val="E3D6C0"/>
                      </a:solidFill>
                      <a:prstDash val="solid"/>
                      <a:round/>
                      <a:headEnd type="none" w="med" len="med"/>
                      <a:tailEnd type="none" w="med" len="med"/>
                    </a:lnT>
                    <a:lnB w="9525" cap="flat" cmpd="sng" algn="ctr">
                      <a:solidFill>
                        <a:srgbClr val="E3D6C0"/>
                      </a:solidFill>
                      <a:prstDash val="solid"/>
                      <a:round/>
                      <a:headEnd type="none" w="med" len="med"/>
                      <a:tailEnd type="none" w="med" len="med"/>
                    </a:lnB>
                    <a:solidFill>
                      <a:srgbClr val="F3EBDD"/>
                    </a:solidFill>
                  </a:tcPr>
                </a:tc>
              </a:tr>
              <a:tr h="457200">
                <a:tc>
                  <a:txBody>
                    <a:bodyPr/>
                    <a:lstStyle/>
                    <a:p>
                      <a:pPr indent="0" marL="0">
                        <a:buNone/>
                      </a:pPr>
                      <a:r>
                        <a:rPr lang="en-US" sz="1100" dirty="0">
                          <a:solidFill>
                            <a:srgbClr val="1F3D2B"/>
                          </a:solidFill>
                          <a:latin typeface="Inter" pitchFamily="34" charset="0"/>
                          <a:ea typeface="Inter" pitchFamily="34" charset="-122"/>
                          <a:cs typeface="Inter" pitchFamily="34" charset="-120"/>
                        </a:rPr>
                        <a:t>Owners bill electricity per user</a:t>
                      </a:r>
                      <a:endParaRPr lang="en-US" sz="1100" dirty="0">
                        <a:latin typeface="Inter" charset="0"/>
                        <a:ea typeface="Inter" charset="0"/>
                        <a:cs typeface="Inter" charset="0"/>
                      </a:endParaRPr>
                    </a:p>
                  </a:txBody>
                  <a:tcPr marL="91440" marR="91440" marT="45720" marB="45720" anchor="ctr">
                    <a:lnL w="9525" cap="flat" cmpd="sng" algn="ctr">
                      <a:solidFill>
                        <a:srgbClr val="E3D6C0"/>
                      </a:solidFill>
                      <a:prstDash val="solid"/>
                      <a:round/>
                      <a:headEnd type="none" w="med" len="med"/>
                      <a:tailEnd type="none" w="med" len="med"/>
                    </a:lnL>
                    <a:lnR w="9525" cap="flat" cmpd="sng" algn="ctr">
                      <a:solidFill>
                        <a:srgbClr val="E3D6C0"/>
                      </a:solidFill>
                      <a:prstDash val="solid"/>
                      <a:round/>
                      <a:headEnd type="none" w="med" len="med"/>
                      <a:tailEnd type="none" w="med" len="med"/>
                    </a:lnR>
                    <a:lnT w="9525" cap="flat" cmpd="sng" algn="ctr">
                      <a:solidFill>
                        <a:srgbClr val="E3D6C0"/>
                      </a:solidFill>
                      <a:prstDash val="solid"/>
                      <a:round/>
                      <a:headEnd type="none" w="med" len="med"/>
                      <a:tailEnd type="none" w="med" len="med"/>
                    </a:lnT>
                    <a:lnB w="9525" cap="flat" cmpd="sng" algn="ctr">
                      <a:solidFill>
                        <a:srgbClr val="E3D6C0"/>
                      </a:solidFill>
                      <a:prstDash val="solid"/>
                      <a:round/>
                      <a:headEnd type="none" w="med" len="med"/>
                      <a:tailEnd type="none" w="med" len="med"/>
                    </a:lnB>
                    <a:solidFill>
                      <a:srgbClr val="FFFDF8"/>
                    </a:solidFill>
                  </a:tcPr>
                </a:tc>
                <a:tc>
                  <a:txBody>
                    <a:bodyPr/>
                    <a:lstStyle/>
                    <a:p>
                      <a:pPr indent="0" marL="0">
                        <a:buNone/>
                      </a:pPr>
                      <a:r>
                        <a:rPr lang="en-US" sz="1100" dirty="0">
                          <a:solidFill>
                            <a:srgbClr val="1F3D2B"/>
                          </a:solidFill>
                          <a:latin typeface="Inter" pitchFamily="34" charset="0"/>
                          <a:ea typeface="Inter" pitchFamily="34" charset="-122"/>
                          <a:cs typeface="Inter" pitchFamily="34" charset="-120"/>
                        </a:rPr>
                        <a:t>Interviews</a:t>
                      </a:r>
                      <a:endParaRPr lang="en-US" sz="1100" dirty="0">
                        <a:latin typeface="Inter" charset="0"/>
                        <a:ea typeface="Inter" charset="0"/>
                        <a:cs typeface="Inter" charset="0"/>
                      </a:endParaRPr>
                    </a:p>
                  </a:txBody>
                  <a:tcPr marL="91440" marR="91440" marT="45720" marB="45720" anchor="ctr">
                    <a:lnL w="9525" cap="flat" cmpd="sng" algn="ctr">
                      <a:solidFill>
                        <a:srgbClr val="E3D6C0"/>
                      </a:solidFill>
                      <a:prstDash val="solid"/>
                      <a:round/>
                      <a:headEnd type="none" w="med" len="med"/>
                      <a:tailEnd type="none" w="med" len="med"/>
                    </a:lnL>
                    <a:lnR w="9525" cap="flat" cmpd="sng" algn="ctr">
                      <a:solidFill>
                        <a:srgbClr val="E3D6C0"/>
                      </a:solidFill>
                      <a:prstDash val="solid"/>
                      <a:round/>
                      <a:headEnd type="none" w="med" len="med"/>
                      <a:tailEnd type="none" w="med" len="med"/>
                    </a:lnR>
                    <a:lnT w="9525" cap="flat" cmpd="sng" algn="ctr">
                      <a:solidFill>
                        <a:srgbClr val="E3D6C0"/>
                      </a:solidFill>
                      <a:prstDash val="solid"/>
                      <a:round/>
                      <a:headEnd type="none" w="med" len="med"/>
                      <a:tailEnd type="none" w="med" len="med"/>
                    </a:lnT>
                    <a:lnB w="9525" cap="flat" cmpd="sng" algn="ctr">
                      <a:solidFill>
                        <a:srgbClr val="E3D6C0"/>
                      </a:solidFill>
                      <a:prstDash val="solid"/>
                      <a:round/>
                      <a:headEnd type="none" w="med" len="med"/>
                      <a:tailEnd type="none" w="med" len="med"/>
                    </a:lnB>
                    <a:solidFill>
                      <a:srgbClr val="FFFDF8"/>
                    </a:solidFill>
                  </a:tcPr>
                </a:tc>
                <a:tc>
                  <a:txBody>
                    <a:bodyPr/>
                    <a:lstStyle/>
                    <a:p>
                      <a:pPr indent="0" marL="0">
                        <a:buNone/>
                      </a:pPr>
                      <a:r>
                        <a:rPr lang="en-US" sz="1100" b="1" dirty="0">
                          <a:solidFill>
                            <a:srgbClr val="FFFDF8"/>
                          </a:solidFill>
                          <a:latin typeface="Inter" pitchFamily="34" charset="0"/>
                          <a:ea typeface="Inter" pitchFamily="34" charset="-122"/>
                          <a:cs typeface="Inter" pitchFamily="34" charset="-120"/>
                        </a:rPr>
                        <a:t>Invalidated</a:t>
                      </a:r>
                      <a:endParaRPr lang="en-US" sz="1100" dirty="0">
                        <a:latin typeface="Inter" charset="0"/>
                        <a:ea typeface="Inter" charset="0"/>
                        <a:cs typeface="Inter" charset="0"/>
                      </a:endParaRPr>
                    </a:p>
                  </a:txBody>
                  <a:tcPr marL="91440" marR="91440" marT="45720" marB="45720" anchor="ctr">
                    <a:lnL w="9525" cap="flat" cmpd="sng" algn="ctr">
                      <a:solidFill>
                        <a:srgbClr val="E3D6C0"/>
                      </a:solidFill>
                      <a:prstDash val="solid"/>
                      <a:round/>
                      <a:headEnd type="none" w="med" len="med"/>
                      <a:tailEnd type="none" w="med" len="med"/>
                    </a:lnL>
                    <a:lnR w="9525" cap="flat" cmpd="sng" algn="ctr">
                      <a:solidFill>
                        <a:srgbClr val="E3D6C0"/>
                      </a:solidFill>
                      <a:prstDash val="solid"/>
                      <a:round/>
                      <a:headEnd type="none" w="med" len="med"/>
                      <a:tailEnd type="none" w="med" len="med"/>
                    </a:lnR>
                    <a:lnT w="9525" cap="flat" cmpd="sng" algn="ctr">
                      <a:solidFill>
                        <a:srgbClr val="E3D6C0"/>
                      </a:solidFill>
                      <a:prstDash val="solid"/>
                      <a:round/>
                      <a:headEnd type="none" w="med" len="med"/>
                      <a:tailEnd type="none" w="med" len="med"/>
                    </a:lnT>
                    <a:lnB w="9525" cap="flat" cmpd="sng" algn="ctr">
                      <a:solidFill>
                        <a:srgbClr val="E3D6C0"/>
                      </a:solidFill>
                      <a:prstDash val="solid"/>
                      <a:round/>
                      <a:headEnd type="none" w="med" len="med"/>
                      <a:tailEnd type="none" w="med" len="med"/>
                    </a:lnB>
                    <a:solidFill>
                      <a:srgbClr val="A63D1F"/>
                    </a:solidFill>
                  </a:tcPr>
                </a:tc>
              </a:tr>
              <a:tr h="457200">
                <a:tc>
                  <a:txBody>
                    <a:bodyPr/>
                    <a:lstStyle/>
                    <a:p>
                      <a:pPr indent="0" marL="0">
                        <a:buNone/>
                      </a:pPr>
                      <a:r>
                        <a:rPr lang="en-US" sz="1100" dirty="0">
                          <a:solidFill>
                            <a:srgbClr val="1F3D2B"/>
                          </a:solidFill>
                          <a:latin typeface="Inter" pitchFamily="34" charset="0"/>
                          <a:ea typeface="Inter" pitchFamily="34" charset="-122"/>
                          <a:cs typeface="Inter" pitchFamily="34" charset="-120"/>
                        </a:rPr>
                        <a:t>Owners want warning before failures</a:t>
                      </a:r>
                      <a:endParaRPr lang="en-US" sz="1100" dirty="0">
                        <a:latin typeface="Inter" charset="0"/>
                        <a:ea typeface="Inter" charset="0"/>
                        <a:cs typeface="Inter" charset="0"/>
                      </a:endParaRPr>
                    </a:p>
                  </a:txBody>
                  <a:tcPr marL="91440" marR="91440" marT="45720" marB="45720" anchor="ctr">
                    <a:lnL w="9525" cap="flat" cmpd="sng" algn="ctr">
                      <a:solidFill>
                        <a:srgbClr val="E3D6C0"/>
                      </a:solidFill>
                      <a:prstDash val="solid"/>
                      <a:round/>
                      <a:headEnd type="none" w="med" len="med"/>
                      <a:tailEnd type="none" w="med" len="med"/>
                    </a:lnL>
                    <a:lnR w="9525" cap="flat" cmpd="sng" algn="ctr">
                      <a:solidFill>
                        <a:srgbClr val="E3D6C0"/>
                      </a:solidFill>
                      <a:prstDash val="solid"/>
                      <a:round/>
                      <a:headEnd type="none" w="med" len="med"/>
                      <a:tailEnd type="none" w="med" len="med"/>
                    </a:lnR>
                    <a:lnT w="9525" cap="flat" cmpd="sng" algn="ctr">
                      <a:solidFill>
                        <a:srgbClr val="E3D6C0"/>
                      </a:solidFill>
                      <a:prstDash val="solid"/>
                      <a:round/>
                      <a:headEnd type="none" w="med" len="med"/>
                      <a:tailEnd type="none" w="med" len="med"/>
                    </a:lnT>
                    <a:lnB w="9525" cap="flat" cmpd="sng" algn="ctr">
                      <a:solidFill>
                        <a:srgbClr val="E3D6C0"/>
                      </a:solidFill>
                      <a:prstDash val="solid"/>
                      <a:round/>
                      <a:headEnd type="none" w="med" len="med"/>
                      <a:tailEnd type="none" w="med" len="med"/>
                    </a:lnB>
                    <a:solidFill>
                      <a:srgbClr val="FFFDF8"/>
                    </a:solidFill>
                  </a:tcPr>
                </a:tc>
                <a:tc>
                  <a:txBody>
                    <a:bodyPr/>
                    <a:lstStyle/>
                    <a:p>
                      <a:pPr indent="0" marL="0">
                        <a:buNone/>
                      </a:pPr>
                      <a:r>
                        <a:rPr lang="en-US" sz="1100" dirty="0">
                          <a:solidFill>
                            <a:srgbClr val="1F3D2B"/>
                          </a:solidFill>
                          <a:latin typeface="Inter" pitchFamily="34" charset="0"/>
                          <a:ea typeface="Inter" pitchFamily="34" charset="-122"/>
                          <a:cs typeface="Inter" pitchFamily="34" charset="-120"/>
                        </a:rPr>
                        <a:t>Interviews</a:t>
                      </a:r>
                      <a:endParaRPr lang="en-US" sz="1100" dirty="0">
                        <a:latin typeface="Inter" charset="0"/>
                        <a:ea typeface="Inter" charset="0"/>
                        <a:cs typeface="Inter" charset="0"/>
                      </a:endParaRPr>
                    </a:p>
                  </a:txBody>
                  <a:tcPr marL="91440" marR="91440" marT="45720" marB="45720" anchor="ctr">
                    <a:lnL w="9525" cap="flat" cmpd="sng" algn="ctr">
                      <a:solidFill>
                        <a:srgbClr val="E3D6C0"/>
                      </a:solidFill>
                      <a:prstDash val="solid"/>
                      <a:round/>
                      <a:headEnd type="none" w="med" len="med"/>
                      <a:tailEnd type="none" w="med" len="med"/>
                    </a:lnL>
                    <a:lnR w="9525" cap="flat" cmpd="sng" algn="ctr">
                      <a:solidFill>
                        <a:srgbClr val="E3D6C0"/>
                      </a:solidFill>
                      <a:prstDash val="solid"/>
                      <a:round/>
                      <a:headEnd type="none" w="med" len="med"/>
                      <a:tailEnd type="none" w="med" len="med"/>
                    </a:lnR>
                    <a:lnT w="9525" cap="flat" cmpd="sng" algn="ctr">
                      <a:solidFill>
                        <a:srgbClr val="E3D6C0"/>
                      </a:solidFill>
                      <a:prstDash val="solid"/>
                      <a:round/>
                      <a:headEnd type="none" w="med" len="med"/>
                      <a:tailEnd type="none" w="med" len="med"/>
                    </a:lnT>
                    <a:lnB w="9525" cap="flat" cmpd="sng" algn="ctr">
                      <a:solidFill>
                        <a:srgbClr val="E3D6C0"/>
                      </a:solidFill>
                      <a:prstDash val="solid"/>
                      <a:round/>
                      <a:headEnd type="none" w="med" len="med"/>
                      <a:tailEnd type="none" w="med" len="med"/>
                    </a:lnB>
                    <a:solidFill>
                      <a:srgbClr val="FFFDF8"/>
                    </a:solidFill>
                  </a:tcPr>
                </a:tc>
                <a:tc>
                  <a:txBody>
                    <a:bodyPr/>
                    <a:lstStyle/>
                    <a:p>
                      <a:pPr indent="0" marL="0">
                        <a:buNone/>
                      </a:pPr>
                      <a:r>
                        <a:rPr lang="en-US" sz="1100" b="1" dirty="0">
                          <a:solidFill>
                            <a:srgbClr val="1F3D2B"/>
                          </a:solidFill>
                          <a:latin typeface="Inter" pitchFamily="34" charset="0"/>
                          <a:ea typeface="Inter" pitchFamily="34" charset="-122"/>
                          <a:cs typeface="Inter" pitchFamily="34" charset="-120"/>
                        </a:rPr>
                        <a:t>Partly supported</a:t>
                      </a:r>
                      <a:endParaRPr lang="en-US" sz="1100" dirty="0">
                        <a:latin typeface="Inter" charset="0"/>
                        <a:ea typeface="Inter" charset="0"/>
                        <a:cs typeface="Inter" charset="0"/>
                      </a:endParaRPr>
                    </a:p>
                  </a:txBody>
                  <a:tcPr marL="91440" marR="91440" marT="45720" marB="45720" anchor="ctr">
                    <a:lnL w="9525" cap="flat" cmpd="sng" algn="ctr">
                      <a:solidFill>
                        <a:srgbClr val="E3D6C0"/>
                      </a:solidFill>
                      <a:prstDash val="solid"/>
                      <a:round/>
                      <a:headEnd type="none" w="med" len="med"/>
                      <a:tailEnd type="none" w="med" len="med"/>
                    </a:lnL>
                    <a:lnR w="9525" cap="flat" cmpd="sng" algn="ctr">
                      <a:solidFill>
                        <a:srgbClr val="E3D6C0"/>
                      </a:solidFill>
                      <a:prstDash val="solid"/>
                      <a:round/>
                      <a:headEnd type="none" w="med" len="med"/>
                      <a:tailEnd type="none" w="med" len="med"/>
                    </a:lnR>
                    <a:lnT w="9525" cap="flat" cmpd="sng" algn="ctr">
                      <a:solidFill>
                        <a:srgbClr val="E3D6C0"/>
                      </a:solidFill>
                      <a:prstDash val="solid"/>
                      <a:round/>
                      <a:headEnd type="none" w="med" len="med"/>
                      <a:tailEnd type="none" w="med" len="med"/>
                    </a:lnT>
                    <a:lnB w="9525" cap="flat" cmpd="sng" algn="ctr">
                      <a:solidFill>
                        <a:srgbClr val="E3D6C0"/>
                      </a:solidFill>
                      <a:prstDash val="solid"/>
                      <a:round/>
                      <a:headEnd type="none" w="med" len="med"/>
                      <a:tailEnd type="none" w="med" len="med"/>
                    </a:lnB>
                    <a:solidFill>
                      <a:srgbClr val="F6D2B4"/>
                    </a:solidFill>
                  </a:tcPr>
                </a:tc>
              </a:tr>
              <a:tr h="457200">
                <a:tc>
                  <a:txBody>
                    <a:bodyPr/>
                    <a:lstStyle/>
                    <a:p>
                      <a:pPr indent="0" marL="0">
                        <a:buNone/>
                      </a:pPr>
                      <a:r>
                        <a:rPr lang="en-US" sz="1100" dirty="0">
                          <a:solidFill>
                            <a:srgbClr val="1F3D2B"/>
                          </a:solidFill>
                          <a:latin typeface="Inter" pitchFamily="34" charset="0"/>
                          <a:ea typeface="Inter" pitchFamily="34" charset="-122"/>
                          <a:cs typeface="Inter" pitchFamily="34" charset="-120"/>
                        </a:rPr>
                        <a:t>Staff switch equipment off at closing</a:t>
                      </a:r>
                      <a:endParaRPr lang="en-US" sz="1100" dirty="0">
                        <a:latin typeface="Inter" charset="0"/>
                        <a:ea typeface="Inter" charset="0"/>
                        <a:cs typeface="Inter" charset="0"/>
                      </a:endParaRPr>
                    </a:p>
                  </a:txBody>
                  <a:tcPr marL="91440" marR="91440" marT="45720" marB="45720" anchor="ctr">
                    <a:lnL w="9525" cap="flat" cmpd="sng" algn="ctr">
                      <a:solidFill>
                        <a:srgbClr val="E3D6C0"/>
                      </a:solidFill>
                      <a:prstDash val="solid"/>
                      <a:round/>
                      <a:headEnd type="none" w="med" len="med"/>
                      <a:tailEnd type="none" w="med" len="med"/>
                    </a:lnL>
                    <a:lnR w="9525" cap="flat" cmpd="sng" algn="ctr">
                      <a:solidFill>
                        <a:srgbClr val="E3D6C0"/>
                      </a:solidFill>
                      <a:prstDash val="solid"/>
                      <a:round/>
                      <a:headEnd type="none" w="med" len="med"/>
                      <a:tailEnd type="none" w="med" len="med"/>
                    </a:lnR>
                    <a:lnT w="9525" cap="flat" cmpd="sng" algn="ctr">
                      <a:solidFill>
                        <a:srgbClr val="E3D6C0"/>
                      </a:solidFill>
                      <a:prstDash val="solid"/>
                      <a:round/>
                      <a:headEnd type="none" w="med" len="med"/>
                      <a:tailEnd type="none" w="med" len="med"/>
                    </a:lnT>
                    <a:lnB w="9525" cap="flat" cmpd="sng" algn="ctr">
                      <a:solidFill>
                        <a:srgbClr val="E3D6C0"/>
                      </a:solidFill>
                      <a:prstDash val="solid"/>
                      <a:round/>
                      <a:headEnd type="none" w="med" len="med"/>
                      <a:tailEnd type="none" w="med" len="med"/>
                    </a:lnB>
                    <a:solidFill>
                      <a:srgbClr val="FFFDF8"/>
                    </a:solidFill>
                  </a:tcPr>
                </a:tc>
                <a:tc>
                  <a:txBody>
                    <a:bodyPr/>
                    <a:lstStyle/>
                    <a:p>
                      <a:pPr indent="0" marL="0">
                        <a:buNone/>
                      </a:pPr>
                      <a:r>
                        <a:rPr lang="en-US" sz="1100" dirty="0">
                          <a:solidFill>
                            <a:srgbClr val="1F3D2B"/>
                          </a:solidFill>
                          <a:latin typeface="Inter" pitchFamily="34" charset="0"/>
                          <a:ea typeface="Inter" pitchFamily="34" charset="-122"/>
                          <a:cs typeface="Inter" pitchFamily="34" charset="-120"/>
                        </a:rPr>
                        <a:t>Café interviews</a:t>
                      </a:r>
                      <a:endParaRPr lang="en-US" sz="1100" dirty="0">
                        <a:latin typeface="Inter" charset="0"/>
                        <a:ea typeface="Inter" charset="0"/>
                        <a:cs typeface="Inter" charset="0"/>
                      </a:endParaRPr>
                    </a:p>
                  </a:txBody>
                  <a:tcPr marL="91440" marR="91440" marT="45720" marB="45720" anchor="ctr">
                    <a:lnL w="9525" cap="flat" cmpd="sng" algn="ctr">
                      <a:solidFill>
                        <a:srgbClr val="E3D6C0"/>
                      </a:solidFill>
                      <a:prstDash val="solid"/>
                      <a:round/>
                      <a:headEnd type="none" w="med" len="med"/>
                      <a:tailEnd type="none" w="med" len="med"/>
                    </a:lnL>
                    <a:lnR w="9525" cap="flat" cmpd="sng" algn="ctr">
                      <a:solidFill>
                        <a:srgbClr val="E3D6C0"/>
                      </a:solidFill>
                      <a:prstDash val="solid"/>
                      <a:round/>
                      <a:headEnd type="none" w="med" len="med"/>
                      <a:tailEnd type="none" w="med" len="med"/>
                    </a:lnR>
                    <a:lnT w="9525" cap="flat" cmpd="sng" algn="ctr">
                      <a:solidFill>
                        <a:srgbClr val="E3D6C0"/>
                      </a:solidFill>
                      <a:prstDash val="solid"/>
                      <a:round/>
                      <a:headEnd type="none" w="med" len="med"/>
                      <a:tailEnd type="none" w="med" len="med"/>
                    </a:lnT>
                    <a:lnB w="9525" cap="flat" cmpd="sng" algn="ctr">
                      <a:solidFill>
                        <a:srgbClr val="E3D6C0"/>
                      </a:solidFill>
                      <a:prstDash val="solid"/>
                      <a:round/>
                      <a:headEnd type="none" w="med" len="med"/>
                      <a:tailEnd type="none" w="med" len="med"/>
                    </a:lnB>
                    <a:solidFill>
                      <a:srgbClr val="FFFDF8"/>
                    </a:solidFill>
                  </a:tcPr>
                </a:tc>
                <a:tc>
                  <a:txBody>
                    <a:bodyPr/>
                    <a:lstStyle/>
                    <a:p>
                      <a:pPr indent="0" marL="0">
                        <a:buNone/>
                      </a:pPr>
                      <a:r>
                        <a:rPr lang="en-US" sz="1100" b="1" dirty="0">
                          <a:solidFill>
                            <a:srgbClr val="FFFDF8"/>
                          </a:solidFill>
                          <a:latin typeface="Inter" pitchFamily="34" charset="0"/>
                          <a:ea typeface="Inter" pitchFamily="34" charset="-122"/>
                          <a:cs typeface="Inter" pitchFamily="34" charset="-120"/>
                        </a:rPr>
                        <a:t>Invalidated: control must sit with the owner</a:t>
                      </a:r>
                      <a:endParaRPr lang="en-US" sz="1100" dirty="0">
                        <a:latin typeface="Inter" charset="0"/>
                        <a:ea typeface="Inter" charset="0"/>
                        <a:cs typeface="Inter" charset="0"/>
                      </a:endParaRPr>
                    </a:p>
                  </a:txBody>
                  <a:tcPr marL="91440" marR="91440" marT="45720" marB="45720" anchor="ctr">
                    <a:lnL w="9525" cap="flat" cmpd="sng" algn="ctr">
                      <a:solidFill>
                        <a:srgbClr val="E3D6C0"/>
                      </a:solidFill>
                      <a:prstDash val="solid"/>
                      <a:round/>
                      <a:headEnd type="none" w="med" len="med"/>
                      <a:tailEnd type="none" w="med" len="med"/>
                    </a:lnL>
                    <a:lnR w="9525" cap="flat" cmpd="sng" algn="ctr">
                      <a:solidFill>
                        <a:srgbClr val="E3D6C0"/>
                      </a:solidFill>
                      <a:prstDash val="solid"/>
                      <a:round/>
                      <a:headEnd type="none" w="med" len="med"/>
                      <a:tailEnd type="none" w="med" len="med"/>
                    </a:lnR>
                    <a:lnT w="9525" cap="flat" cmpd="sng" algn="ctr">
                      <a:solidFill>
                        <a:srgbClr val="E3D6C0"/>
                      </a:solidFill>
                      <a:prstDash val="solid"/>
                      <a:round/>
                      <a:headEnd type="none" w="med" len="med"/>
                      <a:tailEnd type="none" w="med" len="med"/>
                    </a:lnT>
                    <a:lnB w="9525" cap="flat" cmpd="sng" algn="ctr">
                      <a:solidFill>
                        <a:srgbClr val="E3D6C0"/>
                      </a:solidFill>
                      <a:prstDash val="solid"/>
                      <a:round/>
                      <a:headEnd type="none" w="med" len="med"/>
                      <a:tailEnd type="none" w="med" len="med"/>
                    </a:lnB>
                    <a:solidFill>
                      <a:srgbClr val="A63D1F"/>
                    </a:solidFill>
                  </a:tcPr>
                </a:tc>
              </a:tr>
            </a:tbl>
          </a:graphicData>
        </a:graphic>
      </p:graphicFrame>
      <p:sp>
        <p:nvSpPr>
          <p:cNvPr id="21" name="Text 16"/>
          <p:cNvSpPr txBox="1"/>
          <p:nvPr/>
        </p:nvSpPr>
        <p:spPr>
          <a:xfrm>
            <a:off x="685800" y="4983480"/>
            <a:ext cx="10789920" cy="731520"/>
          </a:xfrm>
          <a:prstGeom prst="rect">
            <a:avLst/>
          </a:prstGeom>
          <a:noFill/>
          <a:ln/>
        </p:spPr>
        <p:txBody>
          <a:bodyPr wrap="square" lIns="0" tIns="0" rIns="0" bIns="0" rtlCol="0" anchor="t"/>
          <a:lstStyle/>
          <a:p>
            <a:pPr indent="0" marL="0">
              <a:buNone/>
            </a:pPr>
            <a:r>
              <a:rPr lang="en-US" sz="1500" dirty="0">
                <a:solidFill>
                  <a:schemeClr val="tx1"/>
                </a:solidFill>
              </a:rPr>
              <a:t>Every owner we asked builds electricity into rent or membership, so the headline moved from billing to predictive maintenance. And café staff forget equipment on, so we added scheduled shutdowns.</a:t>
            </a:r>
            <a:endParaRPr lang="en-US" sz="1500" dirty="0"/>
          </a:p>
        </p:txBody>
      </p:sp>
      <p:sp>
        <p:nvSpPr>
          <p:cNvPr id="22" name="Text 17"/>
          <p:cNvSpPr txBox="1"/>
          <p:nvPr/>
        </p:nvSpPr>
        <p:spPr>
          <a:xfrm>
            <a:off x="6400800" y="4572000"/>
            <a:ext cx="5120640" cy="274320"/>
          </a:xfrm>
          <a:prstGeom prst="rect">
            <a:avLst/>
          </a:prstGeom>
          <a:noFill/>
          <a:ln/>
        </p:spPr>
        <p:txBody>
          <a:bodyPr wrap="square" lIns="0" tIns="0" rIns="0" bIns="0" rtlCol="0" anchor="ctr"/>
          <a:lstStyle/>
          <a:p>
            <a:pPr indent="0" marL="0">
              <a:buNone/>
            </a:pPr>
            <a:r>
              <a:rPr lang="en-US" sz="1100" dirty="0">
                <a:solidFill>
                  <a:srgbClr val="5B6B5F"/>
                </a:solidFill>
              </a:rPr>
              <a:t>Full validation board in the appendix.</a:t>
            </a:r>
            <a:endParaRPr lang="en-US" sz="1100" dirty="0"/>
          </a:p>
        </p:txBody>
      </p:sp>
      <p:sp>
        <p:nvSpPr>
          <p:cNvPr id="25" name="Slide Number Placeholder 0"/>
          <p:cNvSpPr>
            <a:spLocks noGrp="1"/>
          </p:cNvSpPr>
          <p:nvPr>
            <p:ph type="sldNum" sz="quarter" idx="4294967295"/>
          </p:nvPr>
        </p:nvSpPr>
        <p:spPr>
          <a:xfrm>
            <a:off x="1106424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5F"/>
                </a:solidFill>
                <a:latin typeface="JetBrains Mono"/>
                <a:ea typeface="JetBrains Mono"/>
                <a:cs typeface="JetBrains Mono"/>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Heartbeat motif" descr="preencoded.png">    </p:cNvPr>
          <p:cNvPicPr>
            <a:picLocks noChangeAspect="1"/>
          </p:cNvPicPr>
          <p:nvPr/>
        </p:nvPicPr>
        <p:blipFill>
          <a:blip r:embed="rId1"/>
          <a:stretch>
            <a:fillRect/>
          </a:stretch>
        </p:blipFill>
        <p:spPr>
          <a:xfrm>
            <a:off x="0" y="2468880"/>
            <a:ext cx="12191695" cy="2113227"/>
          </a:xfrm>
          <a:prstGeom prst="rect">
            <a:avLst/>
          </a:prstGeom>
        </p:spPr>
      </p:pic>
      <p:sp>
        <p:nvSpPr>
          <p:cNvPr id="3" name="Text 0"/>
          <p:cNvSpPr txBox="1"/>
          <p:nvPr/>
        </p:nvSpPr>
        <p:spPr>
          <a:xfrm>
            <a:off x="685800" y="731520"/>
            <a:ext cx="10241280" cy="2194560"/>
          </a:xfrm>
          <a:prstGeom prst="rect">
            <a:avLst/>
          </a:prstGeom>
          <a:noFill/>
          <a:ln/>
        </p:spPr>
        <p:txBody>
          <a:bodyPr wrap="square" lIns="0" tIns="0" rIns="0" bIns="0" rtlCol="0" anchor="t"/>
          <a:lstStyle/>
          <a:p>
            <a:pPr indent="0" marL="0">
              <a:spcAft>
                <a:spcPts val="800"/>
              </a:spcAft>
              <a:buNone/>
            </a:pPr>
            <a:r>
              <a:rPr lang="en-US" sz="3800" b="1" dirty="0">
                <a:solidFill>
                  <a:srgbClr val="D6E4D3"/>
                </a:solidFill>
                <a:latin typeface="Space Grotesk" pitchFamily="34" charset="0"/>
                <a:ea typeface="Space Grotesk" pitchFamily="34" charset="-122"/>
                <a:cs typeface="Space Grotesk" pitchFamily="34" charset="-120"/>
              </a:rPr>
              <a:t>Skedda tells you who booked it.</a:t>
            </a:r>
            <a:endParaRPr lang="en-US" sz="3800" dirty="0"/>
          </a:p>
          <a:p>
            <a:pPr indent="0" marL="0">
              <a:spcAft>
                <a:spcPts val="800"/>
              </a:spcAft>
              <a:buNone/>
            </a:pPr>
            <a:r>
              <a:rPr lang="en-US" sz="3800" b="1" dirty="0">
                <a:solidFill>
                  <a:srgbClr val="F3EBDD"/>
                </a:solidFill>
                <a:latin typeface="Space Grotesk" pitchFamily="34" charset="0"/>
                <a:ea typeface="Space Grotesk" pitchFamily="34" charset="-122"/>
                <a:cs typeface="Space Grotesk" pitchFamily="34" charset="-120"/>
              </a:rPr>
              <a:t>PREVUMO tells you who used it, and when it's about to fail.</a:t>
            </a:r>
            <a:endParaRPr lang="en-US" sz="3800" dirty="0"/>
          </a:p>
        </p:txBody>
      </p:sp>
      <p:sp>
        <p:nvSpPr>
          <p:cNvPr id="4" name="Text 1"/>
          <p:cNvSpPr txBox="1"/>
          <p:nvPr/>
        </p:nvSpPr>
        <p:spPr>
          <a:xfrm>
            <a:off x="685800" y="5440680"/>
            <a:ext cx="6400800" cy="640080"/>
          </a:xfrm>
          <a:prstGeom prst="rect">
            <a:avLst/>
          </a:prstGeom>
          <a:noFill/>
          <a:ln/>
        </p:spPr>
        <p:txBody>
          <a:bodyPr wrap="square" lIns="0" tIns="0" rIns="0" bIns="0" rtlCol="0" anchor="ctr"/>
          <a:lstStyle/>
          <a:p>
            <a:pPr indent="0" marL="0">
              <a:buNone/>
            </a:pPr>
            <a:r>
              <a:rPr lang="en-US" sz="3000" b="1" dirty="0">
                <a:solidFill>
                  <a:srgbClr val="E07A2E"/>
                </a:solidFill>
                <a:latin typeface="Space Grotesk" pitchFamily="34" charset="0"/>
                <a:ea typeface="Space Grotesk" pitchFamily="34" charset="-122"/>
                <a:cs typeface="Space Grotesk" pitchFamily="34" charset="-120"/>
              </a:rPr>
              <a:t>Thank you. Questions?</a:t>
            </a:r>
            <a:endParaRPr lang="en-US" sz="3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685800" y="457200"/>
            <a:ext cx="10789920" cy="822960"/>
          </a:xfrm>
          <a:prstGeom prst="rect">
            <a:avLst/>
          </a:prstGeom>
          <a:noFill/>
          <a:ln/>
        </p:spPr>
        <p:txBody>
          <a:bodyPr wrap="square" lIns="0" tIns="0" rIns="0" bIns="0" rtlCol="0" anchor="t"/>
          <a:lstStyle/>
          <a:p>
            <a:pPr algn="l" indent="0" marL="0">
              <a:buNone/>
            </a:pPr>
            <a:r>
              <a:rPr lang="en-US" sz="3600" b="1" dirty="0">
                <a:solidFill>
                  <a:schemeClr val="tx1"/>
                </a:solidFill>
                <a:latin typeface="Space Grotesk" pitchFamily="34" charset="0"/>
                <a:ea typeface="Space Grotesk" pitchFamily="34" charset="-122"/>
                <a:cs typeface="Space Grotesk" pitchFamily="34" charset="-120"/>
              </a:rPr>
              <a:t>Remote shutdown hardware</a:t>
            </a:r>
            <a:endParaRPr lang="en-US" sz="3600" dirty="0"/>
          </a:p>
        </p:txBody>
      </p:sp>
      <p:sp>
        <p:nvSpPr>
          <p:cNvPr id="3" name="Text 1"/>
          <p:cNvSpPr txBox="1"/>
          <p:nvPr/>
        </p:nvSpPr>
        <p:spPr>
          <a:xfrm>
            <a:off x="1828800" y="6355080"/>
            <a:ext cx="2743200" cy="274320"/>
          </a:xfrm>
          <a:prstGeom prst="rect">
            <a:avLst/>
          </a:prstGeom>
          <a:noFill/>
          <a:ln/>
        </p:spPr>
        <p:txBody>
          <a:bodyPr wrap="square" lIns="0" tIns="0" rIns="0" bIns="0" rtlCol="0" anchor="ctr"/>
          <a:lstStyle/>
          <a:p>
            <a:pPr indent="0" marL="0">
              <a:buNone/>
            </a:pPr>
            <a:r>
              <a:rPr lang="en-US" sz="1000" dirty="0">
                <a:solidFill>
                  <a:srgbClr val="5B6B5F"/>
                </a:solidFill>
                <a:latin typeface="JetBrains Mono" pitchFamily="34" charset="0"/>
                <a:ea typeface="JetBrains Mono" pitchFamily="34" charset="-122"/>
                <a:cs typeface="JetBrains Mono" pitchFamily="34" charset="-120"/>
              </a:rPr>
              <a:t>Appendix · for Q&amp;A</a:t>
            </a:r>
            <a:endParaRPr lang="en-US" sz="1000" dirty="0"/>
          </a:p>
        </p:txBody>
      </p:sp>
      <p:sp>
        <p:nvSpPr>
          <p:cNvPr id="5" name="Shape 2"/>
          <p:cNvSpPr/>
          <p:nvPr/>
        </p:nvSpPr>
        <p:spPr>
          <a:xfrm>
            <a:off x="685800" y="1554480"/>
            <a:ext cx="3429000" cy="2926080"/>
          </a:xfrm>
          <a:prstGeom prst="roundRect">
            <a:avLst>
              <a:gd name="adj" fmla="val 3750"/>
            </a:avLst>
          </a:prstGeom>
          <a:solidFill>
            <a:schemeClr val="bg1"/>
          </a:solidFill>
          <a:ln w="9525">
            <a:solidFill>
              <a:srgbClr val="E3D6C0"/>
            </a:solidFill>
            <a:prstDash val="solid"/>
          </a:ln>
        </p:spPr>
      </p:sp>
      <p:sp>
        <p:nvSpPr>
          <p:cNvPr id="6" name="Text 3"/>
          <p:cNvSpPr txBox="1"/>
          <p:nvPr/>
        </p:nvSpPr>
        <p:spPr>
          <a:xfrm>
            <a:off x="1005840" y="1828800"/>
            <a:ext cx="2834640" cy="822960"/>
          </a:xfrm>
          <a:prstGeom prst="rect">
            <a:avLst/>
          </a:prstGeom>
          <a:noFill/>
          <a:ln/>
        </p:spPr>
        <p:txBody>
          <a:bodyPr wrap="square" lIns="0" tIns="0" rIns="0" bIns="0" rtlCol="0" anchor="t"/>
          <a:lstStyle/>
          <a:p>
            <a:pPr indent="0" marL="0">
              <a:buNone/>
            </a:pPr>
            <a:r>
              <a:rPr lang="en-US" sz="2400" b="1" dirty="0">
                <a:solidFill>
                  <a:srgbClr val="1F3D2B"/>
                </a:solidFill>
                <a:latin typeface="Space Grotesk" pitchFamily="34" charset="0"/>
                <a:ea typeface="Space Grotesk" pitchFamily="34" charset="-122"/>
                <a:cs typeface="Space Grotesk" pitchFamily="34" charset="-120"/>
              </a:rPr>
              <a:t>Up to 15 A at 120 V</a:t>
            </a:r>
            <a:endParaRPr lang="en-US" sz="2400" dirty="0"/>
          </a:p>
        </p:txBody>
      </p:sp>
      <p:sp>
        <p:nvSpPr>
          <p:cNvPr id="7" name="Text 4"/>
          <p:cNvSpPr txBox="1"/>
          <p:nvPr/>
        </p:nvSpPr>
        <p:spPr>
          <a:xfrm>
            <a:off x="1005840" y="2743200"/>
            <a:ext cx="2834640" cy="1371600"/>
          </a:xfrm>
          <a:prstGeom prst="rect">
            <a:avLst/>
          </a:prstGeom>
          <a:noFill/>
          <a:ln/>
        </p:spPr>
        <p:txBody>
          <a:bodyPr wrap="square" lIns="0" tIns="0" rIns="0" bIns="0" rtlCol="0" anchor="t"/>
          <a:lstStyle/>
          <a:p>
            <a:pPr indent="0" marL="0">
              <a:buNone/>
            </a:pPr>
            <a:r>
              <a:rPr lang="en-US" sz="1600" dirty="0">
                <a:solidFill>
                  <a:srgbClr val="5B6B5F"/>
                </a:solidFill>
              </a:rPr>
              <a:t>A certified relay inside the box switches the machine directly.</a:t>
            </a:r>
            <a:endParaRPr lang="en-US" sz="1600" dirty="0"/>
          </a:p>
        </p:txBody>
      </p:sp>
      <p:sp>
        <p:nvSpPr>
          <p:cNvPr id="8" name="Shape 5"/>
          <p:cNvSpPr/>
          <p:nvPr/>
        </p:nvSpPr>
        <p:spPr>
          <a:xfrm>
            <a:off x="4343400" y="1554480"/>
            <a:ext cx="3429000" cy="2926080"/>
          </a:xfrm>
          <a:prstGeom prst="roundRect">
            <a:avLst>
              <a:gd name="adj" fmla="val 3750"/>
            </a:avLst>
          </a:prstGeom>
          <a:solidFill>
            <a:schemeClr val="bg1"/>
          </a:solidFill>
          <a:ln w="9525">
            <a:solidFill>
              <a:srgbClr val="E3D6C0"/>
            </a:solidFill>
            <a:prstDash val="solid"/>
          </a:ln>
        </p:spPr>
      </p:sp>
      <p:sp>
        <p:nvSpPr>
          <p:cNvPr id="9" name="Text 6"/>
          <p:cNvSpPr txBox="1"/>
          <p:nvPr/>
        </p:nvSpPr>
        <p:spPr>
          <a:xfrm>
            <a:off x="4663440" y="1828800"/>
            <a:ext cx="2834640" cy="822960"/>
          </a:xfrm>
          <a:prstGeom prst="rect">
            <a:avLst/>
          </a:prstGeom>
          <a:noFill/>
          <a:ln/>
        </p:spPr>
        <p:txBody>
          <a:bodyPr wrap="square" lIns="0" tIns="0" rIns="0" bIns="0" rtlCol="0" anchor="t"/>
          <a:lstStyle/>
          <a:p>
            <a:pPr indent="0" marL="0">
              <a:buNone/>
            </a:pPr>
            <a:r>
              <a:rPr lang="en-US" sz="2400" b="1" dirty="0">
                <a:solidFill>
                  <a:srgbClr val="1F3D2B"/>
                </a:solidFill>
                <a:latin typeface="Space Grotesk" pitchFamily="34" charset="0"/>
                <a:ea typeface="Space Grotesk" pitchFamily="34" charset="-122"/>
                <a:cs typeface="Space Grotesk" pitchFamily="34" charset="-120"/>
              </a:rPr>
              <a:t>240 V or 3-phase</a:t>
            </a:r>
            <a:endParaRPr lang="en-US" sz="2400" dirty="0"/>
          </a:p>
        </p:txBody>
      </p:sp>
      <p:sp>
        <p:nvSpPr>
          <p:cNvPr id="10" name="Text 7"/>
          <p:cNvSpPr txBox="1"/>
          <p:nvPr/>
        </p:nvSpPr>
        <p:spPr>
          <a:xfrm>
            <a:off x="4663440" y="2743200"/>
            <a:ext cx="2834640" cy="1371600"/>
          </a:xfrm>
          <a:prstGeom prst="rect">
            <a:avLst/>
          </a:prstGeom>
          <a:noFill/>
          <a:ln/>
        </p:spPr>
        <p:txBody>
          <a:bodyPr wrap="square" lIns="0" tIns="0" rIns="0" bIns="0" rtlCol="0" anchor="t"/>
          <a:lstStyle/>
          <a:p>
            <a:pPr indent="0" marL="0">
              <a:buNone/>
            </a:pPr>
            <a:r>
              <a:rPr lang="en-US" sz="1600" dirty="0">
                <a:solidFill>
                  <a:srgbClr val="5B6B5F"/>
                </a:solidFill>
              </a:rPr>
              <a:t>The box drives a contactor, installed by a licensed electrician.</a:t>
            </a:r>
            <a:endParaRPr lang="en-US" sz="1600" dirty="0"/>
          </a:p>
        </p:txBody>
      </p:sp>
      <p:sp>
        <p:nvSpPr>
          <p:cNvPr id="11" name="Shape 8"/>
          <p:cNvSpPr/>
          <p:nvPr/>
        </p:nvSpPr>
        <p:spPr>
          <a:xfrm>
            <a:off x="8001000" y="1554480"/>
            <a:ext cx="3429000" cy="2926080"/>
          </a:xfrm>
          <a:prstGeom prst="roundRect">
            <a:avLst>
              <a:gd name="adj" fmla="val 3750"/>
            </a:avLst>
          </a:prstGeom>
          <a:solidFill>
            <a:schemeClr val="bg1"/>
          </a:solidFill>
          <a:ln w="9525">
            <a:solidFill>
              <a:srgbClr val="E3D6C0"/>
            </a:solidFill>
            <a:prstDash val="solid"/>
          </a:ln>
        </p:spPr>
      </p:sp>
      <p:sp>
        <p:nvSpPr>
          <p:cNvPr id="12" name="Text 9"/>
          <p:cNvSpPr txBox="1"/>
          <p:nvPr/>
        </p:nvSpPr>
        <p:spPr>
          <a:xfrm>
            <a:off x="8321040" y="1828800"/>
            <a:ext cx="2834640" cy="822960"/>
          </a:xfrm>
          <a:prstGeom prst="rect">
            <a:avLst/>
          </a:prstGeom>
          <a:noFill/>
          <a:ln/>
        </p:spPr>
        <p:txBody>
          <a:bodyPr wrap="square" lIns="0" tIns="0" rIns="0" bIns="0" rtlCol="0" anchor="t"/>
          <a:lstStyle/>
          <a:p>
            <a:pPr indent="0" marL="0">
              <a:buNone/>
            </a:pPr>
            <a:r>
              <a:rPr lang="en-US" sz="2400" b="1" dirty="0">
                <a:solidFill>
                  <a:srgbClr val="1F3D2B"/>
                </a:solidFill>
                <a:latin typeface="Space Grotesk" pitchFamily="34" charset="0"/>
                <a:ea typeface="Space Grotesk" pitchFamily="34" charset="-122"/>
                <a:cs typeface="Space Grotesk" pitchFamily="34" charset="-120"/>
              </a:rPr>
              <a:t>Before we sell</a:t>
            </a:r>
            <a:endParaRPr lang="en-US" sz="2400" dirty="0"/>
          </a:p>
        </p:txBody>
      </p:sp>
      <p:sp>
        <p:nvSpPr>
          <p:cNvPr id="13" name="Text 10"/>
          <p:cNvSpPr txBox="1"/>
          <p:nvPr/>
        </p:nvSpPr>
        <p:spPr>
          <a:xfrm>
            <a:off x="8321040" y="2743200"/>
            <a:ext cx="2834640" cy="1371600"/>
          </a:xfrm>
          <a:prstGeom prst="rect">
            <a:avLst/>
          </a:prstGeom>
          <a:noFill/>
          <a:ln/>
        </p:spPr>
        <p:txBody>
          <a:bodyPr wrap="square" lIns="0" tIns="0" rIns="0" bIns="0" rtlCol="0" anchor="t"/>
          <a:lstStyle/>
          <a:p>
            <a:pPr indent="0" marL="0">
              <a:buNone/>
            </a:pPr>
            <a:r>
              <a:rPr lang="en-US" sz="1600" dirty="0">
                <a:solidFill>
                  <a:srgbClr val="5B6B5F"/>
                </a:solidFill>
              </a:rPr>
              <a:t>CSA certification of the box is required.</a:t>
            </a:r>
            <a:endParaRPr lang="en-US" sz="1600" dirty="0"/>
          </a:p>
        </p:txBody>
      </p:sp>
      <p:pic>
        <p:nvPicPr>
          <p:cNvPr id="14" name="Image 0" descr="preencoded.png">    </p:cNvPr>
          <p:cNvPicPr>
            <a:picLocks noChangeAspect="1"/>
          </p:cNvPicPr>
          <p:nvPr/>
        </p:nvPicPr>
        <p:blipFill>
          <a:blip r:embed="rId1"/>
          <a:stretch>
            <a:fillRect/>
          </a:stretch>
        </p:blipFill>
        <p:spPr>
          <a:xfrm>
            <a:off x="685800" y="4937760"/>
            <a:ext cx="384048" cy="384048"/>
          </a:xfrm>
          <a:prstGeom prst="rect">
            <a:avLst/>
          </a:prstGeom>
        </p:spPr>
      </p:pic>
      <p:sp>
        <p:nvSpPr>
          <p:cNvPr id="15" name="Text 11"/>
          <p:cNvSpPr txBox="1"/>
          <p:nvPr/>
        </p:nvSpPr>
        <p:spPr>
          <a:xfrm>
            <a:off x="1188720" y="4892040"/>
            <a:ext cx="10058400" cy="502920"/>
          </a:xfrm>
          <a:prstGeom prst="rect">
            <a:avLst/>
          </a:prstGeom>
          <a:noFill/>
          <a:ln/>
        </p:spPr>
        <p:txBody>
          <a:bodyPr wrap="square" lIns="0" tIns="0" rIns="0" bIns="0" rtlCol="0" anchor="ctr"/>
          <a:lstStyle/>
          <a:p>
            <a:pPr indent="0" marL="0">
              <a:buNone/>
            </a:pPr>
            <a:r>
              <a:rPr lang="en-US" sz="1500" dirty="0">
                <a:solidFill>
                  <a:srgbClr val="1F3D2B"/>
                </a:solidFill>
              </a:rPr>
              <a:t>After any shutdown the machine stays off until someone starts it again. Fridges and freezers are never cut.</a:t>
            </a:r>
            <a:endParaRPr lang="en-US" sz="1500" dirty="0"/>
          </a:p>
        </p:txBody>
      </p:sp>
      <p:sp>
        <p:nvSpPr>
          <p:cNvPr id="25" name="Slide Number Placeholder 0"/>
          <p:cNvSpPr>
            <a:spLocks noGrp="1"/>
          </p:cNvSpPr>
          <p:nvPr>
            <p:ph type="sldNum" sz="quarter" idx="4294967295"/>
          </p:nvPr>
        </p:nvSpPr>
        <p:spPr>
          <a:xfrm>
            <a:off x="1106424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5F"/>
                </a:solidFill>
                <a:latin typeface="JetBrains Mono"/>
                <a:ea typeface="JetBrains Mono"/>
                <a:cs typeface="JetBrains Mono"/>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685800" y="457200"/>
            <a:ext cx="10789920" cy="822960"/>
          </a:xfrm>
          <a:prstGeom prst="rect">
            <a:avLst/>
          </a:prstGeom>
          <a:noFill/>
          <a:ln/>
        </p:spPr>
        <p:txBody>
          <a:bodyPr wrap="square" lIns="0" tIns="0" rIns="0" bIns="0" rtlCol="0" anchor="t"/>
          <a:lstStyle/>
          <a:p>
            <a:pPr algn="l" indent="0" marL="0">
              <a:buNone/>
            </a:pPr>
            <a:r>
              <a:rPr lang="en-US" sz="3600" b="1" dirty="0">
                <a:solidFill>
                  <a:schemeClr val="tx1"/>
                </a:solidFill>
                <a:latin typeface="Space Grotesk" pitchFamily="34" charset="0"/>
                <a:ea typeface="Space Grotesk" pitchFamily="34" charset="-122"/>
                <a:cs typeface="Space Grotesk" pitchFamily="34" charset="-120"/>
              </a:rPr>
              <a:t>Learning, privacy and limits</a:t>
            </a:r>
            <a:endParaRPr lang="en-US" sz="3600" dirty="0"/>
          </a:p>
        </p:txBody>
      </p:sp>
      <p:sp>
        <p:nvSpPr>
          <p:cNvPr id="3" name="Text 1"/>
          <p:cNvSpPr txBox="1"/>
          <p:nvPr/>
        </p:nvSpPr>
        <p:spPr>
          <a:xfrm>
            <a:off x="1828800" y="6355080"/>
            <a:ext cx="2743200" cy="274320"/>
          </a:xfrm>
          <a:prstGeom prst="rect">
            <a:avLst/>
          </a:prstGeom>
          <a:noFill/>
          <a:ln/>
        </p:spPr>
        <p:txBody>
          <a:bodyPr wrap="square" lIns="0" tIns="0" rIns="0" bIns="0" rtlCol="0" anchor="ctr"/>
          <a:lstStyle/>
          <a:p>
            <a:pPr indent="0" marL="0">
              <a:buNone/>
            </a:pPr>
            <a:r>
              <a:rPr lang="en-US" sz="1000" dirty="0">
                <a:solidFill>
                  <a:srgbClr val="5B6B5F"/>
                </a:solidFill>
                <a:latin typeface="JetBrains Mono" pitchFamily="34" charset="0"/>
                <a:ea typeface="JetBrains Mono" pitchFamily="34" charset="-122"/>
                <a:cs typeface="JetBrains Mono" pitchFamily="34" charset="-120"/>
              </a:rPr>
              <a:t>Appendix · for Q&amp;A</a:t>
            </a:r>
            <a:endParaRPr lang="en-US" sz="1000" dirty="0"/>
          </a:p>
        </p:txBody>
      </p:sp>
      <p:sp>
        <p:nvSpPr>
          <p:cNvPr id="5" name="Text 2"/>
          <p:cNvSpPr txBox="1"/>
          <p:nvPr/>
        </p:nvSpPr>
        <p:spPr>
          <a:xfrm>
            <a:off x="685800" y="1645920"/>
            <a:ext cx="3383280" cy="822960"/>
          </a:xfrm>
          <a:prstGeom prst="rect">
            <a:avLst/>
          </a:prstGeom>
          <a:noFill/>
          <a:ln/>
        </p:spPr>
        <p:txBody>
          <a:bodyPr wrap="square" lIns="0" tIns="0" rIns="0" bIns="0" rtlCol="0" anchor="b"/>
          <a:lstStyle/>
          <a:p>
            <a:pPr indent="0" marL="0">
              <a:buNone/>
            </a:pPr>
            <a:r>
              <a:rPr lang="en-US" sz="3000" dirty="0">
                <a:solidFill>
                  <a:srgbClr val="1F3D2B"/>
                </a:solidFill>
                <a:latin typeface="JetBrains Mono" pitchFamily="34" charset="0"/>
                <a:ea typeface="JetBrains Mono" pitchFamily="34" charset="-122"/>
                <a:cs typeface="JetBrains Mono" pitchFamily="34" charset="-120"/>
              </a:rPr>
              <a:t>About 7 days</a:t>
            </a:r>
            <a:endParaRPr lang="en-US" sz="3000" dirty="0"/>
          </a:p>
        </p:txBody>
      </p:sp>
      <p:sp>
        <p:nvSpPr>
          <p:cNvPr id="6" name="Text 3"/>
          <p:cNvSpPr txBox="1"/>
          <p:nvPr/>
        </p:nvSpPr>
        <p:spPr>
          <a:xfrm>
            <a:off x="685800" y="2606040"/>
            <a:ext cx="3200400" cy="1280160"/>
          </a:xfrm>
          <a:prstGeom prst="rect">
            <a:avLst/>
          </a:prstGeom>
          <a:noFill/>
          <a:ln/>
        </p:spPr>
        <p:txBody>
          <a:bodyPr wrap="square" lIns="0" tIns="0" rIns="0" bIns="0" rtlCol="0" anchor="t"/>
          <a:lstStyle/>
          <a:p>
            <a:pPr indent="0" marL="0">
              <a:buNone/>
            </a:pPr>
            <a:r>
              <a:rPr lang="en-US" sz="1600" dirty="0">
                <a:solidFill>
                  <a:srgbClr val="5B6B5F"/>
                </a:solidFill>
              </a:rPr>
              <a:t>to learn a new machine's normal current pattern. Alerts switch on after that.</a:t>
            </a:r>
            <a:endParaRPr lang="en-US" sz="1600" dirty="0"/>
          </a:p>
        </p:txBody>
      </p:sp>
      <p:sp>
        <p:nvSpPr>
          <p:cNvPr id="7" name="Text 4"/>
          <p:cNvSpPr txBox="1"/>
          <p:nvPr/>
        </p:nvSpPr>
        <p:spPr>
          <a:xfrm>
            <a:off x="4343400" y="1645920"/>
            <a:ext cx="3383280" cy="822960"/>
          </a:xfrm>
          <a:prstGeom prst="rect">
            <a:avLst/>
          </a:prstGeom>
          <a:noFill/>
          <a:ln/>
        </p:spPr>
        <p:txBody>
          <a:bodyPr wrap="square" lIns="0" tIns="0" rIns="0" bIns="0" rtlCol="0" anchor="b"/>
          <a:lstStyle/>
          <a:p>
            <a:pPr indent="0" marL="0">
              <a:buNone/>
            </a:pPr>
            <a:r>
              <a:rPr lang="en-US" sz="3000" b="1" dirty="0">
                <a:solidFill>
                  <a:srgbClr val="1F3D2B"/>
                </a:solidFill>
                <a:latin typeface="Space Grotesk" pitchFamily="34" charset="0"/>
                <a:ea typeface="Space Grotesk" pitchFamily="34" charset="-122"/>
                <a:cs typeface="Space Grotesk" pitchFamily="34" charset="-120"/>
              </a:rPr>
              <a:t>Owner only</a:t>
            </a:r>
            <a:endParaRPr lang="en-US" sz="3000" dirty="0"/>
          </a:p>
        </p:txBody>
      </p:sp>
      <p:sp>
        <p:nvSpPr>
          <p:cNvPr id="8" name="Text 5"/>
          <p:cNvSpPr txBox="1"/>
          <p:nvPr/>
        </p:nvSpPr>
        <p:spPr>
          <a:xfrm>
            <a:off x="4343400" y="2606040"/>
            <a:ext cx="3200400" cy="1280160"/>
          </a:xfrm>
          <a:prstGeom prst="rect">
            <a:avLst/>
          </a:prstGeom>
          <a:noFill/>
          <a:ln/>
        </p:spPr>
        <p:txBody>
          <a:bodyPr wrap="square" lIns="0" tIns="0" rIns="0" bIns="0" rtlCol="0" anchor="t"/>
          <a:lstStyle/>
          <a:p>
            <a:pPr indent="0" marL="0">
              <a:buNone/>
            </a:pPr>
            <a:r>
              <a:rPr lang="en-US" sz="1600" dirty="0">
                <a:solidFill>
                  <a:srgbClr val="5B6B5F"/>
                </a:solidFill>
              </a:rPr>
              <a:t>Usage data belongs to the owner's account. Members don't see each other's sessions.</a:t>
            </a:r>
            <a:endParaRPr lang="en-US" sz="1600" dirty="0"/>
          </a:p>
        </p:txBody>
      </p:sp>
      <p:sp>
        <p:nvSpPr>
          <p:cNvPr id="9" name="Text 6"/>
          <p:cNvSpPr txBox="1"/>
          <p:nvPr/>
        </p:nvSpPr>
        <p:spPr>
          <a:xfrm>
            <a:off x="8001000" y="1645920"/>
            <a:ext cx="3383280" cy="822960"/>
          </a:xfrm>
          <a:prstGeom prst="rect">
            <a:avLst/>
          </a:prstGeom>
          <a:noFill/>
          <a:ln/>
        </p:spPr>
        <p:txBody>
          <a:bodyPr wrap="square" lIns="0" tIns="0" rIns="0" bIns="0" rtlCol="0" anchor="b"/>
          <a:lstStyle/>
          <a:p>
            <a:pPr indent="0" marL="0">
              <a:buNone/>
            </a:pPr>
            <a:r>
              <a:rPr lang="en-US" sz="3000" b="1" dirty="0">
                <a:solidFill>
                  <a:srgbClr val="1F3D2B"/>
                </a:solidFill>
                <a:latin typeface="Space Grotesk" pitchFamily="34" charset="0"/>
                <a:ea typeface="Space Grotesk" pitchFamily="34" charset="-122"/>
                <a:cs typeface="Space Grotesk" pitchFamily="34" charset="-120"/>
              </a:rPr>
              <a:t>Electric only</a:t>
            </a:r>
            <a:endParaRPr lang="en-US" sz="3000" dirty="0"/>
          </a:p>
        </p:txBody>
      </p:sp>
      <p:sp>
        <p:nvSpPr>
          <p:cNvPr id="10" name="Text 7"/>
          <p:cNvSpPr txBox="1"/>
          <p:nvPr/>
        </p:nvSpPr>
        <p:spPr>
          <a:xfrm>
            <a:off x="8001000" y="2606040"/>
            <a:ext cx="3200400" cy="1280160"/>
          </a:xfrm>
          <a:prstGeom prst="rect">
            <a:avLst/>
          </a:prstGeom>
          <a:noFill/>
          <a:ln/>
        </p:spPr>
        <p:txBody>
          <a:bodyPr wrap="square" lIns="0" tIns="0" rIns="0" bIns="0" rtlCol="0" anchor="t"/>
          <a:lstStyle/>
          <a:p>
            <a:pPr indent="0" marL="0">
              <a:buNone/>
            </a:pPr>
            <a:r>
              <a:rPr lang="en-US" sz="1600" dirty="0">
                <a:solidFill>
                  <a:srgbClr val="5B6B5F"/>
                </a:solidFill>
              </a:rPr>
              <a:t>Gas equipment is invisible to electricity data.</a:t>
            </a:r>
            <a:endParaRPr lang="en-US" sz="1600" dirty="0"/>
          </a:p>
        </p:txBody>
      </p:sp>
      <p:pic>
        <p:nvPicPr>
          <p:cNvPr id="11" name="Heartbeat divider" descr="preencoded.png">    </p:cNvPr>
          <p:cNvPicPr>
            <a:picLocks noChangeAspect="1"/>
          </p:cNvPicPr>
          <p:nvPr/>
        </p:nvPicPr>
        <p:blipFill>
          <a:blip r:embed="rId1"/>
          <a:stretch>
            <a:fillRect/>
          </a:stretch>
        </p:blipFill>
        <p:spPr>
          <a:xfrm>
            <a:off x="685800" y="4297680"/>
            <a:ext cx="10789920" cy="539496"/>
          </a:xfrm>
          <a:prstGeom prst="rect">
            <a:avLst/>
          </a:prstGeom>
        </p:spPr>
      </p:pic>
      <p:sp>
        <p:nvSpPr>
          <p:cNvPr id="25" name="Slide Number Placeholder 0"/>
          <p:cNvSpPr>
            <a:spLocks noGrp="1"/>
          </p:cNvSpPr>
          <p:nvPr>
            <p:ph type="sldNum" sz="quarter" idx="4294967295"/>
          </p:nvPr>
        </p:nvSpPr>
        <p:spPr>
          <a:xfrm>
            <a:off x="1106424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5F"/>
                </a:solidFill>
                <a:latin typeface="JetBrains Mono"/>
                <a:ea typeface="JetBrains Mono"/>
                <a:cs typeface="JetBrains Mono"/>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685800" y="457200"/>
            <a:ext cx="10789920" cy="822960"/>
          </a:xfrm>
          <a:prstGeom prst="rect">
            <a:avLst/>
          </a:prstGeom>
          <a:noFill/>
          <a:ln/>
        </p:spPr>
        <p:txBody>
          <a:bodyPr wrap="square" lIns="0" tIns="0" rIns="0" bIns="0" rtlCol="0" anchor="t"/>
          <a:lstStyle/>
          <a:p>
            <a:pPr algn="l" indent="0" marL="0">
              <a:buNone/>
            </a:pPr>
            <a:r>
              <a:rPr lang="en-US" sz="3600" b="1" dirty="0">
                <a:solidFill>
                  <a:schemeClr val="tx1"/>
                </a:solidFill>
                <a:latin typeface="Space Grotesk" pitchFamily="34" charset="0"/>
                <a:ea typeface="Space Grotesk" pitchFamily="34" charset="-122"/>
                <a:cs typeface="Space Grotesk" pitchFamily="34" charset="-120"/>
              </a:rPr>
              <a:t>Validation board</a:t>
            </a:r>
            <a:endParaRPr lang="en-US" sz="3600" dirty="0"/>
          </a:p>
        </p:txBody>
      </p:sp>
      <p:sp>
        <p:nvSpPr>
          <p:cNvPr id="3" name="Text 1"/>
          <p:cNvSpPr txBox="1"/>
          <p:nvPr/>
        </p:nvSpPr>
        <p:spPr>
          <a:xfrm>
            <a:off x="1828800" y="6355080"/>
            <a:ext cx="2743200" cy="274320"/>
          </a:xfrm>
          <a:prstGeom prst="rect">
            <a:avLst/>
          </a:prstGeom>
          <a:noFill/>
          <a:ln/>
        </p:spPr>
        <p:txBody>
          <a:bodyPr wrap="square" lIns="0" tIns="0" rIns="0" bIns="0" rtlCol="0" anchor="ctr"/>
          <a:lstStyle/>
          <a:p>
            <a:pPr indent="0" marL="0">
              <a:buNone/>
            </a:pPr>
            <a:r>
              <a:rPr lang="en-US" sz="1000" dirty="0">
                <a:solidFill>
                  <a:srgbClr val="5B6B5F"/>
                </a:solidFill>
                <a:latin typeface="JetBrains Mono" pitchFamily="34" charset="0"/>
                <a:ea typeface="JetBrains Mono" pitchFamily="34" charset="-122"/>
                <a:cs typeface="JetBrains Mono" pitchFamily="34" charset="-120"/>
              </a:rPr>
              <a:t>Appendix · for Q&amp;A</a:t>
            </a:r>
            <a:endParaRPr lang="en-US" sz="1000" dirty="0"/>
          </a:p>
        </p:txBody>
      </p:sp>
      <p:graphicFrame>
        <p:nvGraphicFramePr>
          <p:cNvPr id="15" name="Full validation board"/>
          <p:cNvGraphicFramePr>
            <a:graphicFrameLocks noGrp="1"/>
          </p:cNvGraphicFramePr>
          <p:nvPr>
            <p:extLst>
              <p:ext uri="{D42A27DB-BD31-4B8C-83A1-F6EECF244321}">
                <p14:modId xmlns:p14="http://schemas.microsoft.com/office/powerpoint/2010/main" val="1579011935"/>
              </p:ext>
            </p:extLst>
          </p:nvPr>
        </p:nvGraphicFramePr>
        <p:xfrm>
          <a:off x="685800" y="1417320"/>
          <a:ext cx="10789920" cy="914400"/>
        </p:xfrm>
        <a:graphic>
          <a:graphicData uri="http://schemas.openxmlformats.org/drawingml/2006/table">
            <a:tbl>
              <a:tblPr/>
              <a:tblGrid>
                <a:gridCol w="1691640"/>
                <a:gridCol w="1783080"/>
                <a:gridCol w="2057400"/>
                <a:gridCol w="1600200"/>
                <a:gridCol w="1691640"/>
                <a:gridCol w="1965960"/>
              </a:tblGrid>
              <a:tr h="365760">
                <a:tc>
                  <a:txBody>
                    <a:bodyPr/>
                    <a:lstStyle/>
                    <a:p>
                      <a:pPr indent="0" marL="0">
                        <a:buNone/>
                      </a:pPr>
                      <a:r>
                        <a:rPr lang="en-US" sz="1200" b="1" dirty="0">
                          <a:solidFill>
                            <a:srgbClr val="5B6B5F"/>
                          </a:solidFill>
                          <a:latin typeface="Inter" pitchFamily="34" charset="0"/>
                          <a:ea typeface="Inter" pitchFamily="34" charset="-122"/>
                          <a:cs typeface="Inter" pitchFamily="34" charset="-120"/>
                        </a:rPr>
                        <a:t>Customer</a:t>
                      </a:r>
                      <a:endParaRPr lang="en-US" sz="1200" dirty="0">
                        <a:latin typeface="Inter" charset="0"/>
                        <a:ea typeface="Inter" charset="0"/>
                        <a:cs typeface="Inter" charset="0"/>
                      </a:endParaRPr>
                    </a:p>
                  </a:txBody>
                  <a:tcPr marL="73152" marR="73152" marT="45720" marB="45720" anchor="ctr">
                    <a:lnL w="9525" cap="flat" cmpd="sng" algn="ctr">
                      <a:solidFill>
                        <a:srgbClr val="E3D6C0"/>
                      </a:solidFill>
                      <a:prstDash val="solid"/>
                      <a:round/>
                      <a:headEnd type="none" w="med" len="med"/>
                      <a:tailEnd type="none" w="med" len="med"/>
                    </a:lnL>
                    <a:lnR w="9525" cap="flat" cmpd="sng" algn="ctr">
                      <a:solidFill>
                        <a:srgbClr val="E3D6C0"/>
                      </a:solidFill>
                      <a:prstDash val="solid"/>
                      <a:round/>
                      <a:headEnd type="none" w="med" len="med"/>
                      <a:tailEnd type="none" w="med" len="med"/>
                    </a:lnR>
                    <a:lnT w="9525" cap="flat" cmpd="sng" algn="ctr">
                      <a:solidFill>
                        <a:srgbClr val="E3D6C0"/>
                      </a:solidFill>
                      <a:prstDash val="solid"/>
                      <a:round/>
                      <a:headEnd type="none" w="med" len="med"/>
                      <a:tailEnd type="none" w="med" len="med"/>
                    </a:lnT>
                    <a:lnB w="9525" cap="flat" cmpd="sng" algn="ctr">
                      <a:solidFill>
                        <a:srgbClr val="E3D6C0"/>
                      </a:solidFill>
                      <a:prstDash val="solid"/>
                      <a:round/>
                      <a:headEnd type="none" w="med" len="med"/>
                      <a:tailEnd type="none" w="med" len="med"/>
                    </a:lnB>
                    <a:solidFill>
                      <a:srgbClr val="F3EBDD"/>
                    </a:solidFill>
                  </a:tcPr>
                </a:tc>
                <a:tc>
                  <a:txBody>
                    <a:bodyPr/>
                    <a:lstStyle/>
                    <a:p>
                      <a:pPr indent="0" marL="0">
                        <a:buNone/>
                      </a:pPr>
                      <a:r>
                        <a:rPr lang="en-US" sz="1200" b="1" dirty="0">
                          <a:solidFill>
                            <a:srgbClr val="5B6B5F"/>
                          </a:solidFill>
                          <a:latin typeface="Inter" pitchFamily="34" charset="0"/>
                          <a:ea typeface="Inter" pitchFamily="34" charset="-122"/>
                          <a:cs typeface="Inter" pitchFamily="34" charset="-120"/>
                        </a:rPr>
                        <a:t>Problem</a:t>
                      </a:r>
                      <a:endParaRPr lang="en-US" sz="1200" dirty="0">
                        <a:latin typeface="Inter" charset="0"/>
                        <a:ea typeface="Inter" charset="0"/>
                        <a:cs typeface="Inter" charset="0"/>
                      </a:endParaRPr>
                    </a:p>
                  </a:txBody>
                  <a:tcPr marL="73152" marR="73152" marT="45720" marB="45720" anchor="ctr">
                    <a:lnL w="9525" cap="flat" cmpd="sng" algn="ctr">
                      <a:solidFill>
                        <a:srgbClr val="E3D6C0"/>
                      </a:solidFill>
                      <a:prstDash val="solid"/>
                      <a:round/>
                      <a:headEnd type="none" w="med" len="med"/>
                      <a:tailEnd type="none" w="med" len="med"/>
                    </a:lnL>
                    <a:lnR w="9525" cap="flat" cmpd="sng" algn="ctr">
                      <a:solidFill>
                        <a:srgbClr val="E3D6C0"/>
                      </a:solidFill>
                      <a:prstDash val="solid"/>
                      <a:round/>
                      <a:headEnd type="none" w="med" len="med"/>
                      <a:tailEnd type="none" w="med" len="med"/>
                    </a:lnR>
                    <a:lnT w="9525" cap="flat" cmpd="sng" algn="ctr">
                      <a:solidFill>
                        <a:srgbClr val="E3D6C0"/>
                      </a:solidFill>
                      <a:prstDash val="solid"/>
                      <a:round/>
                      <a:headEnd type="none" w="med" len="med"/>
                      <a:tailEnd type="none" w="med" len="med"/>
                    </a:lnT>
                    <a:lnB w="9525" cap="flat" cmpd="sng" algn="ctr">
                      <a:solidFill>
                        <a:srgbClr val="E3D6C0"/>
                      </a:solidFill>
                      <a:prstDash val="solid"/>
                      <a:round/>
                      <a:headEnd type="none" w="med" len="med"/>
                      <a:tailEnd type="none" w="med" len="med"/>
                    </a:lnB>
                    <a:solidFill>
                      <a:srgbClr val="F3EBDD"/>
                    </a:solidFill>
                  </a:tcPr>
                </a:tc>
                <a:tc>
                  <a:txBody>
                    <a:bodyPr/>
                    <a:lstStyle/>
                    <a:p>
                      <a:pPr indent="0" marL="0">
                        <a:buNone/>
                      </a:pPr>
                      <a:r>
                        <a:rPr lang="en-US" sz="1200" b="1" dirty="0">
                          <a:solidFill>
                            <a:srgbClr val="5B6B5F"/>
                          </a:solidFill>
                          <a:latin typeface="Inter" pitchFamily="34" charset="0"/>
                          <a:ea typeface="Inter" pitchFamily="34" charset="-122"/>
                          <a:cs typeface="Inter" pitchFamily="34" charset="-120"/>
                        </a:rPr>
                        <a:t>Core assumption</a:t>
                      </a:r>
                      <a:endParaRPr lang="en-US" sz="1200" dirty="0">
                        <a:latin typeface="Inter" charset="0"/>
                        <a:ea typeface="Inter" charset="0"/>
                        <a:cs typeface="Inter" charset="0"/>
                      </a:endParaRPr>
                    </a:p>
                  </a:txBody>
                  <a:tcPr marL="73152" marR="73152" marT="45720" marB="45720" anchor="ctr">
                    <a:lnL w="9525" cap="flat" cmpd="sng" algn="ctr">
                      <a:solidFill>
                        <a:srgbClr val="E3D6C0"/>
                      </a:solidFill>
                      <a:prstDash val="solid"/>
                      <a:round/>
                      <a:headEnd type="none" w="med" len="med"/>
                      <a:tailEnd type="none" w="med" len="med"/>
                    </a:lnL>
                    <a:lnR w="9525" cap="flat" cmpd="sng" algn="ctr">
                      <a:solidFill>
                        <a:srgbClr val="E3D6C0"/>
                      </a:solidFill>
                      <a:prstDash val="solid"/>
                      <a:round/>
                      <a:headEnd type="none" w="med" len="med"/>
                      <a:tailEnd type="none" w="med" len="med"/>
                    </a:lnR>
                    <a:lnT w="9525" cap="flat" cmpd="sng" algn="ctr">
                      <a:solidFill>
                        <a:srgbClr val="E3D6C0"/>
                      </a:solidFill>
                      <a:prstDash val="solid"/>
                      <a:round/>
                      <a:headEnd type="none" w="med" len="med"/>
                      <a:tailEnd type="none" w="med" len="med"/>
                    </a:lnT>
                    <a:lnB w="9525" cap="flat" cmpd="sng" algn="ctr">
                      <a:solidFill>
                        <a:srgbClr val="E3D6C0"/>
                      </a:solidFill>
                      <a:prstDash val="solid"/>
                      <a:round/>
                      <a:headEnd type="none" w="med" len="med"/>
                      <a:tailEnd type="none" w="med" len="med"/>
                    </a:lnB>
                    <a:solidFill>
                      <a:srgbClr val="F3EBDD"/>
                    </a:solidFill>
                  </a:tcPr>
                </a:tc>
                <a:tc>
                  <a:txBody>
                    <a:bodyPr/>
                    <a:lstStyle/>
                    <a:p>
                      <a:pPr indent="0" marL="0">
                        <a:buNone/>
                      </a:pPr>
                      <a:r>
                        <a:rPr lang="en-US" sz="1200" b="1" dirty="0">
                          <a:solidFill>
                            <a:srgbClr val="5B6B5F"/>
                          </a:solidFill>
                          <a:latin typeface="Inter" pitchFamily="34" charset="0"/>
                          <a:ea typeface="Inter" pitchFamily="34" charset="-122"/>
                          <a:cs typeface="Inter" pitchFamily="34" charset="-120"/>
                        </a:rPr>
                        <a:t>Method</a:t>
                      </a:r>
                      <a:endParaRPr lang="en-US" sz="1200" dirty="0">
                        <a:latin typeface="Inter" charset="0"/>
                        <a:ea typeface="Inter" charset="0"/>
                        <a:cs typeface="Inter" charset="0"/>
                      </a:endParaRPr>
                    </a:p>
                  </a:txBody>
                  <a:tcPr marL="73152" marR="73152" marT="45720" marB="45720" anchor="ctr">
                    <a:lnL w="9525" cap="flat" cmpd="sng" algn="ctr">
                      <a:solidFill>
                        <a:srgbClr val="E3D6C0"/>
                      </a:solidFill>
                      <a:prstDash val="solid"/>
                      <a:round/>
                      <a:headEnd type="none" w="med" len="med"/>
                      <a:tailEnd type="none" w="med" len="med"/>
                    </a:lnL>
                    <a:lnR w="9525" cap="flat" cmpd="sng" algn="ctr">
                      <a:solidFill>
                        <a:srgbClr val="E3D6C0"/>
                      </a:solidFill>
                      <a:prstDash val="solid"/>
                      <a:round/>
                      <a:headEnd type="none" w="med" len="med"/>
                      <a:tailEnd type="none" w="med" len="med"/>
                    </a:lnR>
                    <a:lnT w="9525" cap="flat" cmpd="sng" algn="ctr">
                      <a:solidFill>
                        <a:srgbClr val="E3D6C0"/>
                      </a:solidFill>
                      <a:prstDash val="solid"/>
                      <a:round/>
                      <a:headEnd type="none" w="med" len="med"/>
                      <a:tailEnd type="none" w="med" len="med"/>
                    </a:lnT>
                    <a:lnB w="9525" cap="flat" cmpd="sng" algn="ctr">
                      <a:solidFill>
                        <a:srgbClr val="E3D6C0"/>
                      </a:solidFill>
                      <a:prstDash val="solid"/>
                      <a:round/>
                      <a:headEnd type="none" w="med" len="med"/>
                      <a:tailEnd type="none" w="med" len="med"/>
                    </a:lnB>
                    <a:solidFill>
                      <a:srgbClr val="F3EBDD"/>
                    </a:solidFill>
                  </a:tcPr>
                </a:tc>
                <a:tc>
                  <a:txBody>
                    <a:bodyPr/>
                    <a:lstStyle/>
                    <a:p>
                      <a:pPr indent="0" marL="0">
                        <a:buNone/>
                      </a:pPr>
                      <a:r>
                        <a:rPr lang="en-US" sz="1200" b="1" dirty="0">
                          <a:solidFill>
                            <a:srgbClr val="5B6B5F"/>
                          </a:solidFill>
                          <a:latin typeface="Inter" pitchFamily="34" charset="0"/>
                          <a:ea typeface="Inter" pitchFamily="34" charset="-122"/>
                          <a:cs typeface="Inter" pitchFamily="34" charset="-120"/>
                        </a:rPr>
                        <a:t>Success criterion</a:t>
                      </a:r>
                      <a:endParaRPr lang="en-US" sz="1200" dirty="0">
                        <a:latin typeface="Inter" charset="0"/>
                        <a:ea typeface="Inter" charset="0"/>
                        <a:cs typeface="Inter" charset="0"/>
                      </a:endParaRPr>
                    </a:p>
                  </a:txBody>
                  <a:tcPr marL="73152" marR="73152" marT="45720" marB="45720" anchor="ctr">
                    <a:lnL w="9525" cap="flat" cmpd="sng" algn="ctr">
                      <a:solidFill>
                        <a:srgbClr val="E3D6C0"/>
                      </a:solidFill>
                      <a:prstDash val="solid"/>
                      <a:round/>
                      <a:headEnd type="none" w="med" len="med"/>
                      <a:tailEnd type="none" w="med" len="med"/>
                    </a:lnL>
                    <a:lnR w="9525" cap="flat" cmpd="sng" algn="ctr">
                      <a:solidFill>
                        <a:srgbClr val="E3D6C0"/>
                      </a:solidFill>
                      <a:prstDash val="solid"/>
                      <a:round/>
                      <a:headEnd type="none" w="med" len="med"/>
                      <a:tailEnd type="none" w="med" len="med"/>
                    </a:lnR>
                    <a:lnT w="9525" cap="flat" cmpd="sng" algn="ctr">
                      <a:solidFill>
                        <a:srgbClr val="E3D6C0"/>
                      </a:solidFill>
                      <a:prstDash val="solid"/>
                      <a:round/>
                      <a:headEnd type="none" w="med" len="med"/>
                      <a:tailEnd type="none" w="med" len="med"/>
                    </a:lnT>
                    <a:lnB w="9525" cap="flat" cmpd="sng" algn="ctr">
                      <a:solidFill>
                        <a:srgbClr val="E3D6C0"/>
                      </a:solidFill>
                      <a:prstDash val="solid"/>
                      <a:round/>
                      <a:headEnd type="none" w="med" len="med"/>
                      <a:tailEnd type="none" w="med" len="med"/>
                    </a:lnB>
                    <a:solidFill>
                      <a:srgbClr val="F3EBDD"/>
                    </a:solidFill>
                  </a:tcPr>
                </a:tc>
                <a:tc>
                  <a:txBody>
                    <a:bodyPr/>
                    <a:lstStyle/>
                    <a:p>
                      <a:pPr indent="0" marL="0">
                        <a:buNone/>
                      </a:pPr>
                      <a:r>
                        <a:rPr lang="en-US" sz="1200" b="1" dirty="0">
                          <a:solidFill>
                            <a:srgbClr val="5B6B5F"/>
                          </a:solidFill>
                          <a:latin typeface="Inter" pitchFamily="34" charset="0"/>
                          <a:ea typeface="Inter" pitchFamily="34" charset="-122"/>
                          <a:cs typeface="Inter" pitchFamily="34" charset="-120"/>
                        </a:rPr>
                        <a:t>Result after this week</a:t>
                      </a:r>
                      <a:endParaRPr lang="en-US" sz="1200" dirty="0">
                        <a:latin typeface="Inter" charset="0"/>
                        <a:ea typeface="Inter" charset="0"/>
                        <a:cs typeface="Inter" charset="0"/>
                      </a:endParaRPr>
                    </a:p>
                  </a:txBody>
                  <a:tcPr marL="73152" marR="73152" marT="45720" marB="45720" anchor="ctr">
                    <a:lnL w="9525" cap="flat" cmpd="sng" algn="ctr">
                      <a:solidFill>
                        <a:srgbClr val="E3D6C0"/>
                      </a:solidFill>
                      <a:prstDash val="solid"/>
                      <a:round/>
                      <a:headEnd type="none" w="med" len="med"/>
                      <a:tailEnd type="none" w="med" len="med"/>
                    </a:lnL>
                    <a:lnR w="9525" cap="flat" cmpd="sng" algn="ctr">
                      <a:solidFill>
                        <a:srgbClr val="E3D6C0"/>
                      </a:solidFill>
                      <a:prstDash val="solid"/>
                      <a:round/>
                      <a:headEnd type="none" w="med" len="med"/>
                      <a:tailEnd type="none" w="med" len="med"/>
                    </a:lnR>
                    <a:lnT w="9525" cap="flat" cmpd="sng" algn="ctr">
                      <a:solidFill>
                        <a:srgbClr val="E3D6C0"/>
                      </a:solidFill>
                      <a:prstDash val="solid"/>
                      <a:round/>
                      <a:headEnd type="none" w="med" len="med"/>
                      <a:tailEnd type="none" w="med" len="med"/>
                    </a:lnT>
                    <a:lnB w="9525" cap="flat" cmpd="sng" algn="ctr">
                      <a:solidFill>
                        <a:srgbClr val="E3D6C0"/>
                      </a:solidFill>
                      <a:prstDash val="solid"/>
                      <a:round/>
                      <a:headEnd type="none" w="med" len="med"/>
                      <a:tailEnd type="none" w="med" len="med"/>
                    </a:lnB>
                    <a:solidFill>
                      <a:srgbClr val="F3EBDD"/>
                    </a:solidFill>
                  </a:tcPr>
                </a:tc>
              </a:tr>
              <a:tr h="658368">
                <a:tc>
                  <a:txBody>
                    <a:bodyPr/>
                    <a:lstStyle/>
                    <a:p>
                      <a:pPr indent="0" marL="0">
                        <a:buNone/>
                      </a:pPr>
                      <a:r>
                        <a:rPr lang="en-US" sz="1050" dirty="0">
                          <a:solidFill>
                            <a:srgbClr val="1F3D2B"/>
                          </a:solidFill>
                          <a:latin typeface="Inter" pitchFamily="34" charset="0"/>
                          <a:ea typeface="Inter" pitchFamily="34" charset="-122"/>
                          <a:cs typeface="Inter" pitchFamily="34" charset="-120"/>
                        </a:rPr>
                        <a:t>Makerspace and kitchen owners</a:t>
                      </a:r>
                      <a:endParaRPr lang="en-US" sz="1050" dirty="0">
                        <a:latin typeface="Inter" charset="0"/>
                        <a:ea typeface="Inter" charset="0"/>
                        <a:cs typeface="Inter" charset="0"/>
                      </a:endParaRPr>
                    </a:p>
                  </a:txBody>
                  <a:tcPr marL="73152" marR="73152" marT="45720" marB="45720" anchor="ctr">
                    <a:lnL w="9525" cap="flat" cmpd="sng" algn="ctr">
                      <a:solidFill>
                        <a:srgbClr val="E3D6C0"/>
                      </a:solidFill>
                      <a:prstDash val="solid"/>
                      <a:round/>
                      <a:headEnd type="none" w="med" len="med"/>
                      <a:tailEnd type="none" w="med" len="med"/>
                    </a:lnL>
                    <a:lnR w="9525" cap="flat" cmpd="sng" algn="ctr">
                      <a:solidFill>
                        <a:srgbClr val="E3D6C0"/>
                      </a:solidFill>
                      <a:prstDash val="solid"/>
                      <a:round/>
                      <a:headEnd type="none" w="med" len="med"/>
                      <a:tailEnd type="none" w="med" len="med"/>
                    </a:lnR>
                    <a:lnT w="9525" cap="flat" cmpd="sng" algn="ctr">
                      <a:solidFill>
                        <a:srgbClr val="E3D6C0"/>
                      </a:solidFill>
                      <a:prstDash val="solid"/>
                      <a:round/>
                      <a:headEnd type="none" w="med" len="med"/>
                      <a:tailEnd type="none" w="med" len="med"/>
                    </a:lnT>
                    <a:lnB w="9525" cap="flat" cmpd="sng" algn="ctr">
                      <a:solidFill>
                        <a:srgbClr val="E3D6C0"/>
                      </a:solidFill>
                      <a:prstDash val="solid"/>
                      <a:round/>
                      <a:headEnd type="none" w="med" len="med"/>
                      <a:tailEnd type="none" w="med" len="med"/>
                    </a:lnB>
                    <a:solidFill>
                      <a:srgbClr val="FFFDF8"/>
                    </a:solidFill>
                  </a:tcPr>
                </a:tc>
                <a:tc>
                  <a:txBody>
                    <a:bodyPr/>
                    <a:lstStyle/>
                    <a:p>
                      <a:pPr indent="0" marL="0">
                        <a:buNone/>
                      </a:pPr>
                      <a:r>
                        <a:rPr lang="en-US" sz="1050" dirty="0">
                          <a:solidFill>
                            <a:srgbClr val="1F3D2B"/>
                          </a:solidFill>
                          <a:latin typeface="Inter" pitchFamily="34" charset="0"/>
                          <a:ea typeface="Inter" pitchFamily="34" charset="-122"/>
                          <a:cs typeface="Inter" pitchFamily="34" charset="-120"/>
                        </a:rPr>
                        <a:t>Energy cost per user is invisible</a:t>
                      </a:r>
                      <a:endParaRPr lang="en-US" sz="1050" dirty="0">
                        <a:latin typeface="Inter" charset="0"/>
                        <a:ea typeface="Inter" charset="0"/>
                        <a:cs typeface="Inter" charset="0"/>
                      </a:endParaRPr>
                    </a:p>
                  </a:txBody>
                  <a:tcPr marL="73152" marR="73152" marT="45720" marB="45720" anchor="ctr">
                    <a:lnL w="9525" cap="flat" cmpd="sng" algn="ctr">
                      <a:solidFill>
                        <a:srgbClr val="E3D6C0"/>
                      </a:solidFill>
                      <a:prstDash val="solid"/>
                      <a:round/>
                      <a:headEnd type="none" w="med" len="med"/>
                      <a:tailEnd type="none" w="med" len="med"/>
                    </a:lnL>
                    <a:lnR w="9525" cap="flat" cmpd="sng" algn="ctr">
                      <a:solidFill>
                        <a:srgbClr val="E3D6C0"/>
                      </a:solidFill>
                      <a:prstDash val="solid"/>
                      <a:round/>
                      <a:headEnd type="none" w="med" len="med"/>
                      <a:tailEnd type="none" w="med" len="med"/>
                    </a:lnR>
                    <a:lnT w="9525" cap="flat" cmpd="sng" algn="ctr">
                      <a:solidFill>
                        <a:srgbClr val="E3D6C0"/>
                      </a:solidFill>
                      <a:prstDash val="solid"/>
                      <a:round/>
                      <a:headEnd type="none" w="med" len="med"/>
                      <a:tailEnd type="none" w="med" len="med"/>
                    </a:lnT>
                    <a:lnB w="9525" cap="flat" cmpd="sng" algn="ctr">
                      <a:solidFill>
                        <a:srgbClr val="E3D6C0"/>
                      </a:solidFill>
                      <a:prstDash val="solid"/>
                      <a:round/>
                      <a:headEnd type="none" w="med" len="med"/>
                      <a:tailEnd type="none" w="med" len="med"/>
                    </a:lnB>
                    <a:solidFill>
                      <a:srgbClr val="FFFDF8"/>
                    </a:solidFill>
                  </a:tcPr>
                </a:tc>
                <a:tc>
                  <a:txBody>
                    <a:bodyPr/>
                    <a:lstStyle/>
                    <a:p>
                      <a:pPr indent="0" marL="0">
                        <a:buNone/>
                      </a:pPr>
                      <a:r>
                        <a:rPr lang="en-US" sz="1050" dirty="0">
                          <a:solidFill>
                            <a:srgbClr val="1F3D2B"/>
                          </a:solidFill>
                          <a:latin typeface="Inter" pitchFamily="34" charset="0"/>
                          <a:ea typeface="Inter" pitchFamily="34" charset="-122"/>
                          <a:cs typeface="Inter" pitchFamily="34" charset="-120"/>
                        </a:rPr>
                        <a:t>Owners want to bill electricity per user</a:t>
                      </a:r>
                      <a:endParaRPr lang="en-US" sz="1050" dirty="0">
                        <a:latin typeface="Inter" charset="0"/>
                        <a:ea typeface="Inter" charset="0"/>
                        <a:cs typeface="Inter" charset="0"/>
                      </a:endParaRPr>
                    </a:p>
                  </a:txBody>
                  <a:tcPr marL="73152" marR="73152" marT="45720" marB="45720" anchor="ctr">
                    <a:lnL w="9525" cap="flat" cmpd="sng" algn="ctr">
                      <a:solidFill>
                        <a:srgbClr val="E3D6C0"/>
                      </a:solidFill>
                      <a:prstDash val="solid"/>
                      <a:round/>
                      <a:headEnd type="none" w="med" len="med"/>
                      <a:tailEnd type="none" w="med" len="med"/>
                    </a:lnL>
                    <a:lnR w="9525" cap="flat" cmpd="sng" algn="ctr">
                      <a:solidFill>
                        <a:srgbClr val="E3D6C0"/>
                      </a:solidFill>
                      <a:prstDash val="solid"/>
                      <a:round/>
                      <a:headEnd type="none" w="med" len="med"/>
                      <a:tailEnd type="none" w="med" len="med"/>
                    </a:lnR>
                    <a:lnT w="9525" cap="flat" cmpd="sng" algn="ctr">
                      <a:solidFill>
                        <a:srgbClr val="E3D6C0"/>
                      </a:solidFill>
                      <a:prstDash val="solid"/>
                      <a:round/>
                      <a:headEnd type="none" w="med" len="med"/>
                      <a:tailEnd type="none" w="med" len="med"/>
                    </a:lnT>
                    <a:lnB w="9525" cap="flat" cmpd="sng" algn="ctr">
                      <a:solidFill>
                        <a:srgbClr val="E3D6C0"/>
                      </a:solidFill>
                      <a:prstDash val="solid"/>
                      <a:round/>
                      <a:headEnd type="none" w="med" len="med"/>
                      <a:tailEnd type="none" w="med" len="med"/>
                    </a:lnB>
                    <a:solidFill>
                      <a:srgbClr val="FFFDF8"/>
                    </a:solidFill>
                  </a:tcPr>
                </a:tc>
                <a:tc>
                  <a:txBody>
                    <a:bodyPr/>
                    <a:lstStyle/>
                    <a:p>
                      <a:pPr indent="0" marL="0">
                        <a:buNone/>
                      </a:pPr>
                      <a:r>
                        <a:rPr lang="en-US" sz="1050" dirty="0">
                          <a:solidFill>
                            <a:srgbClr val="1F3D2B"/>
                          </a:solidFill>
                          <a:latin typeface="Inter" pitchFamily="34" charset="0"/>
                          <a:ea typeface="Inter" pitchFamily="34" charset="-122"/>
                          <a:cs typeface="Inter" pitchFamily="34" charset="-120"/>
                        </a:rPr>
                        <a:t>Interviews: 3 owners, Magna, IEEE</a:t>
                      </a:r>
                      <a:endParaRPr lang="en-US" sz="1050" dirty="0">
                        <a:latin typeface="Inter" charset="0"/>
                        <a:ea typeface="Inter" charset="0"/>
                        <a:cs typeface="Inter" charset="0"/>
                      </a:endParaRPr>
                    </a:p>
                  </a:txBody>
                  <a:tcPr marL="73152" marR="73152" marT="45720" marB="45720" anchor="ctr">
                    <a:lnL w="9525" cap="flat" cmpd="sng" algn="ctr">
                      <a:solidFill>
                        <a:srgbClr val="E3D6C0"/>
                      </a:solidFill>
                      <a:prstDash val="solid"/>
                      <a:round/>
                      <a:headEnd type="none" w="med" len="med"/>
                      <a:tailEnd type="none" w="med" len="med"/>
                    </a:lnL>
                    <a:lnR w="9525" cap="flat" cmpd="sng" algn="ctr">
                      <a:solidFill>
                        <a:srgbClr val="E3D6C0"/>
                      </a:solidFill>
                      <a:prstDash val="solid"/>
                      <a:round/>
                      <a:headEnd type="none" w="med" len="med"/>
                      <a:tailEnd type="none" w="med" len="med"/>
                    </a:lnR>
                    <a:lnT w="9525" cap="flat" cmpd="sng" algn="ctr">
                      <a:solidFill>
                        <a:srgbClr val="E3D6C0"/>
                      </a:solidFill>
                      <a:prstDash val="solid"/>
                      <a:round/>
                      <a:headEnd type="none" w="med" len="med"/>
                      <a:tailEnd type="none" w="med" len="med"/>
                    </a:lnT>
                    <a:lnB w="9525" cap="flat" cmpd="sng" algn="ctr">
                      <a:solidFill>
                        <a:srgbClr val="E3D6C0"/>
                      </a:solidFill>
                      <a:prstDash val="solid"/>
                      <a:round/>
                      <a:headEnd type="none" w="med" len="med"/>
                      <a:tailEnd type="none" w="med" len="med"/>
                    </a:lnB>
                    <a:solidFill>
                      <a:srgbClr val="FFFDF8"/>
                    </a:solidFill>
                  </a:tcPr>
                </a:tc>
                <a:tc>
                  <a:txBody>
                    <a:bodyPr/>
                    <a:lstStyle/>
                    <a:p>
                      <a:pPr indent="0" marL="0">
                        <a:buNone/>
                      </a:pPr>
                      <a:r>
                        <a:rPr lang="en-US" sz="1050" dirty="0">
                          <a:solidFill>
                            <a:srgbClr val="1F3D2B"/>
                          </a:solidFill>
                          <a:latin typeface="Inter" pitchFamily="34" charset="0"/>
                          <a:ea typeface="Inter" pitchFamily="34" charset="-122"/>
                          <a:cs typeface="Inter" pitchFamily="34" charset="-120"/>
                        </a:rPr>
                        <a:t>Owners charge members for energy</a:t>
                      </a:r>
                      <a:endParaRPr lang="en-US" sz="1050" dirty="0">
                        <a:latin typeface="Inter" charset="0"/>
                        <a:ea typeface="Inter" charset="0"/>
                        <a:cs typeface="Inter" charset="0"/>
                      </a:endParaRPr>
                    </a:p>
                  </a:txBody>
                  <a:tcPr marL="73152" marR="73152" marT="45720" marB="45720" anchor="ctr">
                    <a:lnL w="9525" cap="flat" cmpd="sng" algn="ctr">
                      <a:solidFill>
                        <a:srgbClr val="E3D6C0"/>
                      </a:solidFill>
                      <a:prstDash val="solid"/>
                      <a:round/>
                      <a:headEnd type="none" w="med" len="med"/>
                      <a:tailEnd type="none" w="med" len="med"/>
                    </a:lnL>
                    <a:lnR w="9525" cap="flat" cmpd="sng" algn="ctr">
                      <a:solidFill>
                        <a:srgbClr val="E3D6C0"/>
                      </a:solidFill>
                      <a:prstDash val="solid"/>
                      <a:round/>
                      <a:headEnd type="none" w="med" len="med"/>
                      <a:tailEnd type="none" w="med" len="med"/>
                    </a:lnR>
                    <a:lnT w="9525" cap="flat" cmpd="sng" algn="ctr">
                      <a:solidFill>
                        <a:srgbClr val="E3D6C0"/>
                      </a:solidFill>
                      <a:prstDash val="solid"/>
                      <a:round/>
                      <a:headEnd type="none" w="med" len="med"/>
                      <a:tailEnd type="none" w="med" len="med"/>
                    </a:lnT>
                    <a:lnB w="9525" cap="flat" cmpd="sng" algn="ctr">
                      <a:solidFill>
                        <a:srgbClr val="E3D6C0"/>
                      </a:solidFill>
                      <a:prstDash val="solid"/>
                      <a:round/>
                      <a:headEnd type="none" w="med" len="med"/>
                      <a:tailEnd type="none" w="med" len="med"/>
                    </a:lnB>
                    <a:solidFill>
                      <a:srgbClr val="FFFDF8"/>
                    </a:solidFill>
                  </a:tcPr>
                </a:tc>
                <a:tc>
                  <a:txBody>
                    <a:bodyPr/>
                    <a:lstStyle/>
                    <a:p>
                      <a:pPr indent="0" marL="0">
                        <a:buNone/>
                      </a:pPr>
                      <a:r>
                        <a:rPr lang="en-US" sz="1050" b="1" dirty="0">
                          <a:solidFill>
                            <a:srgbClr val="FFFDF8"/>
                          </a:solidFill>
                          <a:latin typeface="Inter" pitchFamily="34" charset="0"/>
                          <a:ea typeface="Inter" pitchFamily="34" charset="-122"/>
                          <a:cs typeface="Inter" pitchFamily="34" charset="-120"/>
                        </a:rPr>
                        <a:t>Invalidated: 3 of 3 owners bundle it into rent or fees</a:t>
                      </a:r>
                      <a:endParaRPr lang="en-US" sz="1050" dirty="0">
                        <a:latin typeface="Inter" charset="0"/>
                        <a:ea typeface="Inter" charset="0"/>
                        <a:cs typeface="Inter" charset="0"/>
                      </a:endParaRPr>
                    </a:p>
                  </a:txBody>
                  <a:tcPr marL="73152" marR="73152" marT="45720" marB="45720" anchor="ctr">
                    <a:lnL w="9525" cap="flat" cmpd="sng" algn="ctr">
                      <a:solidFill>
                        <a:srgbClr val="E3D6C0"/>
                      </a:solidFill>
                      <a:prstDash val="solid"/>
                      <a:round/>
                      <a:headEnd type="none" w="med" len="med"/>
                      <a:tailEnd type="none" w="med" len="med"/>
                    </a:lnL>
                    <a:lnR w="9525" cap="flat" cmpd="sng" algn="ctr">
                      <a:solidFill>
                        <a:srgbClr val="E3D6C0"/>
                      </a:solidFill>
                      <a:prstDash val="solid"/>
                      <a:round/>
                      <a:headEnd type="none" w="med" len="med"/>
                      <a:tailEnd type="none" w="med" len="med"/>
                    </a:lnR>
                    <a:lnT w="9525" cap="flat" cmpd="sng" algn="ctr">
                      <a:solidFill>
                        <a:srgbClr val="E3D6C0"/>
                      </a:solidFill>
                      <a:prstDash val="solid"/>
                      <a:round/>
                      <a:headEnd type="none" w="med" len="med"/>
                      <a:tailEnd type="none" w="med" len="med"/>
                    </a:lnT>
                    <a:lnB w="9525" cap="flat" cmpd="sng" algn="ctr">
                      <a:solidFill>
                        <a:srgbClr val="E3D6C0"/>
                      </a:solidFill>
                      <a:prstDash val="solid"/>
                      <a:round/>
                      <a:headEnd type="none" w="med" len="med"/>
                      <a:tailEnd type="none" w="med" len="med"/>
                    </a:lnB>
                    <a:solidFill>
                      <a:srgbClr val="A63D1F"/>
                    </a:solidFill>
                  </a:tcPr>
                </a:tc>
              </a:tr>
              <a:tr h="658368">
                <a:tc>
                  <a:txBody>
                    <a:bodyPr/>
                    <a:lstStyle/>
                    <a:p>
                      <a:pPr indent="0" marL="0">
                        <a:buNone/>
                      </a:pPr>
                      <a:r>
                        <a:rPr lang="en-US" sz="1050" dirty="0">
                          <a:solidFill>
                            <a:srgbClr val="1F3D2B"/>
                          </a:solidFill>
                          <a:latin typeface="Inter" pitchFamily="34" charset="0"/>
                          <a:ea typeface="Inter" pitchFamily="34" charset="-122"/>
                          <a:cs typeface="Inter" pitchFamily="34" charset="-120"/>
                        </a:rPr>
                        <a:t>Makerspace, manufacturing, café</a:t>
                      </a:r>
                      <a:endParaRPr lang="en-US" sz="1050" dirty="0">
                        <a:latin typeface="Inter" charset="0"/>
                        <a:ea typeface="Inter" charset="0"/>
                        <a:cs typeface="Inter" charset="0"/>
                      </a:endParaRPr>
                    </a:p>
                  </a:txBody>
                  <a:tcPr marL="73152" marR="73152" marT="45720" marB="45720" anchor="ctr">
                    <a:lnL w="9525" cap="flat" cmpd="sng" algn="ctr">
                      <a:solidFill>
                        <a:srgbClr val="E3D6C0"/>
                      </a:solidFill>
                      <a:prstDash val="solid"/>
                      <a:round/>
                      <a:headEnd type="none" w="med" len="med"/>
                      <a:tailEnd type="none" w="med" len="med"/>
                    </a:lnL>
                    <a:lnR w="9525" cap="flat" cmpd="sng" algn="ctr">
                      <a:solidFill>
                        <a:srgbClr val="E3D6C0"/>
                      </a:solidFill>
                      <a:prstDash val="solid"/>
                      <a:round/>
                      <a:headEnd type="none" w="med" len="med"/>
                      <a:tailEnd type="none" w="med" len="med"/>
                    </a:lnR>
                    <a:lnT w="9525" cap="flat" cmpd="sng" algn="ctr">
                      <a:solidFill>
                        <a:srgbClr val="E3D6C0"/>
                      </a:solidFill>
                      <a:prstDash val="solid"/>
                      <a:round/>
                      <a:headEnd type="none" w="med" len="med"/>
                      <a:tailEnd type="none" w="med" len="med"/>
                    </a:lnT>
                    <a:lnB w="9525" cap="flat" cmpd="sng" algn="ctr">
                      <a:solidFill>
                        <a:srgbClr val="E3D6C0"/>
                      </a:solidFill>
                      <a:prstDash val="solid"/>
                      <a:round/>
                      <a:headEnd type="none" w="med" len="med"/>
                      <a:tailEnd type="none" w="med" len="med"/>
                    </a:lnB>
                    <a:solidFill>
                      <a:srgbClr val="FFFDF8"/>
                    </a:solidFill>
                  </a:tcPr>
                </a:tc>
                <a:tc>
                  <a:txBody>
                    <a:bodyPr/>
                    <a:lstStyle/>
                    <a:p>
                      <a:pPr indent="0" marL="0">
                        <a:buNone/>
                      </a:pPr>
                      <a:r>
                        <a:rPr lang="en-US" sz="1050" dirty="0">
                          <a:solidFill>
                            <a:srgbClr val="1F3D2B"/>
                          </a:solidFill>
                          <a:latin typeface="Inter" pitchFamily="34" charset="0"/>
                          <a:ea typeface="Inter" pitchFamily="34" charset="-122"/>
                          <a:cs typeface="Inter" pitchFamily="34" charset="-120"/>
                        </a:rPr>
                        <a:t>Breakdowns cost money and time</a:t>
                      </a:r>
                      <a:endParaRPr lang="en-US" sz="1050" dirty="0">
                        <a:latin typeface="Inter" charset="0"/>
                        <a:ea typeface="Inter" charset="0"/>
                        <a:cs typeface="Inter" charset="0"/>
                      </a:endParaRPr>
                    </a:p>
                  </a:txBody>
                  <a:tcPr marL="73152" marR="73152" marT="45720" marB="45720" anchor="ctr">
                    <a:lnL w="9525" cap="flat" cmpd="sng" algn="ctr">
                      <a:solidFill>
                        <a:srgbClr val="E3D6C0"/>
                      </a:solidFill>
                      <a:prstDash val="solid"/>
                      <a:round/>
                      <a:headEnd type="none" w="med" len="med"/>
                      <a:tailEnd type="none" w="med" len="med"/>
                    </a:lnL>
                    <a:lnR w="9525" cap="flat" cmpd="sng" algn="ctr">
                      <a:solidFill>
                        <a:srgbClr val="E3D6C0"/>
                      </a:solidFill>
                      <a:prstDash val="solid"/>
                      <a:round/>
                      <a:headEnd type="none" w="med" len="med"/>
                      <a:tailEnd type="none" w="med" len="med"/>
                    </a:lnR>
                    <a:lnT w="9525" cap="flat" cmpd="sng" algn="ctr">
                      <a:solidFill>
                        <a:srgbClr val="E3D6C0"/>
                      </a:solidFill>
                      <a:prstDash val="solid"/>
                      <a:round/>
                      <a:headEnd type="none" w="med" len="med"/>
                      <a:tailEnd type="none" w="med" len="med"/>
                    </a:lnT>
                    <a:lnB w="9525" cap="flat" cmpd="sng" algn="ctr">
                      <a:solidFill>
                        <a:srgbClr val="E3D6C0"/>
                      </a:solidFill>
                      <a:prstDash val="solid"/>
                      <a:round/>
                      <a:headEnd type="none" w="med" len="med"/>
                      <a:tailEnd type="none" w="med" len="med"/>
                    </a:lnB>
                    <a:solidFill>
                      <a:srgbClr val="FFFDF8"/>
                    </a:solidFill>
                  </a:tcPr>
                </a:tc>
                <a:tc>
                  <a:txBody>
                    <a:bodyPr/>
                    <a:lstStyle/>
                    <a:p>
                      <a:pPr indent="0" marL="0">
                        <a:buNone/>
                      </a:pPr>
                      <a:r>
                        <a:rPr lang="en-US" sz="1050" dirty="0">
                          <a:solidFill>
                            <a:srgbClr val="1F3D2B"/>
                          </a:solidFill>
                          <a:latin typeface="Inter" pitchFamily="34" charset="0"/>
                          <a:ea typeface="Inter" pitchFamily="34" charset="-122"/>
                          <a:cs typeface="Inter" pitchFamily="34" charset="-120"/>
                        </a:rPr>
                        <a:t>Breakdowns are a costly, frequent pain</a:t>
                      </a:r>
                      <a:endParaRPr lang="en-US" sz="1050" dirty="0">
                        <a:latin typeface="Inter" charset="0"/>
                        <a:ea typeface="Inter" charset="0"/>
                        <a:cs typeface="Inter" charset="0"/>
                      </a:endParaRPr>
                    </a:p>
                  </a:txBody>
                  <a:tcPr marL="73152" marR="73152" marT="45720" marB="45720" anchor="ctr">
                    <a:lnL w="9525" cap="flat" cmpd="sng" algn="ctr">
                      <a:solidFill>
                        <a:srgbClr val="E3D6C0"/>
                      </a:solidFill>
                      <a:prstDash val="solid"/>
                      <a:round/>
                      <a:headEnd type="none" w="med" len="med"/>
                      <a:tailEnd type="none" w="med" len="med"/>
                    </a:lnL>
                    <a:lnR w="9525" cap="flat" cmpd="sng" algn="ctr">
                      <a:solidFill>
                        <a:srgbClr val="E3D6C0"/>
                      </a:solidFill>
                      <a:prstDash val="solid"/>
                      <a:round/>
                      <a:headEnd type="none" w="med" len="med"/>
                      <a:tailEnd type="none" w="med" len="med"/>
                    </a:lnR>
                    <a:lnT w="9525" cap="flat" cmpd="sng" algn="ctr">
                      <a:solidFill>
                        <a:srgbClr val="E3D6C0"/>
                      </a:solidFill>
                      <a:prstDash val="solid"/>
                      <a:round/>
                      <a:headEnd type="none" w="med" len="med"/>
                      <a:tailEnd type="none" w="med" len="med"/>
                    </a:lnT>
                    <a:lnB w="9525" cap="flat" cmpd="sng" algn="ctr">
                      <a:solidFill>
                        <a:srgbClr val="E3D6C0"/>
                      </a:solidFill>
                      <a:prstDash val="solid"/>
                      <a:round/>
                      <a:headEnd type="none" w="med" len="med"/>
                      <a:tailEnd type="none" w="med" len="med"/>
                    </a:lnB>
                    <a:solidFill>
                      <a:srgbClr val="FFFDF8"/>
                    </a:solidFill>
                  </a:tcPr>
                </a:tc>
                <a:tc>
                  <a:txBody>
                    <a:bodyPr/>
                    <a:lstStyle/>
                    <a:p>
                      <a:pPr indent="0" marL="0">
                        <a:buNone/>
                      </a:pPr>
                      <a:r>
                        <a:rPr lang="en-US" sz="1050" dirty="0">
                          <a:solidFill>
                            <a:srgbClr val="1F3D2B"/>
                          </a:solidFill>
                          <a:latin typeface="Inter" pitchFamily="34" charset="0"/>
                          <a:ea typeface="Inter" pitchFamily="34" charset="-122"/>
                          <a:cs typeface="Inter" pitchFamily="34" charset="-120"/>
                        </a:rPr>
                        <a:t>Interviews</a:t>
                      </a:r>
                      <a:endParaRPr lang="en-US" sz="1050" dirty="0">
                        <a:latin typeface="Inter" charset="0"/>
                        <a:ea typeface="Inter" charset="0"/>
                        <a:cs typeface="Inter" charset="0"/>
                      </a:endParaRPr>
                    </a:p>
                  </a:txBody>
                  <a:tcPr marL="73152" marR="73152" marT="45720" marB="45720" anchor="ctr">
                    <a:lnL w="9525" cap="flat" cmpd="sng" algn="ctr">
                      <a:solidFill>
                        <a:srgbClr val="E3D6C0"/>
                      </a:solidFill>
                      <a:prstDash val="solid"/>
                      <a:round/>
                      <a:headEnd type="none" w="med" len="med"/>
                      <a:tailEnd type="none" w="med" len="med"/>
                    </a:lnL>
                    <a:lnR w="9525" cap="flat" cmpd="sng" algn="ctr">
                      <a:solidFill>
                        <a:srgbClr val="E3D6C0"/>
                      </a:solidFill>
                      <a:prstDash val="solid"/>
                      <a:round/>
                      <a:headEnd type="none" w="med" len="med"/>
                      <a:tailEnd type="none" w="med" len="med"/>
                    </a:lnR>
                    <a:lnT w="9525" cap="flat" cmpd="sng" algn="ctr">
                      <a:solidFill>
                        <a:srgbClr val="E3D6C0"/>
                      </a:solidFill>
                      <a:prstDash val="solid"/>
                      <a:round/>
                      <a:headEnd type="none" w="med" len="med"/>
                      <a:tailEnd type="none" w="med" len="med"/>
                    </a:lnT>
                    <a:lnB w="9525" cap="flat" cmpd="sng" algn="ctr">
                      <a:solidFill>
                        <a:srgbClr val="E3D6C0"/>
                      </a:solidFill>
                      <a:prstDash val="solid"/>
                      <a:round/>
                      <a:headEnd type="none" w="med" len="med"/>
                      <a:tailEnd type="none" w="med" len="med"/>
                    </a:lnB>
                    <a:solidFill>
                      <a:srgbClr val="FFFDF8"/>
                    </a:solidFill>
                  </a:tcPr>
                </a:tc>
                <a:tc>
                  <a:txBody>
                    <a:bodyPr/>
                    <a:lstStyle/>
                    <a:p>
                      <a:pPr indent="0" marL="0">
                        <a:buNone/>
                      </a:pPr>
                      <a:r>
                        <a:rPr lang="en-US" sz="1050" dirty="0">
                          <a:solidFill>
                            <a:srgbClr val="1F3D2B"/>
                          </a:solidFill>
                          <a:latin typeface="Inter" pitchFamily="34" charset="0"/>
                          <a:ea typeface="Inter" pitchFamily="34" charset="-122"/>
                          <a:cs typeface="Inter" pitchFamily="34" charset="-120"/>
                        </a:rPr>
                        <a:t>6 of 10 describe a costly breakdown</a:t>
                      </a:r>
                      <a:endParaRPr lang="en-US" sz="1050" dirty="0">
                        <a:latin typeface="Inter" charset="0"/>
                        <a:ea typeface="Inter" charset="0"/>
                        <a:cs typeface="Inter" charset="0"/>
                      </a:endParaRPr>
                    </a:p>
                  </a:txBody>
                  <a:tcPr marL="73152" marR="73152" marT="45720" marB="45720" anchor="ctr">
                    <a:lnL w="9525" cap="flat" cmpd="sng" algn="ctr">
                      <a:solidFill>
                        <a:srgbClr val="E3D6C0"/>
                      </a:solidFill>
                      <a:prstDash val="solid"/>
                      <a:round/>
                      <a:headEnd type="none" w="med" len="med"/>
                      <a:tailEnd type="none" w="med" len="med"/>
                    </a:lnL>
                    <a:lnR w="9525" cap="flat" cmpd="sng" algn="ctr">
                      <a:solidFill>
                        <a:srgbClr val="E3D6C0"/>
                      </a:solidFill>
                      <a:prstDash val="solid"/>
                      <a:round/>
                      <a:headEnd type="none" w="med" len="med"/>
                      <a:tailEnd type="none" w="med" len="med"/>
                    </a:lnR>
                    <a:lnT w="9525" cap="flat" cmpd="sng" algn="ctr">
                      <a:solidFill>
                        <a:srgbClr val="E3D6C0"/>
                      </a:solidFill>
                      <a:prstDash val="solid"/>
                      <a:round/>
                      <a:headEnd type="none" w="med" len="med"/>
                      <a:tailEnd type="none" w="med" len="med"/>
                    </a:lnT>
                    <a:lnB w="9525" cap="flat" cmpd="sng" algn="ctr">
                      <a:solidFill>
                        <a:srgbClr val="E3D6C0"/>
                      </a:solidFill>
                      <a:prstDash val="solid"/>
                      <a:round/>
                      <a:headEnd type="none" w="med" len="med"/>
                      <a:tailEnd type="none" w="med" len="med"/>
                    </a:lnB>
                    <a:solidFill>
                      <a:srgbClr val="FFFDF8"/>
                    </a:solidFill>
                  </a:tcPr>
                </a:tc>
                <a:tc>
                  <a:txBody>
                    <a:bodyPr/>
                    <a:lstStyle/>
                    <a:p>
                      <a:pPr indent="0" marL="0">
                        <a:buNone/>
                      </a:pPr>
                      <a:r>
                        <a:rPr lang="en-US" sz="1050" b="1" dirty="0">
                          <a:solidFill>
                            <a:srgbClr val="1F3D2B"/>
                          </a:solidFill>
                          <a:latin typeface="Inter" pitchFamily="34" charset="0"/>
                          <a:ea typeface="Inter" pitchFamily="34" charset="-122"/>
                          <a:cs typeface="Inter" pitchFamily="34" charset="-120"/>
                        </a:rPr>
                        <a:t>Partly supported: makerspace and Magna give costs, 3 café staff; 6 of 10 not met yet</a:t>
                      </a:r>
                      <a:endParaRPr lang="en-US" sz="1050" dirty="0">
                        <a:latin typeface="Inter" charset="0"/>
                        <a:ea typeface="Inter" charset="0"/>
                        <a:cs typeface="Inter" charset="0"/>
                      </a:endParaRPr>
                    </a:p>
                  </a:txBody>
                  <a:tcPr marL="73152" marR="73152" marT="45720" marB="45720" anchor="ctr">
                    <a:lnL w="9525" cap="flat" cmpd="sng" algn="ctr">
                      <a:solidFill>
                        <a:srgbClr val="E3D6C0"/>
                      </a:solidFill>
                      <a:prstDash val="solid"/>
                      <a:round/>
                      <a:headEnd type="none" w="med" len="med"/>
                      <a:tailEnd type="none" w="med" len="med"/>
                    </a:lnL>
                    <a:lnR w="9525" cap="flat" cmpd="sng" algn="ctr">
                      <a:solidFill>
                        <a:srgbClr val="E3D6C0"/>
                      </a:solidFill>
                      <a:prstDash val="solid"/>
                      <a:round/>
                      <a:headEnd type="none" w="med" len="med"/>
                      <a:tailEnd type="none" w="med" len="med"/>
                    </a:lnR>
                    <a:lnT w="9525" cap="flat" cmpd="sng" algn="ctr">
                      <a:solidFill>
                        <a:srgbClr val="E3D6C0"/>
                      </a:solidFill>
                      <a:prstDash val="solid"/>
                      <a:round/>
                      <a:headEnd type="none" w="med" len="med"/>
                      <a:tailEnd type="none" w="med" len="med"/>
                    </a:lnT>
                    <a:lnB w="9525" cap="flat" cmpd="sng" algn="ctr">
                      <a:solidFill>
                        <a:srgbClr val="E3D6C0"/>
                      </a:solidFill>
                      <a:prstDash val="solid"/>
                      <a:round/>
                      <a:headEnd type="none" w="med" len="med"/>
                      <a:tailEnd type="none" w="med" len="med"/>
                    </a:lnB>
                    <a:solidFill>
                      <a:srgbClr val="F6D2B4"/>
                    </a:solidFill>
                  </a:tcPr>
                </a:tc>
              </a:tr>
              <a:tr h="658368">
                <a:tc>
                  <a:txBody>
                    <a:bodyPr/>
                    <a:lstStyle/>
                    <a:p>
                      <a:pPr indent="0" marL="0">
                        <a:buNone/>
                      </a:pPr>
                      <a:r>
                        <a:rPr lang="en-US" sz="1050" dirty="0">
                          <a:solidFill>
                            <a:srgbClr val="1F3D2B"/>
                          </a:solidFill>
                          <a:latin typeface="Inter" pitchFamily="34" charset="0"/>
                          <a:ea typeface="Inter" pitchFamily="34" charset="-122"/>
                          <a:cs typeface="Inter" pitchFamily="34" charset="-120"/>
                        </a:rPr>
                        <a:t>Makerspace and lab managers</a:t>
                      </a:r>
                      <a:endParaRPr lang="en-US" sz="1050" dirty="0">
                        <a:latin typeface="Inter" charset="0"/>
                        <a:ea typeface="Inter" charset="0"/>
                        <a:cs typeface="Inter" charset="0"/>
                      </a:endParaRPr>
                    </a:p>
                  </a:txBody>
                  <a:tcPr marL="73152" marR="73152" marT="45720" marB="45720" anchor="ctr">
                    <a:lnL w="9525" cap="flat" cmpd="sng" algn="ctr">
                      <a:solidFill>
                        <a:srgbClr val="E3D6C0"/>
                      </a:solidFill>
                      <a:prstDash val="solid"/>
                      <a:round/>
                      <a:headEnd type="none" w="med" len="med"/>
                      <a:tailEnd type="none" w="med" len="med"/>
                    </a:lnL>
                    <a:lnR w="9525" cap="flat" cmpd="sng" algn="ctr">
                      <a:solidFill>
                        <a:srgbClr val="E3D6C0"/>
                      </a:solidFill>
                      <a:prstDash val="solid"/>
                      <a:round/>
                      <a:headEnd type="none" w="med" len="med"/>
                      <a:tailEnd type="none" w="med" len="med"/>
                    </a:lnR>
                    <a:lnT w="9525" cap="flat" cmpd="sng" algn="ctr">
                      <a:solidFill>
                        <a:srgbClr val="E3D6C0"/>
                      </a:solidFill>
                      <a:prstDash val="solid"/>
                      <a:round/>
                      <a:headEnd type="none" w="med" len="med"/>
                      <a:tailEnd type="none" w="med" len="med"/>
                    </a:lnT>
                    <a:lnB w="9525" cap="flat" cmpd="sng" algn="ctr">
                      <a:solidFill>
                        <a:srgbClr val="E3D6C0"/>
                      </a:solidFill>
                      <a:prstDash val="solid"/>
                      <a:round/>
                      <a:headEnd type="none" w="med" len="med"/>
                      <a:tailEnd type="none" w="med" len="med"/>
                    </a:lnB>
                    <a:solidFill>
                      <a:srgbClr val="FFFDF8"/>
                    </a:solidFill>
                  </a:tcPr>
                </a:tc>
                <a:tc>
                  <a:txBody>
                    <a:bodyPr/>
                    <a:lstStyle/>
                    <a:p>
                      <a:pPr indent="0" marL="0">
                        <a:buNone/>
                      </a:pPr>
                      <a:r>
                        <a:rPr lang="en-US" sz="1050" dirty="0">
                          <a:solidFill>
                            <a:srgbClr val="1F3D2B"/>
                          </a:solidFill>
                          <a:latin typeface="Inter" pitchFamily="34" charset="0"/>
                          <a:ea typeface="Inter" pitchFamily="34" charset="-122"/>
                          <a:cs typeface="Inter" pitchFamily="34" charset="-120"/>
                        </a:rPr>
                        <a:t>Failures come without warning</a:t>
                      </a:r>
                      <a:endParaRPr lang="en-US" sz="1050" dirty="0">
                        <a:latin typeface="Inter" charset="0"/>
                        <a:ea typeface="Inter" charset="0"/>
                        <a:cs typeface="Inter" charset="0"/>
                      </a:endParaRPr>
                    </a:p>
                  </a:txBody>
                  <a:tcPr marL="73152" marR="73152" marT="45720" marB="45720" anchor="ctr">
                    <a:lnL w="9525" cap="flat" cmpd="sng" algn="ctr">
                      <a:solidFill>
                        <a:srgbClr val="E3D6C0"/>
                      </a:solidFill>
                      <a:prstDash val="solid"/>
                      <a:round/>
                      <a:headEnd type="none" w="med" len="med"/>
                      <a:tailEnd type="none" w="med" len="med"/>
                    </a:lnL>
                    <a:lnR w="9525" cap="flat" cmpd="sng" algn="ctr">
                      <a:solidFill>
                        <a:srgbClr val="E3D6C0"/>
                      </a:solidFill>
                      <a:prstDash val="solid"/>
                      <a:round/>
                      <a:headEnd type="none" w="med" len="med"/>
                      <a:tailEnd type="none" w="med" len="med"/>
                    </a:lnR>
                    <a:lnT w="9525" cap="flat" cmpd="sng" algn="ctr">
                      <a:solidFill>
                        <a:srgbClr val="E3D6C0"/>
                      </a:solidFill>
                      <a:prstDash val="solid"/>
                      <a:round/>
                      <a:headEnd type="none" w="med" len="med"/>
                      <a:tailEnd type="none" w="med" len="med"/>
                    </a:lnT>
                    <a:lnB w="9525" cap="flat" cmpd="sng" algn="ctr">
                      <a:solidFill>
                        <a:srgbClr val="E3D6C0"/>
                      </a:solidFill>
                      <a:prstDash val="solid"/>
                      <a:round/>
                      <a:headEnd type="none" w="med" len="med"/>
                      <a:tailEnd type="none" w="med" len="med"/>
                    </a:lnB>
                    <a:solidFill>
                      <a:srgbClr val="FFFDF8"/>
                    </a:solidFill>
                  </a:tcPr>
                </a:tc>
                <a:tc>
                  <a:txBody>
                    <a:bodyPr/>
                    <a:lstStyle/>
                    <a:p>
                      <a:pPr indent="0" marL="0">
                        <a:buNone/>
                      </a:pPr>
                      <a:r>
                        <a:rPr lang="en-US" sz="1050" dirty="0">
                          <a:solidFill>
                            <a:srgbClr val="1F3D2B"/>
                          </a:solidFill>
                          <a:latin typeface="Inter" pitchFamily="34" charset="0"/>
                          <a:ea typeface="Inter" pitchFamily="34" charset="-122"/>
                          <a:cs typeface="Inter" pitchFamily="34" charset="-120"/>
                        </a:rPr>
                        <a:t>Owners want warning before a failure</a:t>
                      </a:r>
                      <a:endParaRPr lang="en-US" sz="1050" dirty="0">
                        <a:latin typeface="Inter" charset="0"/>
                        <a:ea typeface="Inter" charset="0"/>
                        <a:cs typeface="Inter" charset="0"/>
                      </a:endParaRPr>
                    </a:p>
                  </a:txBody>
                  <a:tcPr marL="73152" marR="73152" marT="45720" marB="45720" anchor="ctr">
                    <a:lnL w="9525" cap="flat" cmpd="sng" algn="ctr">
                      <a:solidFill>
                        <a:srgbClr val="E3D6C0"/>
                      </a:solidFill>
                      <a:prstDash val="solid"/>
                      <a:round/>
                      <a:headEnd type="none" w="med" len="med"/>
                      <a:tailEnd type="none" w="med" len="med"/>
                    </a:lnL>
                    <a:lnR w="9525" cap="flat" cmpd="sng" algn="ctr">
                      <a:solidFill>
                        <a:srgbClr val="E3D6C0"/>
                      </a:solidFill>
                      <a:prstDash val="solid"/>
                      <a:round/>
                      <a:headEnd type="none" w="med" len="med"/>
                      <a:tailEnd type="none" w="med" len="med"/>
                    </a:lnR>
                    <a:lnT w="9525" cap="flat" cmpd="sng" algn="ctr">
                      <a:solidFill>
                        <a:srgbClr val="E3D6C0"/>
                      </a:solidFill>
                      <a:prstDash val="solid"/>
                      <a:round/>
                      <a:headEnd type="none" w="med" len="med"/>
                      <a:tailEnd type="none" w="med" len="med"/>
                    </a:lnT>
                    <a:lnB w="9525" cap="flat" cmpd="sng" algn="ctr">
                      <a:solidFill>
                        <a:srgbClr val="E3D6C0"/>
                      </a:solidFill>
                      <a:prstDash val="solid"/>
                      <a:round/>
                      <a:headEnd type="none" w="med" len="med"/>
                      <a:tailEnd type="none" w="med" len="med"/>
                    </a:lnB>
                    <a:solidFill>
                      <a:srgbClr val="FFFDF8"/>
                    </a:solidFill>
                  </a:tcPr>
                </a:tc>
                <a:tc>
                  <a:txBody>
                    <a:bodyPr/>
                    <a:lstStyle/>
                    <a:p>
                      <a:pPr indent="0" marL="0">
                        <a:buNone/>
                      </a:pPr>
                      <a:r>
                        <a:rPr lang="en-US" sz="1050" dirty="0">
                          <a:solidFill>
                            <a:srgbClr val="1F3D2B"/>
                          </a:solidFill>
                          <a:latin typeface="Inter" pitchFamily="34" charset="0"/>
                          <a:ea typeface="Inter" pitchFamily="34" charset="-122"/>
                          <a:cs typeface="Inter" pitchFamily="34" charset="-120"/>
                        </a:rPr>
                        <a:t>Interviews</a:t>
                      </a:r>
                      <a:endParaRPr lang="en-US" sz="1050" dirty="0">
                        <a:latin typeface="Inter" charset="0"/>
                        <a:ea typeface="Inter" charset="0"/>
                        <a:cs typeface="Inter" charset="0"/>
                      </a:endParaRPr>
                    </a:p>
                  </a:txBody>
                  <a:tcPr marL="73152" marR="73152" marT="45720" marB="45720" anchor="ctr">
                    <a:lnL w="9525" cap="flat" cmpd="sng" algn="ctr">
                      <a:solidFill>
                        <a:srgbClr val="E3D6C0"/>
                      </a:solidFill>
                      <a:prstDash val="solid"/>
                      <a:round/>
                      <a:headEnd type="none" w="med" len="med"/>
                      <a:tailEnd type="none" w="med" len="med"/>
                    </a:lnL>
                    <a:lnR w="9525" cap="flat" cmpd="sng" algn="ctr">
                      <a:solidFill>
                        <a:srgbClr val="E3D6C0"/>
                      </a:solidFill>
                      <a:prstDash val="solid"/>
                      <a:round/>
                      <a:headEnd type="none" w="med" len="med"/>
                      <a:tailEnd type="none" w="med" len="med"/>
                    </a:lnR>
                    <a:lnT w="9525" cap="flat" cmpd="sng" algn="ctr">
                      <a:solidFill>
                        <a:srgbClr val="E3D6C0"/>
                      </a:solidFill>
                      <a:prstDash val="solid"/>
                      <a:round/>
                      <a:headEnd type="none" w="med" len="med"/>
                      <a:tailEnd type="none" w="med" len="med"/>
                    </a:lnT>
                    <a:lnB w="9525" cap="flat" cmpd="sng" algn="ctr">
                      <a:solidFill>
                        <a:srgbClr val="E3D6C0"/>
                      </a:solidFill>
                      <a:prstDash val="solid"/>
                      <a:round/>
                      <a:headEnd type="none" w="med" len="med"/>
                      <a:tailEnd type="none" w="med" len="med"/>
                    </a:lnB>
                    <a:solidFill>
                      <a:srgbClr val="FFFDF8"/>
                    </a:solidFill>
                  </a:tcPr>
                </a:tc>
                <a:tc>
                  <a:txBody>
                    <a:bodyPr/>
                    <a:lstStyle/>
                    <a:p>
                      <a:pPr indent="0" marL="0">
                        <a:buNone/>
                      </a:pPr>
                      <a:r>
                        <a:rPr lang="en-US" sz="1050" dirty="0">
                          <a:solidFill>
                            <a:srgbClr val="1F3D2B"/>
                          </a:solidFill>
                          <a:latin typeface="Inter" pitchFamily="34" charset="0"/>
                          <a:ea typeface="Inter" pitchFamily="34" charset="-122"/>
                          <a:cs typeface="Inter" pitchFamily="34" charset="-120"/>
                        </a:rPr>
                        <a:t>Failures are noticed too late</a:t>
                      </a:r>
                      <a:endParaRPr lang="en-US" sz="1050" dirty="0">
                        <a:latin typeface="Inter" charset="0"/>
                        <a:ea typeface="Inter" charset="0"/>
                        <a:cs typeface="Inter" charset="0"/>
                      </a:endParaRPr>
                    </a:p>
                  </a:txBody>
                  <a:tcPr marL="73152" marR="73152" marT="45720" marB="45720" anchor="ctr">
                    <a:lnL w="9525" cap="flat" cmpd="sng" algn="ctr">
                      <a:solidFill>
                        <a:srgbClr val="E3D6C0"/>
                      </a:solidFill>
                      <a:prstDash val="solid"/>
                      <a:round/>
                      <a:headEnd type="none" w="med" len="med"/>
                      <a:tailEnd type="none" w="med" len="med"/>
                    </a:lnL>
                    <a:lnR w="9525" cap="flat" cmpd="sng" algn="ctr">
                      <a:solidFill>
                        <a:srgbClr val="E3D6C0"/>
                      </a:solidFill>
                      <a:prstDash val="solid"/>
                      <a:round/>
                      <a:headEnd type="none" w="med" len="med"/>
                      <a:tailEnd type="none" w="med" len="med"/>
                    </a:lnR>
                    <a:lnT w="9525" cap="flat" cmpd="sng" algn="ctr">
                      <a:solidFill>
                        <a:srgbClr val="E3D6C0"/>
                      </a:solidFill>
                      <a:prstDash val="solid"/>
                      <a:round/>
                      <a:headEnd type="none" w="med" len="med"/>
                      <a:tailEnd type="none" w="med" len="med"/>
                    </a:lnT>
                    <a:lnB w="9525" cap="flat" cmpd="sng" algn="ctr">
                      <a:solidFill>
                        <a:srgbClr val="E3D6C0"/>
                      </a:solidFill>
                      <a:prstDash val="solid"/>
                      <a:round/>
                      <a:headEnd type="none" w="med" len="med"/>
                      <a:tailEnd type="none" w="med" len="med"/>
                    </a:lnB>
                    <a:solidFill>
                      <a:srgbClr val="FFFDF8"/>
                    </a:solidFill>
                  </a:tcPr>
                </a:tc>
                <a:tc>
                  <a:txBody>
                    <a:bodyPr/>
                    <a:lstStyle/>
                    <a:p>
                      <a:pPr indent="0" marL="0">
                        <a:buNone/>
                      </a:pPr>
                      <a:r>
                        <a:rPr lang="en-US" sz="1050" b="1" dirty="0">
                          <a:solidFill>
                            <a:srgbClr val="1F3D2B"/>
                          </a:solidFill>
                          <a:latin typeface="Inter" pitchFamily="34" charset="0"/>
                          <a:ea typeface="Inter" pitchFamily="34" charset="-122"/>
                          <a:cs typeface="Inter" pitchFamily="34" charset="-120"/>
                        </a:rPr>
                        <a:t>Partly supported: café staff notice only once it stops</a:t>
                      </a:r>
                      <a:endParaRPr lang="en-US" sz="1050" dirty="0">
                        <a:latin typeface="Inter" charset="0"/>
                        <a:ea typeface="Inter" charset="0"/>
                        <a:cs typeface="Inter" charset="0"/>
                      </a:endParaRPr>
                    </a:p>
                  </a:txBody>
                  <a:tcPr marL="73152" marR="73152" marT="45720" marB="45720" anchor="ctr">
                    <a:lnL w="9525" cap="flat" cmpd="sng" algn="ctr">
                      <a:solidFill>
                        <a:srgbClr val="E3D6C0"/>
                      </a:solidFill>
                      <a:prstDash val="solid"/>
                      <a:round/>
                      <a:headEnd type="none" w="med" len="med"/>
                      <a:tailEnd type="none" w="med" len="med"/>
                    </a:lnL>
                    <a:lnR w="9525" cap="flat" cmpd="sng" algn="ctr">
                      <a:solidFill>
                        <a:srgbClr val="E3D6C0"/>
                      </a:solidFill>
                      <a:prstDash val="solid"/>
                      <a:round/>
                      <a:headEnd type="none" w="med" len="med"/>
                      <a:tailEnd type="none" w="med" len="med"/>
                    </a:lnR>
                    <a:lnT w="9525" cap="flat" cmpd="sng" algn="ctr">
                      <a:solidFill>
                        <a:srgbClr val="E3D6C0"/>
                      </a:solidFill>
                      <a:prstDash val="solid"/>
                      <a:round/>
                      <a:headEnd type="none" w="med" len="med"/>
                      <a:tailEnd type="none" w="med" len="med"/>
                    </a:lnT>
                    <a:lnB w="9525" cap="flat" cmpd="sng" algn="ctr">
                      <a:solidFill>
                        <a:srgbClr val="E3D6C0"/>
                      </a:solidFill>
                      <a:prstDash val="solid"/>
                      <a:round/>
                      <a:headEnd type="none" w="med" len="med"/>
                      <a:tailEnd type="none" w="med" len="med"/>
                    </a:lnB>
                    <a:solidFill>
                      <a:srgbClr val="F6D2B4"/>
                    </a:solidFill>
                  </a:tcPr>
                </a:tc>
              </a:tr>
              <a:tr h="658368">
                <a:tc>
                  <a:txBody>
                    <a:bodyPr/>
                    <a:lstStyle/>
                    <a:p>
                      <a:pPr indent="0" marL="0">
                        <a:buNone/>
                      </a:pPr>
                      <a:r>
                        <a:rPr lang="en-US" sz="1050" dirty="0">
                          <a:solidFill>
                            <a:srgbClr val="1F3D2B"/>
                          </a:solidFill>
                          <a:latin typeface="Inter" pitchFamily="34" charset="0"/>
                          <a:ea typeface="Inter" pitchFamily="34" charset="-122"/>
                          <a:cs typeface="Inter" pitchFamily="34" charset="-120"/>
                        </a:rPr>
                        <a:t>Cafés and kitchens</a:t>
                      </a:r>
                      <a:endParaRPr lang="en-US" sz="1050" dirty="0">
                        <a:latin typeface="Inter" charset="0"/>
                        <a:ea typeface="Inter" charset="0"/>
                        <a:cs typeface="Inter" charset="0"/>
                      </a:endParaRPr>
                    </a:p>
                  </a:txBody>
                  <a:tcPr marL="73152" marR="73152" marT="45720" marB="45720" anchor="ctr">
                    <a:lnL w="9525" cap="flat" cmpd="sng" algn="ctr">
                      <a:solidFill>
                        <a:srgbClr val="E3D6C0"/>
                      </a:solidFill>
                      <a:prstDash val="solid"/>
                      <a:round/>
                      <a:headEnd type="none" w="med" len="med"/>
                      <a:tailEnd type="none" w="med" len="med"/>
                    </a:lnL>
                    <a:lnR w="9525" cap="flat" cmpd="sng" algn="ctr">
                      <a:solidFill>
                        <a:srgbClr val="E3D6C0"/>
                      </a:solidFill>
                      <a:prstDash val="solid"/>
                      <a:round/>
                      <a:headEnd type="none" w="med" len="med"/>
                      <a:tailEnd type="none" w="med" len="med"/>
                    </a:lnR>
                    <a:lnT w="9525" cap="flat" cmpd="sng" algn="ctr">
                      <a:solidFill>
                        <a:srgbClr val="E3D6C0"/>
                      </a:solidFill>
                      <a:prstDash val="solid"/>
                      <a:round/>
                      <a:headEnd type="none" w="med" len="med"/>
                      <a:tailEnd type="none" w="med" len="med"/>
                    </a:lnT>
                    <a:lnB w="9525" cap="flat" cmpd="sng" algn="ctr">
                      <a:solidFill>
                        <a:srgbClr val="E3D6C0"/>
                      </a:solidFill>
                      <a:prstDash val="solid"/>
                      <a:round/>
                      <a:headEnd type="none" w="med" len="med"/>
                      <a:tailEnd type="none" w="med" len="med"/>
                    </a:lnB>
                    <a:solidFill>
                      <a:srgbClr val="FFFDF8"/>
                    </a:solidFill>
                  </a:tcPr>
                </a:tc>
                <a:tc>
                  <a:txBody>
                    <a:bodyPr/>
                    <a:lstStyle/>
                    <a:p>
                      <a:pPr indent="0" marL="0">
                        <a:buNone/>
                      </a:pPr>
                      <a:r>
                        <a:rPr lang="en-US" sz="1050" dirty="0">
                          <a:solidFill>
                            <a:srgbClr val="1F3D2B"/>
                          </a:solidFill>
                          <a:latin typeface="Inter" pitchFamily="34" charset="0"/>
                          <a:ea typeface="Inter" pitchFamily="34" charset="-122"/>
                          <a:cs typeface="Inter" pitchFamily="34" charset="-120"/>
                        </a:rPr>
                        <a:t>Equipment left on after closing</a:t>
                      </a:r>
                      <a:endParaRPr lang="en-US" sz="1050" dirty="0">
                        <a:latin typeface="Inter" charset="0"/>
                        <a:ea typeface="Inter" charset="0"/>
                        <a:cs typeface="Inter" charset="0"/>
                      </a:endParaRPr>
                    </a:p>
                  </a:txBody>
                  <a:tcPr marL="73152" marR="73152" marT="45720" marB="45720" anchor="ctr">
                    <a:lnL w="9525" cap="flat" cmpd="sng" algn="ctr">
                      <a:solidFill>
                        <a:srgbClr val="E3D6C0"/>
                      </a:solidFill>
                      <a:prstDash val="solid"/>
                      <a:round/>
                      <a:headEnd type="none" w="med" len="med"/>
                      <a:tailEnd type="none" w="med" len="med"/>
                    </a:lnL>
                    <a:lnR w="9525" cap="flat" cmpd="sng" algn="ctr">
                      <a:solidFill>
                        <a:srgbClr val="E3D6C0"/>
                      </a:solidFill>
                      <a:prstDash val="solid"/>
                      <a:round/>
                      <a:headEnd type="none" w="med" len="med"/>
                      <a:tailEnd type="none" w="med" len="med"/>
                    </a:lnR>
                    <a:lnT w="9525" cap="flat" cmpd="sng" algn="ctr">
                      <a:solidFill>
                        <a:srgbClr val="E3D6C0"/>
                      </a:solidFill>
                      <a:prstDash val="solid"/>
                      <a:round/>
                      <a:headEnd type="none" w="med" len="med"/>
                      <a:tailEnd type="none" w="med" len="med"/>
                    </a:lnT>
                    <a:lnB w="9525" cap="flat" cmpd="sng" algn="ctr">
                      <a:solidFill>
                        <a:srgbClr val="E3D6C0"/>
                      </a:solidFill>
                      <a:prstDash val="solid"/>
                      <a:round/>
                      <a:headEnd type="none" w="med" len="med"/>
                      <a:tailEnd type="none" w="med" len="med"/>
                    </a:lnB>
                    <a:solidFill>
                      <a:srgbClr val="FFFDF8"/>
                    </a:solidFill>
                  </a:tcPr>
                </a:tc>
                <a:tc>
                  <a:txBody>
                    <a:bodyPr/>
                    <a:lstStyle/>
                    <a:p>
                      <a:pPr indent="0" marL="0">
                        <a:buNone/>
                      </a:pPr>
                      <a:r>
                        <a:rPr lang="en-US" sz="1050" dirty="0">
                          <a:solidFill>
                            <a:srgbClr val="1F3D2B"/>
                          </a:solidFill>
                          <a:latin typeface="Inter" pitchFamily="34" charset="0"/>
                          <a:ea typeface="Inter" pitchFamily="34" charset="-122"/>
                          <a:cs typeface="Inter" pitchFamily="34" charset="-120"/>
                        </a:rPr>
                        <a:t>Owners need idle and scheduled shutdown</a:t>
                      </a:r>
                      <a:endParaRPr lang="en-US" sz="1050" dirty="0">
                        <a:latin typeface="Inter" charset="0"/>
                        <a:ea typeface="Inter" charset="0"/>
                        <a:cs typeface="Inter" charset="0"/>
                      </a:endParaRPr>
                    </a:p>
                  </a:txBody>
                  <a:tcPr marL="73152" marR="73152" marT="45720" marB="45720" anchor="ctr">
                    <a:lnL w="9525" cap="flat" cmpd="sng" algn="ctr">
                      <a:solidFill>
                        <a:srgbClr val="E3D6C0"/>
                      </a:solidFill>
                      <a:prstDash val="solid"/>
                      <a:round/>
                      <a:headEnd type="none" w="med" len="med"/>
                      <a:tailEnd type="none" w="med" len="med"/>
                    </a:lnL>
                    <a:lnR w="9525" cap="flat" cmpd="sng" algn="ctr">
                      <a:solidFill>
                        <a:srgbClr val="E3D6C0"/>
                      </a:solidFill>
                      <a:prstDash val="solid"/>
                      <a:round/>
                      <a:headEnd type="none" w="med" len="med"/>
                      <a:tailEnd type="none" w="med" len="med"/>
                    </a:lnR>
                    <a:lnT w="9525" cap="flat" cmpd="sng" algn="ctr">
                      <a:solidFill>
                        <a:srgbClr val="E3D6C0"/>
                      </a:solidFill>
                      <a:prstDash val="solid"/>
                      <a:round/>
                      <a:headEnd type="none" w="med" len="med"/>
                      <a:tailEnd type="none" w="med" len="med"/>
                    </a:lnT>
                    <a:lnB w="9525" cap="flat" cmpd="sng" algn="ctr">
                      <a:solidFill>
                        <a:srgbClr val="E3D6C0"/>
                      </a:solidFill>
                      <a:prstDash val="solid"/>
                      <a:round/>
                      <a:headEnd type="none" w="med" len="med"/>
                      <a:tailEnd type="none" w="med" len="med"/>
                    </a:lnB>
                    <a:solidFill>
                      <a:srgbClr val="FFFDF8"/>
                    </a:solidFill>
                  </a:tcPr>
                </a:tc>
                <a:tc>
                  <a:txBody>
                    <a:bodyPr/>
                    <a:lstStyle/>
                    <a:p>
                      <a:pPr indent="0" marL="0">
                        <a:buNone/>
                      </a:pPr>
                      <a:r>
                        <a:rPr lang="en-US" sz="1050" dirty="0">
                          <a:solidFill>
                            <a:srgbClr val="1F3D2B"/>
                          </a:solidFill>
                          <a:latin typeface="Inter" pitchFamily="34" charset="0"/>
                          <a:ea typeface="Inter" pitchFamily="34" charset="-122"/>
                          <a:cs typeface="Inter" pitchFamily="34" charset="-120"/>
                        </a:rPr>
                        <a:t>Café interviews, manager field notes</a:t>
                      </a:r>
                      <a:endParaRPr lang="en-US" sz="1050" dirty="0">
                        <a:latin typeface="Inter" charset="0"/>
                        <a:ea typeface="Inter" charset="0"/>
                        <a:cs typeface="Inter" charset="0"/>
                      </a:endParaRPr>
                    </a:p>
                  </a:txBody>
                  <a:tcPr marL="73152" marR="73152" marT="45720" marB="45720" anchor="ctr">
                    <a:lnL w="9525" cap="flat" cmpd="sng" algn="ctr">
                      <a:solidFill>
                        <a:srgbClr val="E3D6C0"/>
                      </a:solidFill>
                      <a:prstDash val="solid"/>
                      <a:round/>
                      <a:headEnd type="none" w="med" len="med"/>
                      <a:tailEnd type="none" w="med" len="med"/>
                    </a:lnL>
                    <a:lnR w="9525" cap="flat" cmpd="sng" algn="ctr">
                      <a:solidFill>
                        <a:srgbClr val="E3D6C0"/>
                      </a:solidFill>
                      <a:prstDash val="solid"/>
                      <a:round/>
                      <a:headEnd type="none" w="med" len="med"/>
                      <a:tailEnd type="none" w="med" len="med"/>
                    </a:lnR>
                    <a:lnT w="9525" cap="flat" cmpd="sng" algn="ctr">
                      <a:solidFill>
                        <a:srgbClr val="E3D6C0"/>
                      </a:solidFill>
                      <a:prstDash val="solid"/>
                      <a:round/>
                      <a:headEnd type="none" w="med" len="med"/>
                      <a:tailEnd type="none" w="med" len="med"/>
                    </a:lnT>
                    <a:lnB w="9525" cap="flat" cmpd="sng" algn="ctr">
                      <a:solidFill>
                        <a:srgbClr val="E3D6C0"/>
                      </a:solidFill>
                      <a:prstDash val="solid"/>
                      <a:round/>
                      <a:headEnd type="none" w="med" len="med"/>
                      <a:tailEnd type="none" w="med" len="med"/>
                    </a:lnB>
                    <a:solidFill>
                      <a:srgbClr val="FFFDF8"/>
                    </a:solidFill>
                  </a:tcPr>
                </a:tc>
                <a:tc>
                  <a:txBody>
                    <a:bodyPr/>
                    <a:lstStyle/>
                    <a:p>
                      <a:pPr indent="0" marL="0">
                        <a:buNone/>
                      </a:pPr>
                      <a:r>
                        <a:rPr lang="en-US" sz="1050" dirty="0">
                          <a:solidFill>
                            <a:srgbClr val="1F3D2B"/>
                          </a:solidFill>
                          <a:latin typeface="Inter" pitchFamily="34" charset="0"/>
                          <a:ea typeface="Inter" pitchFamily="34" charset="-122"/>
                          <a:cs typeface="Inter" pitchFamily="34" charset="-120"/>
                        </a:rPr>
                        <a:t>Equipment found on after closing</a:t>
                      </a:r>
                      <a:endParaRPr lang="en-US" sz="1050" dirty="0">
                        <a:latin typeface="Inter" charset="0"/>
                        <a:ea typeface="Inter" charset="0"/>
                        <a:cs typeface="Inter" charset="0"/>
                      </a:endParaRPr>
                    </a:p>
                  </a:txBody>
                  <a:tcPr marL="73152" marR="73152" marT="45720" marB="45720" anchor="ctr">
                    <a:lnL w="9525" cap="flat" cmpd="sng" algn="ctr">
                      <a:solidFill>
                        <a:srgbClr val="E3D6C0"/>
                      </a:solidFill>
                      <a:prstDash val="solid"/>
                      <a:round/>
                      <a:headEnd type="none" w="med" len="med"/>
                      <a:tailEnd type="none" w="med" len="med"/>
                    </a:lnL>
                    <a:lnR w="9525" cap="flat" cmpd="sng" algn="ctr">
                      <a:solidFill>
                        <a:srgbClr val="E3D6C0"/>
                      </a:solidFill>
                      <a:prstDash val="solid"/>
                      <a:round/>
                      <a:headEnd type="none" w="med" len="med"/>
                      <a:tailEnd type="none" w="med" len="med"/>
                    </a:lnR>
                    <a:lnT w="9525" cap="flat" cmpd="sng" algn="ctr">
                      <a:solidFill>
                        <a:srgbClr val="E3D6C0"/>
                      </a:solidFill>
                      <a:prstDash val="solid"/>
                      <a:round/>
                      <a:headEnd type="none" w="med" len="med"/>
                      <a:tailEnd type="none" w="med" len="med"/>
                    </a:lnT>
                    <a:lnB w="9525" cap="flat" cmpd="sng" algn="ctr">
                      <a:solidFill>
                        <a:srgbClr val="E3D6C0"/>
                      </a:solidFill>
                      <a:prstDash val="solid"/>
                      <a:round/>
                      <a:headEnd type="none" w="med" len="med"/>
                      <a:tailEnd type="none" w="med" len="med"/>
                    </a:lnB>
                    <a:solidFill>
                      <a:srgbClr val="FFFDF8"/>
                    </a:solidFill>
                  </a:tcPr>
                </a:tc>
                <a:tc>
                  <a:txBody>
                    <a:bodyPr/>
                    <a:lstStyle/>
                    <a:p>
                      <a:pPr indent="0" marL="0">
                        <a:buNone/>
                      </a:pPr>
                      <a:r>
                        <a:rPr lang="en-US" sz="1050" b="1" dirty="0">
                          <a:solidFill>
                            <a:srgbClr val="1F3D2B"/>
                          </a:solidFill>
                          <a:latin typeface="Inter" pitchFamily="34" charset="0"/>
                          <a:ea typeface="Inter" pitchFamily="34" charset="-122"/>
                          <a:cs typeface="Inter" pitchFamily="34" charset="-120"/>
                        </a:rPr>
                        <a:t>Supported, new: something left on almost every night</a:t>
                      </a:r>
                      <a:endParaRPr lang="en-US" sz="1050" dirty="0">
                        <a:latin typeface="Inter" charset="0"/>
                        <a:ea typeface="Inter" charset="0"/>
                        <a:cs typeface="Inter" charset="0"/>
                      </a:endParaRPr>
                    </a:p>
                  </a:txBody>
                  <a:tcPr marL="73152" marR="73152" marT="45720" marB="45720" anchor="ctr">
                    <a:lnL w="9525" cap="flat" cmpd="sng" algn="ctr">
                      <a:solidFill>
                        <a:srgbClr val="E3D6C0"/>
                      </a:solidFill>
                      <a:prstDash val="solid"/>
                      <a:round/>
                      <a:headEnd type="none" w="med" len="med"/>
                      <a:tailEnd type="none" w="med" len="med"/>
                    </a:lnL>
                    <a:lnR w="9525" cap="flat" cmpd="sng" algn="ctr">
                      <a:solidFill>
                        <a:srgbClr val="E3D6C0"/>
                      </a:solidFill>
                      <a:prstDash val="solid"/>
                      <a:round/>
                      <a:headEnd type="none" w="med" len="med"/>
                      <a:tailEnd type="none" w="med" len="med"/>
                    </a:lnR>
                    <a:lnT w="9525" cap="flat" cmpd="sng" algn="ctr">
                      <a:solidFill>
                        <a:srgbClr val="E3D6C0"/>
                      </a:solidFill>
                      <a:prstDash val="solid"/>
                      <a:round/>
                      <a:headEnd type="none" w="med" len="med"/>
                      <a:tailEnd type="none" w="med" len="med"/>
                    </a:lnT>
                    <a:lnB w="9525" cap="flat" cmpd="sng" algn="ctr">
                      <a:solidFill>
                        <a:srgbClr val="E3D6C0"/>
                      </a:solidFill>
                      <a:prstDash val="solid"/>
                      <a:round/>
                      <a:headEnd type="none" w="med" len="med"/>
                      <a:tailEnd type="none" w="med" len="med"/>
                    </a:lnB>
                    <a:solidFill>
                      <a:srgbClr val="D6E4D3"/>
                    </a:solidFill>
                  </a:tcPr>
                </a:tc>
              </a:tr>
              <a:tr h="658368">
                <a:tc>
                  <a:txBody>
                    <a:bodyPr/>
                    <a:lstStyle/>
                    <a:p>
                      <a:pPr indent="0" marL="0">
                        <a:buNone/>
                      </a:pPr>
                      <a:r>
                        <a:rPr lang="en-US" sz="1050" dirty="0">
                          <a:solidFill>
                            <a:srgbClr val="1F3D2B"/>
                          </a:solidFill>
                          <a:latin typeface="Inter" pitchFamily="34" charset="0"/>
                          <a:ea typeface="Inter" pitchFamily="34" charset="-122"/>
                          <a:cs typeface="Inter" pitchFamily="34" charset="-120"/>
                        </a:rPr>
                        <a:t>Café staff</a:t>
                      </a:r>
                      <a:endParaRPr lang="en-US" sz="1050" dirty="0">
                        <a:latin typeface="Inter" charset="0"/>
                        <a:ea typeface="Inter" charset="0"/>
                        <a:cs typeface="Inter" charset="0"/>
                      </a:endParaRPr>
                    </a:p>
                  </a:txBody>
                  <a:tcPr marL="73152" marR="73152" marT="45720" marB="45720" anchor="ctr">
                    <a:lnL w="9525" cap="flat" cmpd="sng" algn="ctr">
                      <a:solidFill>
                        <a:srgbClr val="E3D6C0"/>
                      </a:solidFill>
                      <a:prstDash val="solid"/>
                      <a:round/>
                      <a:headEnd type="none" w="med" len="med"/>
                      <a:tailEnd type="none" w="med" len="med"/>
                    </a:lnL>
                    <a:lnR w="9525" cap="flat" cmpd="sng" algn="ctr">
                      <a:solidFill>
                        <a:srgbClr val="E3D6C0"/>
                      </a:solidFill>
                      <a:prstDash val="solid"/>
                      <a:round/>
                      <a:headEnd type="none" w="med" len="med"/>
                      <a:tailEnd type="none" w="med" len="med"/>
                    </a:lnR>
                    <a:lnT w="9525" cap="flat" cmpd="sng" algn="ctr">
                      <a:solidFill>
                        <a:srgbClr val="E3D6C0"/>
                      </a:solidFill>
                      <a:prstDash val="solid"/>
                      <a:round/>
                      <a:headEnd type="none" w="med" len="med"/>
                      <a:tailEnd type="none" w="med" len="med"/>
                    </a:lnT>
                    <a:lnB w="9525" cap="flat" cmpd="sng" algn="ctr">
                      <a:solidFill>
                        <a:srgbClr val="E3D6C0"/>
                      </a:solidFill>
                      <a:prstDash val="solid"/>
                      <a:round/>
                      <a:headEnd type="none" w="med" len="med"/>
                      <a:tailEnd type="none" w="med" len="med"/>
                    </a:lnB>
                    <a:solidFill>
                      <a:srgbClr val="FFFDF8"/>
                    </a:solidFill>
                  </a:tcPr>
                </a:tc>
                <a:tc>
                  <a:txBody>
                    <a:bodyPr/>
                    <a:lstStyle/>
                    <a:p>
                      <a:pPr indent="0" marL="0">
                        <a:buNone/>
                      </a:pPr>
                      <a:r>
                        <a:rPr lang="en-US" sz="1050" dirty="0">
                          <a:solidFill>
                            <a:srgbClr val="1F3D2B"/>
                          </a:solidFill>
                          <a:latin typeface="Inter" pitchFamily="34" charset="0"/>
                          <a:ea typeface="Inter" pitchFamily="34" charset="-122"/>
                          <a:cs typeface="Inter" pitchFamily="34" charset="-120"/>
                        </a:rPr>
                        <a:t>Nobody owns switching off</a:t>
                      </a:r>
                      <a:endParaRPr lang="en-US" sz="1050" dirty="0">
                        <a:latin typeface="Inter" charset="0"/>
                        <a:ea typeface="Inter" charset="0"/>
                        <a:cs typeface="Inter" charset="0"/>
                      </a:endParaRPr>
                    </a:p>
                  </a:txBody>
                  <a:tcPr marL="73152" marR="73152" marT="45720" marB="45720" anchor="ctr">
                    <a:lnL w="9525" cap="flat" cmpd="sng" algn="ctr">
                      <a:solidFill>
                        <a:srgbClr val="E3D6C0"/>
                      </a:solidFill>
                      <a:prstDash val="solid"/>
                      <a:round/>
                      <a:headEnd type="none" w="med" len="med"/>
                      <a:tailEnd type="none" w="med" len="med"/>
                    </a:lnL>
                    <a:lnR w="9525" cap="flat" cmpd="sng" algn="ctr">
                      <a:solidFill>
                        <a:srgbClr val="E3D6C0"/>
                      </a:solidFill>
                      <a:prstDash val="solid"/>
                      <a:round/>
                      <a:headEnd type="none" w="med" len="med"/>
                      <a:tailEnd type="none" w="med" len="med"/>
                    </a:lnR>
                    <a:lnT w="9525" cap="flat" cmpd="sng" algn="ctr">
                      <a:solidFill>
                        <a:srgbClr val="E3D6C0"/>
                      </a:solidFill>
                      <a:prstDash val="solid"/>
                      <a:round/>
                      <a:headEnd type="none" w="med" len="med"/>
                      <a:tailEnd type="none" w="med" len="med"/>
                    </a:lnT>
                    <a:lnB w="9525" cap="flat" cmpd="sng" algn="ctr">
                      <a:solidFill>
                        <a:srgbClr val="E3D6C0"/>
                      </a:solidFill>
                      <a:prstDash val="solid"/>
                      <a:round/>
                      <a:headEnd type="none" w="med" len="med"/>
                      <a:tailEnd type="none" w="med" len="med"/>
                    </a:lnB>
                    <a:solidFill>
                      <a:srgbClr val="FFFDF8"/>
                    </a:solidFill>
                  </a:tcPr>
                </a:tc>
                <a:tc>
                  <a:txBody>
                    <a:bodyPr/>
                    <a:lstStyle/>
                    <a:p>
                      <a:pPr indent="0" marL="0">
                        <a:buNone/>
                      </a:pPr>
                      <a:r>
                        <a:rPr lang="en-US" sz="1050" dirty="0">
                          <a:solidFill>
                            <a:srgbClr val="1F3D2B"/>
                          </a:solidFill>
                          <a:latin typeface="Inter" pitchFamily="34" charset="0"/>
                          <a:ea typeface="Inter" pitchFamily="34" charset="-122"/>
                          <a:cs typeface="Inter" pitchFamily="34" charset="-120"/>
                        </a:rPr>
                        <a:t>Staff switch equipment off at closing</a:t>
                      </a:r>
                      <a:endParaRPr lang="en-US" sz="1050" dirty="0">
                        <a:latin typeface="Inter" charset="0"/>
                        <a:ea typeface="Inter" charset="0"/>
                        <a:cs typeface="Inter" charset="0"/>
                      </a:endParaRPr>
                    </a:p>
                  </a:txBody>
                  <a:tcPr marL="73152" marR="73152" marT="45720" marB="45720" anchor="ctr">
                    <a:lnL w="9525" cap="flat" cmpd="sng" algn="ctr">
                      <a:solidFill>
                        <a:srgbClr val="E3D6C0"/>
                      </a:solidFill>
                      <a:prstDash val="solid"/>
                      <a:round/>
                      <a:headEnd type="none" w="med" len="med"/>
                      <a:tailEnd type="none" w="med" len="med"/>
                    </a:lnL>
                    <a:lnR w="9525" cap="flat" cmpd="sng" algn="ctr">
                      <a:solidFill>
                        <a:srgbClr val="E3D6C0"/>
                      </a:solidFill>
                      <a:prstDash val="solid"/>
                      <a:round/>
                      <a:headEnd type="none" w="med" len="med"/>
                      <a:tailEnd type="none" w="med" len="med"/>
                    </a:lnR>
                    <a:lnT w="9525" cap="flat" cmpd="sng" algn="ctr">
                      <a:solidFill>
                        <a:srgbClr val="E3D6C0"/>
                      </a:solidFill>
                      <a:prstDash val="solid"/>
                      <a:round/>
                      <a:headEnd type="none" w="med" len="med"/>
                      <a:tailEnd type="none" w="med" len="med"/>
                    </a:lnT>
                    <a:lnB w="9525" cap="flat" cmpd="sng" algn="ctr">
                      <a:solidFill>
                        <a:srgbClr val="E3D6C0"/>
                      </a:solidFill>
                      <a:prstDash val="solid"/>
                      <a:round/>
                      <a:headEnd type="none" w="med" len="med"/>
                      <a:tailEnd type="none" w="med" len="med"/>
                    </a:lnB>
                    <a:solidFill>
                      <a:srgbClr val="FFFDF8"/>
                    </a:solidFill>
                  </a:tcPr>
                </a:tc>
                <a:tc>
                  <a:txBody>
                    <a:bodyPr/>
                    <a:lstStyle/>
                    <a:p>
                      <a:pPr indent="0" marL="0">
                        <a:buNone/>
                      </a:pPr>
                      <a:r>
                        <a:rPr lang="en-US" sz="1050" dirty="0">
                          <a:solidFill>
                            <a:srgbClr val="1F3D2B"/>
                          </a:solidFill>
                          <a:latin typeface="Inter" pitchFamily="34" charset="0"/>
                          <a:ea typeface="Inter" pitchFamily="34" charset="-122"/>
                          <a:cs typeface="Inter" pitchFamily="34" charset="-120"/>
                        </a:rPr>
                        <a:t>Café interviews</a:t>
                      </a:r>
                      <a:endParaRPr lang="en-US" sz="1050" dirty="0">
                        <a:latin typeface="Inter" charset="0"/>
                        <a:ea typeface="Inter" charset="0"/>
                        <a:cs typeface="Inter" charset="0"/>
                      </a:endParaRPr>
                    </a:p>
                  </a:txBody>
                  <a:tcPr marL="73152" marR="73152" marT="45720" marB="45720" anchor="ctr">
                    <a:lnL w="9525" cap="flat" cmpd="sng" algn="ctr">
                      <a:solidFill>
                        <a:srgbClr val="E3D6C0"/>
                      </a:solidFill>
                      <a:prstDash val="solid"/>
                      <a:round/>
                      <a:headEnd type="none" w="med" len="med"/>
                      <a:tailEnd type="none" w="med" len="med"/>
                    </a:lnL>
                    <a:lnR w="9525" cap="flat" cmpd="sng" algn="ctr">
                      <a:solidFill>
                        <a:srgbClr val="E3D6C0"/>
                      </a:solidFill>
                      <a:prstDash val="solid"/>
                      <a:round/>
                      <a:headEnd type="none" w="med" len="med"/>
                      <a:tailEnd type="none" w="med" len="med"/>
                    </a:lnR>
                    <a:lnT w="9525" cap="flat" cmpd="sng" algn="ctr">
                      <a:solidFill>
                        <a:srgbClr val="E3D6C0"/>
                      </a:solidFill>
                      <a:prstDash val="solid"/>
                      <a:round/>
                      <a:headEnd type="none" w="med" len="med"/>
                      <a:tailEnd type="none" w="med" len="med"/>
                    </a:lnT>
                    <a:lnB w="9525" cap="flat" cmpd="sng" algn="ctr">
                      <a:solidFill>
                        <a:srgbClr val="E3D6C0"/>
                      </a:solidFill>
                      <a:prstDash val="solid"/>
                      <a:round/>
                      <a:headEnd type="none" w="med" len="med"/>
                      <a:tailEnd type="none" w="med" len="med"/>
                    </a:lnB>
                    <a:solidFill>
                      <a:srgbClr val="FFFDF8"/>
                    </a:solidFill>
                  </a:tcPr>
                </a:tc>
                <a:tc>
                  <a:txBody>
                    <a:bodyPr/>
                    <a:lstStyle/>
                    <a:p>
                      <a:pPr indent="0" marL="0">
                        <a:buNone/>
                      </a:pPr>
                      <a:r>
                        <a:rPr lang="en-US" sz="1050" dirty="0">
                          <a:solidFill>
                            <a:srgbClr val="1F3D2B"/>
                          </a:solidFill>
                          <a:latin typeface="Inter" pitchFamily="34" charset="0"/>
                          <a:ea typeface="Inter" pitchFamily="34" charset="-122"/>
                          <a:cs typeface="Inter" pitchFamily="34" charset="-120"/>
                        </a:rPr>
                        <a:t>Staff switch off reliably</a:t>
                      </a:r>
                      <a:endParaRPr lang="en-US" sz="1050" dirty="0">
                        <a:latin typeface="Inter" charset="0"/>
                        <a:ea typeface="Inter" charset="0"/>
                        <a:cs typeface="Inter" charset="0"/>
                      </a:endParaRPr>
                    </a:p>
                  </a:txBody>
                  <a:tcPr marL="73152" marR="73152" marT="45720" marB="45720" anchor="ctr">
                    <a:lnL w="9525" cap="flat" cmpd="sng" algn="ctr">
                      <a:solidFill>
                        <a:srgbClr val="E3D6C0"/>
                      </a:solidFill>
                      <a:prstDash val="solid"/>
                      <a:round/>
                      <a:headEnd type="none" w="med" len="med"/>
                      <a:tailEnd type="none" w="med" len="med"/>
                    </a:lnL>
                    <a:lnR w="9525" cap="flat" cmpd="sng" algn="ctr">
                      <a:solidFill>
                        <a:srgbClr val="E3D6C0"/>
                      </a:solidFill>
                      <a:prstDash val="solid"/>
                      <a:round/>
                      <a:headEnd type="none" w="med" len="med"/>
                      <a:tailEnd type="none" w="med" len="med"/>
                    </a:lnR>
                    <a:lnT w="9525" cap="flat" cmpd="sng" algn="ctr">
                      <a:solidFill>
                        <a:srgbClr val="E3D6C0"/>
                      </a:solidFill>
                      <a:prstDash val="solid"/>
                      <a:round/>
                      <a:headEnd type="none" w="med" len="med"/>
                      <a:tailEnd type="none" w="med" len="med"/>
                    </a:lnT>
                    <a:lnB w="9525" cap="flat" cmpd="sng" algn="ctr">
                      <a:solidFill>
                        <a:srgbClr val="E3D6C0"/>
                      </a:solidFill>
                      <a:prstDash val="solid"/>
                      <a:round/>
                      <a:headEnd type="none" w="med" len="med"/>
                      <a:tailEnd type="none" w="med" len="med"/>
                    </a:lnB>
                    <a:solidFill>
                      <a:srgbClr val="FFFDF8"/>
                    </a:solidFill>
                  </a:tcPr>
                </a:tc>
                <a:tc>
                  <a:txBody>
                    <a:bodyPr/>
                    <a:lstStyle/>
                    <a:p>
                      <a:pPr indent="0" marL="0">
                        <a:buNone/>
                      </a:pPr>
                      <a:r>
                        <a:rPr lang="en-US" sz="1050" b="1" dirty="0">
                          <a:solidFill>
                            <a:srgbClr val="FFFDF8"/>
                          </a:solidFill>
                          <a:latin typeface="Inter" pitchFamily="34" charset="0"/>
                          <a:ea typeface="Inter" pitchFamily="34" charset="-122"/>
                          <a:cs typeface="Inter" pitchFamily="34" charset="-120"/>
                        </a:rPr>
                        <a:t>Invalidated: control must sit with the owner</a:t>
                      </a:r>
                      <a:endParaRPr lang="en-US" sz="1050" dirty="0">
                        <a:latin typeface="Inter" charset="0"/>
                        <a:ea typeface="Inter" charset="0"/>
                        <a:cs typeface="Inter" charset="0"/>
                      </a:endParaRPr>
                    </a:p>
                  </a:txBody>
                  <a:tcPr marL="73152" marR="73152" marT="45720" marB="45720" anchor="ctr">
                    <a:lnL w="9525" cap="flat" cmpd="sng" algn="ctr">
                      <a:solidFill>
                        <a:srgbClr val="E3D6C0"/>
                      </a:solidFill>
                      <a:prstDash val="solid"/>
                      <a:round/>
                      <a:headEnd type="none" w="med" len="med"/>
                      <a:tailEnd type="none" w="med" len="med"/>
                    </a:lnL>
                    <a:lnR w="9525" cap="flat" cmpd="sng" algn="ctr">
                      <a:solidFill>
                        <a:srgbClr val="E3D6C0"/>
                      </a:solidFill>
                      <a:prstDash val="solid"/>
                      <a:round/>
                      <a:headEnd type="none" w="med" len="med"/>
                      <a:tailEnd type="none" w="med" len="med"/>
                    </a:lnR>
                    <a:lnT w="9525" cap="flat" cmpd="sng" algn="ctr">
                      <a:solidFill>
                        <a:srgbClr val="E3D6C0"/>
                      </a:solidFill>
                      <a:prstDash val="solid"/>
                      <a:round/>
                      <a:headEnd type="none" w="med" len="med"/>
                      <a:tailEnd type="none" w="med" len="med"/>
                    </a:lnT>
                    <a:lnB w="9525" cap="flat" cmpd="sng" algn="ctr">
                      <a:solidFill>
                        <a:srgbClr val="E3D6C0"/>
                      </a:solidFill>
                      <a:prstDash val="solid"/>
                      <a:round/>
                      <a:headEnd type="none" w="med" len="med"/>
                      <a:tailEnd type="none" w="med" len="med"/>
                    </a:lnB>
                    <a:solidFill>
                      <a:srgbClr val="A63D1F"/>
                    </a:solidFill>
                  </a:tcPr>
                </a:tc>
              </a:tr>
              <a:tr h="658368">
                <a:tc>
                  <a:txBody>
                    <a:bodyPr/>
                    <a:lstStyle/>
                    <a:p>
                      <a:pPr indent="0" marL="0">
                        <a:buNone/>
                      </a:pPr>
                      <a:r>
                        <a:rPr lang="en-US" sz="1050" dirty="0">
                          <a:solidFill>
                            <a:srgbClr val="1F3D2B"/>
                          </a:solidFill>
                          <a:latin typeface="Inter" pitchFamily="34" charset="0"/>
                          <a:ea typeface="Inter" pitchFamily="34" charset="-122"/>
                          <a:cs typeface="Inter" pitchFamily="34" charset="-120"/>
                        </a:rPr>
                        <a:t>University student spaces</a:t>
                      </a:r>
                      <a:endParaRPr lang="en-US" sz="1050" dirty="0">
                        <a:latin typeface="Inter" charset="0"/>
                        <a:ea typeface="Inter" charset="0"/>
                        <a:cs typeface="Inter" charset="0"/>
                      </a:endParaRPr>
                    </a:p>
                  </a:txBody>
                  <a:tcPr marL="73152" marR="73152" marT="45720" marB="45720" anchor="ctr">
                    <a:lnL w="9525" cap="flat" cmpd="sng" algn="ctr">
                      <a:solidFill>
                        <a:srgbClr val="E3D6C0"/>
                      </a:solidFill>
                      <a:prstDash val="solid"/>
                      <a:round/>
                      <a:headEnd type="none" w="med" len="med"/>
                      <a:tailEnd type="none" w="med" len="med"/>
                    </a:lnL>
                    <a:lnR w="9525" cap="flat" cmpd="sng" algn="ctr">
                      <a:solidFill>
                        <a:srgbClr val="E3D6C0"/>
                      </a:solidFill>
                      <a:prstDash val="solid"/>
                      <a:round/>
                      <a:headEnd type="none" w="med" len="med"/>
                      <a:tailEnd type="none" w="med" len="med"/>
                    </a:lnR>
                    <a:lnT w="9525" cap="flat" cmpd="sng" algn="ctr">
                      <a:solidFill>
                        <a:srgbClr val="E3D6C0"/>
                      </a:solidFill>
                      <a:prstDash val="solid"/>
                      <a:round/>
                      <a:headEnd type="none" w="med" len="med"/>
                      <a:tailEnd type="none" w="med" len="med"/>
                    </a:lnT>
                    <a:lnB w="9525" cap="flat" cmpd="sng" algn="ctr">
                      <a:solidFill>
                        <a:srgbClr val="E3D6C0"/>
                      </a:solidFill>
                      <a:prstDash val="solid"/>
                      <a:round/>
                      <a:headEnd type="none" w="med" len="med"/>
                      <a:tailEnd type="none" w="med" len="med"/>
                    </a:lnB>
                    <a:solidFill>
                      <a:srgbClr val="FFFDF8"/>
                    </a:solidFill>
                  </a:tcPr>
                </a:tc>
                <a:tc>
                  <a:txBody>
                    <a:bodyPr/>
                    <a:lstStyle/>
                    <a:p>
                      <a:pPr indent="0" marL="0">
                        <a:buNone/>
                      </a:pPr>
                      <a:r>
                        <a:rPr lang="en-US" sz="1050" dirty="0">
                          <a:solidFill>
                            <a:srgbClr val="1F3D2B"/>
                          </a:solidFill>
                          <a:latin typeface="Inter" pitchFamily="34" charset="0"/>
                          <a:ea typeface="Inter" pitchFamily="34" charset="-122"/>
                          <a:cs typeface="Inter" pitchFamily="34" charset="-120"/>
                        </a:rPr>
                        <a:t>Who used which machine</a:t>
                      </a:r>
                      <a:endParaRPr lang="en-US" sz="1050" dirty="0">
                        <a:latin typeface="Inter" charset="0"/>
                        <a:ea typeface="Inter" charset="0"/>
                        <a:cs typeface="Inter" charset="0"/>
                      </a:endParaRPr>
                    </a:p>
                  </a:txBody>
                  <a:tcPr marL="73152" marR="73152" marT="45720" marB="45720" anchor="ctr">
                    <a:lnL w="9525" cap="flat" cmpd="sng" algn="ctr">
                      <a:solidFill>
                        <a:srgbClr val="E3D6C0"/>
                      </a:solidFill>
                      <a:prstDash val="solid"/>
                      <a:round/>
                      <a:headEnd type="none" w="med" len="med"/>
                      <a:tailEnd type="none" w="med" len="med"/>
                    </a:lnL>
                    <a:lnR w="9525" cap="flat" cmpd="sng" algn="ctr">
                      <a:solidFill>
                        <a:srgbClr val="E3D6C0"/>
                      </a:solidFill>
                      <a:prstDash val="solid"/>
                      <a:round/>
                      <a:headEnd type="none" w="med" len="med"/>
                      <a:tailEnd type="none" w="med" len="med"/>
                    </a:lnR>
                    <a:lnT w="9525" cap="flat" cmpd="sng" algn="ctr">
                      <a:solidFill>
                        <a:srgbClr val="E3D6C0"/>
                      </a:solidFill>
                      <a:prstDash val="solid"/>
                      <a:round/>
                      <a:headEnd type="none" w="med" len="med"/>
                      <a:tailEnd type="none" w="med" len="med"/>
                    </a:lnT>
                    <a:lnB w="9525" cap="flat" cmpd="sng" algn="ctr">
                      <a:solidFill>
                        <a:srgbClr val="E3D6C0"/>
                      </a:solidFill>
                      <a:prstDash val="solid"/>
                      <a:round/>
                      <a:headEnd type="none" w="med" len="med"/>
                      <a:tailEnd type="none" w="med" len="med"/>
                    </a:lnB>
                    <a:solidFill>
                      <a:srgbClr val="FFFDF8"/>
                    </a:solidFill>
                  </a:tcPr>
                </a:tc>
                <a:tc>
                  <a:txBody>
                    <a:bodyPr/>
                    <a:lstStyle/>
                    <a:p>
                      <a:pPr indent="0" marL="0">
                        <a:buNone/>
                      </a:pPr>
                      <a:r>
                        <a:rPr lang="en-US" sz="1050" dirty="0">
                          <a:solidFill>
                            <a:srgbClr val="1F3D2B"/>
                          </a:solidFill>
                          <a:latin typeface="Inter" pitchFamily="34" charset="0"/>
                          <a:ea typeface="Inter" pitchFamily="34" charset="-122"/>
                          <a:cs typeface="Inter" pitchFamily="34" charset="-120"/>
                        </a:rPr>
                        <a:t>Open-access spaces need per-machine tracking</a:t>
                      </a:r>
                      <a:endParaRPr lang="en-US" sz="1050" dirty="0">
                        <a:latin typeface="Inter" charset="0"/>
                        <a:ea typeface="Inter" charset="0"/>
                        <a:cs typeface="Inter" charset="0"/>
                      </a:endParaRPr>
                    </a:p>
                  </a:txBody>
                  <a:tcPr marL="73152" marR="73152" marT="45720" marB="45720" anchor="ctr">
                    <a:lnL w="9525" cap="flat" cmpd="sng" algn="ctr">
                      <a:solidFill>
                        <a:srgbClr val="E3D6C0"/>
                      </a:solidFill>
                      <a:prstDash val="solid"/>
                      <a:round/>
                      <a:headEnd type="none" w="med" len="med"/>
                      <a:tailEnd type="none" w="med" len="med"/>
                    </a:lnL>
                    <a:lnR w="9525" cap="flat" cmpd="sng" algn="ctr">
                      <a:solidFill>
                        <a:srgbClr val="E3D6C0"/>
                      </a:solidFill>
                      <a:prstDash val="solid"/>
                      <a:round/>
                      <a:headEnd type="none" w="med" len="med"/>
                      <a:tailEnd type="none" w="med" len="med"/>
                    </a:lnR>
                    <a:lnT w="9525" cap="flat" cmpd="sng" algn="ctr">
                      <a:solidFill>
                        <a:srgbClr val="E3D6C0"/>
                      </a:solidFill>
                      <a:prstDash val="solid"/>
                      <a:round/>
                      <a:headEnd type="none" w="med" len="med"/>
                      <a:tailEnd type="none" w="med" len="med"/>
                    </a:lnT>
                    <a:lnB w="9525" cap="flat" cmpd="sng" algn="ctr">
                      <a:solidFill>
                        <a:srgbClr val="E3D6C0"/>
                      </a:solidFill>
                      <a:prstDash val="solid"/>
                      <a:round/>
                      <a:headEnd type="none" w="med" len="med"/>
                      <a:tailEnd type="none" w="med" len="med"/>
                    </a:lnB>
                    <a:solidFill>
                      <a:srgbClr val="FFFDF8"/>
                    </a:solidFill>
                  </a:tcPr>
                </a:tc>
                <a:tc>
                  <a:txBody>
                    <a:bodyPr/>
                    <a:lstStyle/>
                    <a:p>
                      <a:pPr indent="0" marL="0">
                        <a:buNone/>
                      </a:pPr>
                      <a:r>
                        <a:rPr lang="en-US" sz="1050" dirty="0">
                          <a:solidFill>
                            <a:srgbClr val="1F3D2B"/>
                          </a:solidFill>
                          <a:latin typeface="Inter" pitchFamily="34" charset="0"/>
                          <a:ea typeface="Inter" pitchFamily="34" charset="-122"/>
                          <a:cs typeface="Inter" pitchFamily="34" charset="-120"/>
                        </a:rPr>
                        <a:t>IEEE uOttawa interview</a:t>
                      </a:r>
                      <a:endParaRPr lang="en-US" sz="1050" dirty="0">
                        <a:latin typeface="Inter" charset="0"/>
                        <a:ea typeface="Inter" charset="0"/>
                        <a:cs typeface="Inter" charset="0"/>
                      </a:endParaRPr>
                    </a:p>
                  </a:txBody>
                  <a:tcPr marL="73152" marR="73152" marT="45720" marB="45720" anchor="ctr">
                    <a:lnL w="9525" cap="flat" cmpd="sng" algn="ctr">
                      <a:solidFill>
                        <a:srgbClr val="E3D6C0"/>
                      </a:solidFill>
                      <a:prstDash val="solid"/>
                      <a:round/>
                      <a:headEnd type="none" w="med" len="med"/>
                      <a:tailEnd type="none" w="med" len="med"/>
                    </a:lnL>
                    <a:lnR w="9525" cap="flat" cmpd="sng" algn="ctr">
                      <a:solidFill>
                        <a:srgbClr val="E3D6C0"/>
                      </a:solidFill>
                      <a:prstDash val="solid"/>
                      <a:round/>
                      <a:headEnd type="none" w="med" len="med"/>
                      <a:tailEnd type="none" w="med" len="med"/>
                    </a:lnR>
                    <a:lnT w="9525" cap="flat" cmpd="sng" algn="ctr">
                      <a:solidFill>
                        <a:srgbClr val="E3D6C0"/>
                      </a:solidFill>
                      <a:prstDash val="solid"/>
                      <a:round/>
                      <a:headEnd type="none" w="med" len="med"/>
                      <a:tailEnd type="none" w="med" len="med"/>
                    </a:lnT>
                    <a:lnB w="9525" cap="flat" cmpd="sng" algn="ctr">
                      <a:solidFill>
                        <a:srgbClr val="E3D6C0"/>
                      </a:solidFill>
                      <a:prstDash val="solid"/>
                      <a:round/>
                      <a:headEnd type="none" w="med" len="med"/>
                      <a:tailEnd type="none" w="med" len="med"/>
                    </a:lnB>
                    <a:solidFill>
                      <a:srgbClr val="FFFDF8"/>
                    </a:solidFill>
                  </a:tcPr>
                </a:tc>
                <a:tc>
                  <a:txBody>
                    <a:bodyPr/>
                    <a:lstStyle/>
                    <a:p>
                      <a:pPr indent="0" marL="0">
                        <a:buNone/>
                      </a:pPr>
                      <a:r>
                        <a:rPr lang="en-US" sz="1050" dirty="0">
                          <a:solidFill>
                            <a:srgbClr val="1F3D2B"/>
                          </a:solidFill>
                          <a:latin typeface="Inter" pitchFamily="34" charset="0"/>
                          <a:ea typeface="Inter" pitchFamily="34" charset="-122"/>
                          <a:cs typeface="Inter" pitchFamily="34" charset="-120"/>
                        </a:rPr>
                        <a:t>They track use per machine</a:t>
                      </a:r>
                      <a:endParaRPr lang="en-US" sz="1050" dirty="0">
                        <a:latin typeface="Inter" charset="0"/>
                        <a:ea typeface="Inter" charset="0"/>
                        <a:cs typeface="Inter" charset="0"/>
                      </a:endParaRPr>
                    </a:p>
                  </a:txBody>
                  <a:tcPr marL="73152" marR="73152" marT="45720" marB="45720" anchor="ctr">
                    <a:lnL w="9525" cap="flat" cmpd="sng" algn="ctr">
                      <a:solidFill>
                        <a:srgbClr val="E3D6C0"/>
                      </a:solidFill>
                      <a:prstDash val="solid"/>
                      <a:round/>
                      <a:headEnd type="none" w="med" len="med"/>
                      <a:tailEnd type="none" w="med" len="med"/>
                    </a:lnL>
                    <a:lnR w="9525" cap="flat" cmpd="sng" algn="ctr">
                      <a:solidFill>
                        <a:srgbClr val="E3D6C0"/>
                      </a:solidFill>
                      <a:prstDash val="solid"/>
                      <a:round/>
                      <a:headEnd type="none" w="med" len="med"/>
                      <a:tailEnd type="none" w="med" len="med"/>
                    </a:lnR>
                    <a:lnT w="9525" cap="flat" cmpd="sng" algn="ctr">
                      <a:solidFill>
                        <a:srgbClr val="E3D6C0"/>
                      </a:solidFill>
                      <a:prstDash val="solid"/>
                      <a:round/>
                      <a:headEnd type="none" w="med" len="med"/>
                      <a:tailEnd type="none" w="med" len="med"/>
                    </a:lnT>
                    <a:lnB w="9525" cap="flat" cmpd="sng" algn="ctr">
                      <a:solidFill>
                        <a:srgbClr val="E3D6C0"/>
                      </a:solidFill>
                      <a:prstDash val="solid"/>
                      <a:round/>
                      <a:headEnd type="none" w="med" len="med"/>
                      <a:tailEnd type="none" w="med" len="med"/>
                    </a:lnB>
                    <a:solidFill>
                      <a:srgbClr val="FFFDF8"/>
                    </a:solidFill>
                  </a:tcPr>
                </a:tc>
                <a:tc>
                  <a:txBody>
                    <a:bodyPr/>
                    <a:lstStyle/>
                    <a:p>
                      <a:pPr indent="0" marL="0">
                        <a:buNone/>
                      </a:pPr>
                      <a:r>
                        <a:rPr lang="en-US" sz="1050" b="1" dirty="0">
                          <a:solidFill>
                            <a:srgbClr val="FFFDF8"/>
                          </a:solidFill>
                          <a:latin typeface="Inter" pitchFamily="34" charset="0"/>
                          <a:ea typeface="Inter" pitchFamily="34" charset="-122"/>
                          <a:cs typeface="Inter" pitchFamily="34" charset="-120"/>
                        </a:rPr>
                        <a:t>Invalidated: RFID sign-in only, free equipment not tracked</a:t>
                      </a:r>
                      <a:endParaRPr lang="en-US" sz="1050" dirty="0">
                        <a:latin typeface="Inter" charset="0"/>
                        <a:ea typeface="Inter" charset="0"/>
                        <a:cs typeface="Inter" charset="0"/>
                      </a:endParaRPr>
                    </a:p>
                  </a:txBody>
                  <a:tcPr marL="73152" marR="73152" marT="45720" marB="45720" anchor="ctr">
                    <a:lnL w="9525" cap="flat" cmpd="sng" algn="ctr">
                      <a:solidFill>
                        <a:srgbClr val="E3D6C0"/>
                      </a:solidFill>
                      <a:prstDash val="solid"/>
                      <a:round/>
                      <a:headEnd type="none" w="med" len="med"/>
                      <a:tailEnd type="none" w="med" len="med"/>
                    </a:lnL>
                    <a:lnR w="9525" cap="flat" cmpd="sng" algn="ctr">
                      <a:solidFill>
                        <a:srgbClr val="E3D6C0"/>
                      </a:solidFill>
                      <a:prstDash val="solid"/>
                      <a:round/>
                      <a:headEnd type="none" w="med" len="med"/>
                      <a:tailEnd type="none" w="med" len="med"/>
                    </a:lnR>
                    <a:lnT w="9525" cap="flat" cmpd="sng" algn="ctr">
                      <a:solidFill>
                        <a:srgbClr val="E3D6C0"/>
                      </a:solidFill>
                      <a:prstDash val="solid"/>
                      <a:round/>
                      <a:headEnd type="none" w="med" len="med"/>
                      <a:tailEnd type="none" w="med" len="med"/>
                    </a:lnT>
                    <a:lnB w="9525" cap="flat" cmpd="sng" algn="ctr">
                      <a:solidFill>
                        <a:srgbClr val="E3D6C0"/>
                      </a:solidFill>
                      <a:prstDash val="solid"/>
                      <a:round/>
                      <a:headEnd type="none" w="med" len="med"/>
                      <a:tailEnd type="none" w="med" len="med"/>
                    </a:lnB>
                    <a:solidFill>
                      <a:srgbClr val="A63D1F"/>
                    </a:solidFill>
                  </a:tcPr>
                </a:tc>
              </a:tr>
            </a:tbl>
          </a:graphicData>
        </a:graphic>
      </p:graphicFrame>
      <p:sp>
        <p:nvSpPr>
          <p:cNvPr id="25" name="Slide Number Placeholder 0"/>
          <p:cNvSpPr>
            <a:spLocks noGrp="1"/>
          </p:cNvSpPr>
          <p:nvPr>
            <p:ph type="sldNum" sz="quarter" idx="4294967295"/>
          </p:nvPr>
        </p:nvSpPr>
        <p:spPr>
          <a:xfrm>
            <a:off x="1106424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5F"/>
                </a:solidFill>
                <a:latin typeface="JetBrains Mono"/>
                <a:ea typeface="JetBrains Mono"/>
                <a:cs typeface="JetBrains Mono"/>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685800" y="457200"/>
            <a:ext cx="10789920" cy="822960"/>
          </a:xfrm>
          <a:prstGeom prst="rect">
            <a:avLst/>
          </a:prstGeom>
          <a:noFill/>
          <a:ln/>
        </p:spPr>
        <p:txBody>
          <a:bodyPr wrap="square" lIns="0" tIns="0" rIns="0" bIns="0" rtlCol="0" anchor="t"/>
          <a:lstStyle/>
          <a:p>
            <a:pPr algn="l" indent="0" marL="0">
              <a:buNone/>
            </a:pPr>
            <a:r>
              <a:rPr lang="en-US" sz="3600" b="1" dirty="0">
                <a:solidFill>
                  <a:schemeClr val="tx1"/>
                </a:solidFill>
                <a:latin typeface="Space Grotesk" pitchFamily="34" charset="0"/>
                <a:ea typeface="Space Grotesk" pitchFamily="34" charset="-122"/>
                <a:cs typeface="Space Grotesk" pitchFamily="34" charset="-120"/>
              </a:rPr>
              <a:t>Q&amp;A prep</a:t>
            </a:r>
            <a:endParaRPr lang="en-US" sz="3600" dirty="0"/>
          </a:p>
        </p:txBody>
      </p:sp>
      <p:sp>
        <p:nvSpPr>
          <p:cNvPr id="3" name="Text 1"/>
          <p:cNvSpPr txBox="1"/>
          <p:nvPr/>
        </p:nvSpPr>
        <p:spPr>
          <a:xfrm>
            <a:off x="1828800" y="6355080"/>
            <a:ext cx="2743200" cy="274320"/>
          </a:xfrm>
          <a:prstGeom prst="rect">
            <a:avLst/>
          </a:prstGeom>
          <a:noFill/>
          <a:ln/>
        </p:spPr>
        <p:txBody>
          <a:bodyPr wrap="square" lIns="0" tIns="0" rIns="0" bIns="0" rtlCol="0" anchor="ctr"/>
          <a:lstStyle/>
          <a:p>
            <a:pPr indent="0" marL="0">
              <a:buNone/>
            </a:pPr>
            <a:r>
              <a:rPr lang="en-US" sz="1000" dirty="0">
                <a:solidFill>
                  <a:srgbClr val="5B6B5F"/>
                </a:solidFill>
                <a:latin typeface="JetBrains Mono" pitchFamily="34" charset="0"/>
                <a:ea typeface="JetBrains Mono" pitchFamily="34" charset="-122"/>
                <a:cs typeface="JetBrains Mono" pitchFamily="34" charset="-120"/>
              </a:rPr>
              <a:t>Appendix · for Q&amp;A</a:t>
            </a:r>
            <a:endParaRPr lang="en-US" sz="1000" dirty="0"/>
          </a:p>
        </p:txBody>
      </p:sp>
      <p:sp>
        <p:nvSpPr>
          <p:cNvPr id="5" name="Text 2"/>
          <p:cNvSpPr txBox="1"/>
          <p:nvPr/>
        </p:nvSpPr>
        <p:spPr>
          <a:xfrm>
            <a:off x="685800" y="1417320"/>
            <a:ext cx="5120640" cy="365760"/>
          </a:xfrm>
          <a:prstGeom prst="rect">
            <a:avLst/>
          </a:prstGeom>
          <a:noFill/>
          <a:ln/>
        </p:spPr>
        <p:txBody>
          <a:bodyPr wrap="square" lIns="0" tIns="0" rIns="0" bIns="0" rtlCol="0" anchor="ctr"/>
          <a:lstStyle/>
          <a:p>
            <a:pPr indent="0" marL="0">
              <a:buNone/>
            </a:pPr>
            <a:r>
              <a:rPr lang="en-US" sz="1600" b="1" dirty="0">
                <a:solidFill>
                  <a:srgbClr val="1F3D2B"/>
                </a:solidFill>
                <a:latin typeface="Space Grotesk" pitchFamily="34" charset="0"/>
                <a:ea typeface="Space Grotesk" pitchFamily="34" charset="-122"/>
                <a:cs typeface="Space Grotesk" pitchFamily="34" charset="-120"/>
              </a:rPr>
              <a:t>Why not a smart plug?</a:t>
            </a:r>
            <a:endParaRPr lang="en-US" sz="1600" dirty="0"/>
          </a:p>
        </p:txBody>
      </p:sp>
      <p:sp>
        <p:nvSpPr>
          <p:cNvPr id="6" name="Text 3"/>
          <p:cNvSpPr txBox="1"/>
          <p:nvPr/>
        </p:nvSpPr>
        <p:spPr>
          <a:xfrm>
            <a:off x="685800" y="1783080"/>
            <a:ext cx="5120640" cy="640080"/>
          </a:xfrm>
          <a:prstGeom prst="rect">
            <a:avLst/>
          </a:prstGeom>
          <a:noFill/>
          <a:ln/>
        </p:spPr>
        <p:txBody>
          <a:bodyPr wrap="square" lIns="0" tIns="0" rIns="0" bIns="0" rtlCol="0" anchor="t"/>
          <a:lstStyle/>
          <a:p>
            <a:pPr indent="0" marL="0">
              <a:buNone/>
            </a:pPr>
            <a:r>
              <a:rPr lang="en-US" sz="1300" dirty="0">
                <a:solidFill>
                  <a:srgbClr val="5B6B5F"/>
                </a:solidFill>
              </a:rPr>
              <a:t>No PIN, no per member history, no learned normal curve, and most can't carry a welder.</a:t>
            </a:r>
            <a:endParaRPr lang="en-US" sz="1300" dirty="0"/>
          </a:p>
        </p:txBody>
      </p:sp>
      <p:sp>
        <p:nvSpPr>
          <p:cNvPr id="7" name="Text 4"/>
          <p:cNvSpPr txBox="1"/>
          <p:nvPr/>
        </p:nvSpPr>
        <p:spPr>
          <a:xfrm>
            <a:off x="685800" y="2514600"/>
            <a:ext cx="5120640" cy="365760"/>
          </a:xfrm>
          <a:prstGeom prst="rect">
            <a:avLst/>
          </a:prstGeom>
          <a:noFill/>
          <a:ln/>
        </p:spPr>
        <p:txBody>
          <a:bodyPr wrap="square" lIns="0" tIns="0" rIns="0" bIns="0" rtlCol="0" anchor="ctr"/>
          <a:lstStyle/>
          <a:p>
            <a:pPr indent="0" marL="0">
              <a:buNone/>
            </a:pPr>
            <a:r>
              <a:rPr lang="en-US" sz="1600" b="1" dirty="0">
                <a:solidFill>
                  <a:srgbClr val="1F3D2B"/>
                </a:solidFill>
                <a:latin typeface="Space Grotesk" pitchFamily="34" charset="0"/>
                <a:ea typeface="Space Grotesk" pitchFamily="34" charset="-122"/>
                <a:cs typeface="Space Grotesk" pitchFamily="34" charset="-120"/>
              </a:rPr>
              <a:t>Heavy 240 V equipment?</a:t>
            </a:r>
            <a:endParaRPr lang="en-US" sz="1600" dirty="0"/>
          </a:p>
        </p:txBody>
      </p:sp>
      <p:sp>
        <p:nvSpPr>
          <p:cNvPr id="8" name="Text 5"/>
          <p:cNvSpPr txBox="1"/>
          <p:nvPr/>
        </p:nvSpPr>
        <p:spPr>
          <a:xfrm>
            <a:off x="685800" y="2880360"/>
            <a:ext cx="5120640" cy="640080"/>
          </a:xfrm>
          <a:prstGeom prst="rect">
            <a:avLst/>
          </a:prstGeom>
          <a:noFill/>
          <a:ln/>
        </p:spPr>
        <p:txBody>
          <a:bodyPr wrap="square" lIns="0" tIns="0" rIns="0" bIns="0" rtlCol="0" anchor="t"/>
          <a:lstStyle/>
          <a:p>
            <a:pPr indent="0" marL="0">
              <a:buNone/>
            </a:pPr>
            <a:r>
              <a:rPr lang="en-US" sz="1300" dirty="0">
                <a:solidFill>
                  <a:srgbClr val="5B6B5F"/>
                </a:solidFill>
              </a:rPr>
              <a:t>The box drives a contactor installed by a licensed electrician.</a:t>
            </a:r>
            <a:endParaRPr lang="en-US" sz="1300" dirty="0"/>
          </a:p>
        </p:txBody>
      </p:sp>
      <p:sp>
        <p:nvSpPr>
          <p:cNvPr id="9" name="Text 6"/>
          <p:cNvSpPr txBox="1"/>
          <p:nvPr/>
        </p:nvSpPr>
        <p:spPr>
          <a:xfrm>
            <a:off x="685800" y="3611880"/>
            <a:ext cx="5120640" cy="365760"/>
          </a:xfrm>
          <a:prstGeom prst="rect">
            <a:avLst/>
          </a:prstGeom>
          <a:noFill/>
          <a:ln/>
        </p:spPr>
        <p:txBody>
          <a:bodyPr wrap="square" lIns="0" tIns="0" rIns="0" bIns="0" rtlCol="0" anchor="ctr"/>
          <a:lstStyle/>
          <a:p>
            <a:pPr indent="0" marL="0">
              <a:buNone/>
            </a:pPr>
            <a:r>
              <a:rPr lang="en-US" sz="1600" b="1" dirty="0">
                <a:solidFill>
                  <a:srgbClr val="1F3D2B"/>
                </a:solidFill>
                <a:latin typeface="Space Grotesk" pitchFamily="34" charset="0"/>
                <a:ea typeface="Space Grotesk" pitchFamily="34" charset="-122"/>
                <a:cs typeface="Space Grotesk" pitchFamily="34" charset="-120"/>
              </a:rPr>
              <a:t>Liability for a shutdown?</a:t>
            </a:r>
            <a:endParaRPr lang="en-US" sz="1600" dirty="0"/>
          </a:p>
        </p:txBody>
      </p:sp>
      <p:sp>
        <p:nvSpPr>
          <p:cNvPr id="10" name="Text 7"/>
          <p:cNvSpPr txBox="1"/>
          <p:nvPr/>
        </p:nvSpPr>
        <p:spPr>
          <a:xfrm>
            <a:off x="685800" y="3977640"/>
            <a:ext cx="5120640" cy="640080"/>
          </a:xfrm>
          <a:prstGeom prst="rect">
            <a:avLst/>
          </a:prstGeom>
          <a:noFill/>
          <a:ln/>
        </p:spPr>
        <p:txBody>
          <a:bodyPr wrap="square" lIns="0" tIns="0" rIns="0" bIns="0" rtlCol="0" anchor="t"/>
          <a:lstStyle/>
          <a:p>
            <a:pPr indent="0" marL="0">
              <a:buNone/>
            </a:pPr>
            <a:r>
              <a:rPr lang="en-US" sz="1300" dirty="0">
                <a:solidFill>
                  <a:srgbClr val="5B6B5F"/>
                </a:solidFill>
              </a:rPr>
              <a:t>The owner decides, every shutdown is logged, nothing restarts on its own.</a:t>
            </a:r>
            <a:endParaRPr lang="en-US" sz="1300" dirty="0"/>
          </a:p>
        </p:txBody>
      </p:sp>
      <p:sp>
        <p:nvSpPr>
          <p:cNvPr id="11" name="Text 8"/>
          <p:cNvSpPr txBox="1"/>
          <p:nvPr/>
        </p:nvSpPr>
        <p:spPr>
          <a:xfrm>
            <a:off x="685800" y="4709160"/>
            <a:ext cx="5120640" cy="365760"/>
          </a:xfrm>
          <a:prstGeom prst="rect">
            <a:avLst/>
          </a:prstGeom>
          <a:noFill/>
          <a:ln/>
        </p:spPr>
        <p:txBody>
          <a:bodyPr wrap="square" lIns="0" tIns="0" rIns="0" bIns="0" rtlCol="0" anchor="ctr"/>
          <a:lstStyle/>
          <a:p>
            <a:pPr indent="0" marL="0">
              <a:buNone/>
            </a:pPr>
            <a:r>
              <a:rPr lang="en-US" sz="1600" b="1" dirty="0">
                <a:solidFill>
                  <a:srgbClr val="1F3D2B"/>
                </a:solidFill>
                <a:latin typeface="Space Grotesk" pitchFamily="34" charset="0"/>
                <a:ea typeface="Space Grotesk" pitchFamily="34" charset="-122"/>
                <a:cs typeface="Space Grotesk" pitchFamily="34" charset="-120"/>
              </a:rPr>
              <a:t>How does it know normal?</a:t>
            </a:r>
            <a:endParaRPr lang="en-US" sz="1600" dirty="0"/>
          </a:p>
        </p:txBody>
      </p:sp>
      <p:sp>
        <p:nvSpPr>
          <p:cNvPr id="12" name="Text 9"/>
          <p:cNvSpPr txBox="1"/>
          <p:nvPr/>
        </p:nvSpPr>
        <p:spPr>
          <a:xfrm>
            <a:off x="685800" y="5074920"/>
            <a:ext cx="5120640" cy="640080"/>
          </a:xfrm>
          <a:prstGeom prst="rect">
            <a:avLst/>
          </a:prstGeom>
          <a:noFill/>
          <a:ln/>
        </p:spPr>
        <p:txBody>
          <a:bodyPr wrap="square" lIns="0" tIns="0" rIns="0" bIns="0" rtlCol="0" anchor="t"/>
          <a:lstStyle/>
          <a:p>
            <a:pPr indent="0" marL="0">
              <a:buNone/>
            </a:pPr>
            <a:r>
              <a:rPr lang="en-US" sz="1300" dirty="0">
                <a:solidFill>
                  <a:srgbClr val="5B6B5F"/>
                </a:solidFill>
              </a:rPr>
              <a:t>About 7 days of the machine's own current, then it flags sustained changes.</a:t>
            </a:r>
            <a:endParaRPr lang="en-US" sz="1300" dirty="0"/>
          </a:p>
        </p:txBody>
      </p:sp>
      <p:sp>
        <p:nvSpPr>
          <p:cNvPr id="13" name="Text 10"/>
          <p:cNvSpPr txBox="1"/>
          <p:nvPr/>
        </p:nvSpPr>
        <p:spPr>
          <a:xfrm>
            <a:off x="6172200" y="1417320"/>
            <a:ext cx="5120640" cy="365760"/>
          </a:xfrm>
          <a:prstGeom prst="rect">
            <a:avLst/>
          </a:prstGeom>
          <a:noFill/>
          <a:ln/>
        </p:spPr>
        <p:txBody>
          <a:bodyPr wrap="square" lIns="0" tIns="0" rIns="0" bIns="0" rtlCol="0" anchor="ctr"/>
          <a:lstStyle/>
          <a:p>
            <a:pPr indent="0" marL="0">
              <a:buNone/>
            </a:pPr>
            <a:r>
              <a:rPr lang="en-US" sz="1600" b="1" dirty="0">
                <a:solidFill>
                  <a:srgbClr val="1F3D2B"/>
                </a:solidFill>
                <a:latin typeface="Space Grotesk" pitchFamily="34" charset="0"/>
                <a:ea typeface="Space Grotesk" pitchFamily="34" charset="-122"/>
                <a:cs typeface="Space Grotesk" pitchFamily="34" charset="-120"/>
              </a:rPr>
              <a:t>Can a non-profit pay $25?</a:t>
            </a:r>
            <a:endParaRPr lang="en-US" sz="1600" dirty="0"/>
          </a:p>
        </p:txBody>
      </p:sp>
      <p:sp>
        <p:nvSpPr>
          <p:cNvPr id="14" name="Text 11"/>
          <p:cNvSpPr txBox="1"/>
          <p:nvPr/>
        </p:nvSpPr>
        <p:spPr>
          <a:xfrm>
            <a:off x="6172200" y="1783080"/>
            <a:ext cx="5120640" cy="640080"/>
          </a:xfrm>
          <a:prstGeom prst="rect">
            <a:avLst/>
          </a:prstGeom>
          <a:noFill/>
          <a:ln/>
        </p:spPr>
        <p:txBody>
          <a:bodyPr wrap="square" lIns="0" tIns="0" rIns="0" bIns="0" rtlCol="0" anchor="t"/>
          <a:lstStyle/>
          <a:p>
            <a:pPr indent="0" marL="0">
              <a:buNone/>
            </a:pPr>
            <a:r>
              <a:rPr lang="en-US" sz="1300" dirty="0">
                <a:solidFill>
                  <a:srgbClr val="5B6B5F"/>
                </a:solidFill>
              </a:rPr>
              <a:t>One avoided emergency call ($754) covers about 2.5 machine-years. Price still to validate.</a:t>
            </a:r>
            <a:endParaRPr lang="en-US" sz="1300" dirty="0"/>
          </a:p>
        </p:txBody>
      </p:sp>
      <p:sp>
        <p:nvSpPr>
          <p:cNvPr id="15" name="Text 12"/>
          <p:cNvSpPr txBox="1"/>
          <p:nvPr/>
        </p:nvSpPr>
        <p:spPr>
          <a:xfrm>
            <a:off x="6172200" y="2514600"/>
            <a:ext cx="5120640" cy="365760"/>
          </a:xfrm>
          <a:prstGeom prst="rect">
            <a:avLst/>
          </a:prstGeom>
          <a:noFill/>
          <a:ln/>
        </p:spPr>
        <p:txBody>
          <a:bodyPr wrap="square" lIns="0" tIns="0" rIns="0" bIns="0" rtlCol="0" anchor="ctr"/>
          <a:lstStyle/>
          <a:p>
            <a:pPr indent="0" marL="0">
              <a:buNone/>
            </a:pPr>
            <a:r>
              <a:rPr lang="en-US" sz="1600" b="1" dirty="0">
                <a:solidFill>
                  <a:srgbClr val="1F3D2B"/>
                </a:solidFill>
                <a:latin typeface="Space Grotesk" pitchFamily="34" charset="0"/>
                <a:ea typeface="Space Grotesk" pitchFamily="34" charset="-122"/>
                <a:cs typeface="Space Grotesk" pitchFamily="34" charset="-120"/>
              </a:rPr>
              <a:t>Versus Fabman?</a:t>
            </a:r>
            <a:endParaRPr lang="en-US" sz="1600" dirty="0"/>
          </a:p>
        </p:txBody>
      </p:sp>
      <p:sp>
        <p:nvSpPr>
          <p:cNvPr id="16" name="Text 13"/>
          <p:cNvSpPr txBox="1"/>
          <p:nvPr/>
        </p:nvSpPr>
        <p:spPr>
          <a:xfrm>
            <a:off x="6172200" y="2880360"/>
            <a:ext cx="5120640" cy="640080"/>
          </a:xfrm>
          <a:prstGeom prst="rect">
            <a:avLst/>
          </a:prstGeom>
          <a:noFill/>
          <a:ln/>
        </p:spPr>
        <p:txBody>
          <a:bodyPr wrap="square" lIns="0" tIns="0" rIns="0" bIns="0" rtlCol="0" anchor="t"/>
          <a:lstStyle/>
          <a:p>
            <a:pPr indent="0" marL="0">
              <a:buNone/>
            </a:pPr>
            <a:r>
              <a:rPr lang="en-US" sz="1300" dirty="0">
                <a:solidFill>
                  <a:srgbClr val="5B6B5F"/>
                </a:solidFill>
              </a:rPr>
              <a:t>Fabman knows who switched it on. We add machine health, idle and technicians.</a:t>
            </a:r>
            <a:endParaRPr lang="en-US" sz="1300" dirty="0"/>
          </a:p>
        </p:txBody>
      </p:sp>
      <p:sp>
        <p:nvSpPr>
          <p:cNvPr id="17" name="Text 14"/>
          <p:cNvSpPr txBox="1"/>
          <p:nvPr/>
        </p:nvSpPr>
        <p:spPr>
          <a:xfrm>
            <a:off x="6172200" y="3611880"/>
            <a:ext cx="5120640" cy="365760"/>
          </a:xfrm>
          <a:prstGeom prst="rect">
            <a:avLst/>
          </a:prstGeom>
          <a:noFill/>
          <a:ln/>
        </p:spPr>
        <p:txBody>
          <a:bodyPr wrap="square" lIns="0" tIns="0" rIns="0" bIns="0" rtlCol="0" anchor="ctr"/>
          <a:lstStyle/>
          <a:p>
            <a:pPr indent="0" marL="0">
              <a:buNone/>
            </a:pPr>
            <a:r>
              <a:rPr lang="en-US" sz="1600" b="1" dirty="0">
                <a:solidFill>
                  <a:srgbClr val="1F3D2B"/>
                </a:solidFill>
                <a:latin typeface="Space Grotesk" pitchFamily="34" charset="0"/>
                <a:ea typeface="Space Grotesk" pitchFamily="34" charset="-122"/>
                <a:cs typeface="Space Grotesk" pitchFamily="34" charset="-120"/>
              </a:rPr>
              <a:t>What did interviews change?</a:t>
            </a:r>
            <a:endParaRPr lang="en-US" sz="1600" dirty="0"/>
          </a:p>
        </p:txBody>
      </p:sp>
      <p:sp>
        <p:nvSpPr>
          <p:cNvPr id="18" name="Text 15"/>
          <p:cNvSpPr txBox="1"/>
          <p:nvPr/>
        </p:nvSpPr>
        <p:spPr>
          <a:xfrm>
            <a:off x="6172200" y="3977640"/>
            <a:ext cx="5120640" cy="640080"/>
          </a:xfrm>
          <a:prstGeom prst="rect">
            <a:avLst/>
          </a:prstGeom>
          <a:noFill/>
          <a:ln/>
        </p:spPr>
        <p:txBody>
          <a:bodyPr wrap="square" lIns="0" tIns="0" rIns="0" bIns="0" rtlCol="0" anchor="t"/>
          <a:lstStyle/>
          <a:p>
            <a:pPr indent="0" marL="0">
              <a:buNone/>
            </a:pPr>
            <a:r>
              <a:rPr lang="en-US" sz="1300" dirty="0">
                <a:solidFill>
                  <a:srgbClr val="5B6B5F"/>
                </a:solidFill>
              </a:rPr>
              <a:t>Every owner we asked bundles electricity into rent, so we dropped per-user billing as the headline and made predictive maintenance the core.</a:t>
            </a:r>
            <a:endParaRPr lang="en-US" sz="1300" dirty="0"/>
          </a:p>
        </p:txBody>
      </p:sp>
      <p:sp>
        <p:nvSpPr>
          <p:cNvPr id="19" name="Text 16"/>
          <p:cNvSpPr txBox="1"/>
          <p:nvPr/>
        </p:nvSpPr>
        <p:spPr>
          <a:xfrm>
            <a:off x="6172200" y="4846320"/>
            <a:ext cx="5120640" cy="274320"/>
          </a:xfrm>
          <a:prstGeom prst="rect">
            <a:avLst/>
          </a:prstGeom>
          <a:noFill/>
          <a:ln/>
        </p:spPr>
        <p:txBody>
          <a:bodyPr wrap="square" lIns="0" tIns="0" rIns="0" bIns="0" rtlCol="0" anchor="ctr"/>
          <a:lstStyle/>
          <a:p>
            <a:pPr indent="0" marL="0">
              <a:buNone/>
            </a:pPr>
            <a:r>
              <a:rPr lang="en-US" sz="1100" dirty="0">
                <a:solidFill>
                  <a:srgbClr val="5B6B5F"/>
                </a:solidFill>
              </a:rPr>
              <a:t>Full answers in the speaker notes.</a:t>
            </a:r>
            <a:endParaRPr lang="en-US" sz="1100" dirty="0"/>
          </a:p>
        </p:txBody>
      </p:sp>
      <p:sp>
        <p:nvSpPr>
          <p:cNvPr id="25" name="Slide Number Placeholder 0"/>
          <p:cNvSpPr>
            <a:spLocks noGrp="1"/>
          </p:cNvSpPr>
          <p:nvPr>
            <p:ph type="sldNum" sz="quarter" idx="4294967295"/>
          </p:nvPr>
        </p:nvSpPr>
        <p:spPr>
          <a:xfrm>
            <a:off x="1106424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5F"/>
                </a:solidFill>
                <a:latin typeface="JetBrains Mono"/>
                <a:ea typeface="JetBrains Mono"/>
                <a:cs typeface="JetBrains Mono"/>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685800" y="457200"/>
            <a:ext cx="10789920" cy="822960"/>
          </a:xfrm>
          <a:prstGeom prst="rect">
            <a:avLst/>
          </a:prstGeom>
          <a:noFill/>
          <a:ln/>
        </p:spPr>
        <p:txBody>
          <a:bodyPr wrap="square" lIns="0" tIns="0" rIns="0" bIns="0" rtlCol="0" anchor="t"/>
          <a:lstStyle/>
          <a:p>
            <a:pPr algn="l" indent="0" marL="0">
              <a:buNone/>
            </a:pPr>
            <a:r>
              <a:rPr lang="en-US" sz="3600" b="1" dirty="0">
                <a:solidFill>
                  <a:schemeClr val="tx1"/>
                </a:solidFill>
                <a:latin typeface="Space Grotesk" pitchFamily="34" charset="0"/>
                <a:ea typeface="Space Grotesk" pitchFamily="34" charset="-122"/>
                <a:cs typeface="Space Grotesk" pitchFamily="34" charset="-120"/>
              </a:rPr>
              <a:t>Sources</a:t>
            </a:r>
            <a:endParaRPr lang="en-US" sz="3600" dirty="0"/>
          </a:p>
        </p:txBody>
      </p:sp>
      <p:sp>
        <p:nvSpPr>
          <p:cNvPr id="3" name="Text 1"/>
          <p:cNvSpPr txBox="1"/>
          <p:nvPr/>
        </p:nvSpPr>
        <p:spPr>
          <a:xfrm>
            <a:off x="1828800" y="6355080"/>
            <a:ext cx="2743200" cy="274320"/>
          </a:xfrm>
          <a:prstGeom prst="rect">
            <a:avLst/>
          </a:prstGeom>
          <a:noFill/>
          <a:ln/>
        </p:spPr>
        <p:txBody>
          <a:bodyPr wrap="square" lIns="0" tIns="0" rIns="0" bIns="0" rtlCol="0" anchor="ctr"/>
          <a:lstStyle/>
          <a:p>
            <a:pPr indent="0" marL="0">
              <a:buNone/>
            </a:pPr>
            <a:r>
              <a:rPr lang="en-US" sz="1000" dirty="0">
                <a:solidFill>
                  <a:srgbClr val="5B6B5F"/>
                </a:solidFill>
                <a:latin typeface="JetBrains Mono" pitchFamily="34" charset="0"/>
                <a:ea typeface="JetBrains Mono" pitchFamily="34" charset="-122"/>
                <a:cs typeface="JetBrains Mono" pitchFamily="34" charset="-120"/>
              </a:rPr>
              <a:t>Appendix · for Q&amp;A</a:t>
            </a:r>
            <a:endParaRPr lang="en-US" sz="1000" dirty="0"/>
          </a:p>
        </p:txBody>
      </p:sp>
      <p:sp>
        <p:nvSpPr>
          <p:cNvPr id="5" name="Text 2"/>
          <p:cNvSpPr txBox="1"/>
          <p:nvPr/>
        </p:nvSpPr>
        <p:spPr>
          <a:xfrm>
            <a:off x="685800" y="1463040"/>
            <a:ext cx="10789920" cy="438912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rgbClr val="1F3D2B"/>
                </a:solidFill>
              </a:rPr>
              <a:t>Group 10 interviews, Oct 21 to 23, 2026 (makerspace, two shared kitchens, manufacturing, café staff, university student office). Quotes anonymized.</a:t>
            </a:r>
            <a:endParaRPr lang="en-US" sz="1400" dirty="0"/>
          </a:p>
          <a:p>
            <a:pPr marL="342900" indent="-342900">
              <a:spcAft>
                <a:spcPts val="1000"/>
              </a:spcAft>
              <a:buSzPct val="100000"/>
              <a:buChar char="•"/>
            </a:pPr>
            <a:r>
              <a:rPr lang="en-US" sz="1400" dirty="0">
                <a:solidFill>
                  <a:srgbClr val="1F3D2B"/>
                </a:solidFill>
              </a:rPr>
              <a:t>Emergency repair call average, $754: 86 Repairs, 2024, via Envigilance.</a:t>
            </a:r>
            <a:endParaRPr lang="en-US" sz="1400" dirty="0"/>
          </a:p>
          <a:p>
            <a:pPr marL="342900" indent="-342900">
              <a:spcAft>
                <a:spcPts val="1000"/>
              </a:spcAft>
              <a:buSzPct val="100000"/>
              <a:buChar char="•"/>
            </a:pPr>
            <a:r>
              <a:rPr lang="en-US" sz="1400" dirty="0">
                <a:solidFill>
                  <a:srgbClr val="1F3D2B"/>
                </a:solidFill>
              </a:rPr>
              <a:t>31 shared-use commercial kitchens in Ontario: poidata.io, August 2025.</a:t>
            </a:r>
            <a:endParaRPr lang="en-US" sz="1400" dirty="0"/>
          </a:p>
          <a:p>
            <a:pPr marL="342900" indent="-342900">
              <a:spcAft>
                <a:spcPts val="1000"/>
              </a:spcAft>
              <a:buSzPct val="100000"/>
              <a:buChar char="•"/>
            </a:pPr>
            <a:r>
              <a:rPr lang="en-US" sz="1400" dirty="0">
                <a:solidFill>
                  <a:srgbClr val="1F3D2B"/>
                </a:solidFill>
              </a:rPr>
              <a:t>Predictive maintenance saves about 30 to 40% versus reactive maintenance: U.S. Department of Energy, Operations &amp; Maintenance Best Practices Guide.</a:t>
            </a:r>
            <a:endParaRPr lang="en-US" sz="1400" dirty="0"/>
          </a:p>
          <a:p>
            <a:pPr marL="342900" indent="-342900">
              <a:spcAft>
                <a:spcPts val="1000"/>
              </a:spcAft>
              <a:buSzPct val="100000"/>
              <a:buChar char="•"/>
            </a:pPr>
            <a:r>
              <a:rPr lang="en-US" sz="1400" dirty="0">
                <a:solidFill>
                  <a:srgbClr val="1F3D2B"/>
                </a:solidFill>
              </a:rPr>
              <a:t>Restaurants use 5 to 7 times more energy per square foot than other commercial buildings: ENERGY STAR.</a:t>
            </a:r>
            <a:endParaRPr lang="en-US" sz="1400" dirty="0"/>
          </a:p>
          <a:p>
            <a:pPr marL="342900" indent="-342900">
              <a:spcAft>
                <a:spcPts val="1000"/>
              </a:spcAft>
              <a:buSzPct val="100000"/>
              <a:buChar char="•"/>
            </a:pPr>
            <a:r>
              <a:rPr lang="en-US" sz="1400" dirty="0">
                <a:solidFill>
                  <a:srgbClr val="1F3D2B"/>
                </a:solidFill>
              </a:rPr>
              <a:t>Competitor prices: Skedda, Fabman, Emporia and MachineMetrics public pricing, from our competitor research.</a:t>
            </a:r>
            <a:endParaRPr lang="en-US" sz="1400" dirty="0"/>
          </a:p>
          <a:p>
            <a:pPr marL="342900" indent="-342900">
              <a:spcAft>
                <a:spcPts val="1000"/>
              </a:spcAft>
              <a:buSzPct val="100000"/>
              <a:buChar char="•"/>
            </a:pPr>
            <a:r>
              <a:rPr lang="en-US" sz="1400" dirty="0">
                <a:solidFill>
                  <a:srgbClr val="1F3D2B"/>
                </a:solidFill>
              </a:rPr>
              <a:t>Prices for PREVUMO ($300 box, $25 per machine per month) are assumptions to validate.</a:t>
            </a:r>
            <a:endParaRPr lang="en-US" sz="1400" dirty="0"/>
          </a:p>
        </p:txBody>
      </p:sp>
      <p:sp>
        <p:nvSpPr>
          <p:cNvPr id="25" name="Slide Number Placeholder 0"/>
          <p:cNvSpPr>
            <a:spLocks noGrp="1"/>
          </p:cNvSpPr>
          <p:nvPr>
            <p:ph type="sldNum" sz="quarter" idx="4294967295"/>
          </p:nvPr>
        </p:nvSpPr>
        <p:spPr>
          <a:xfrm>
            <a:off x="1106424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5F"/>
                </a:solidFill>
                <a:latin typeface="JetBrains Mono"/>
                <a:ea typeface="JetBrains Mono"/>
                <a:cs typeface="JetBrains Mono"/>
              </a:defRPr>
            </a:lvl1pPr>
          </a:lstStyle>
          <a:p>
            <a:pPr algn="r"/>
            <a:fld id="{F7021451-1387-4CA6-816F-3879F97B5CBC}" type="slidenum">
              <a:rPr b="0" lang="en-US"/>
              <a:t>16</a:t>
            </a:fld>
            <a:endParaRPr lang="en-US"/>
          </a:p>
        </p:txBody>
      </p:sp>
    </p:spTree>
  </p:cSld>
  <p:clrMapOvr>
    <a:masterClrMapping/>
  </p:clrMapOvr>
</p:sld>
</file>

<file path=ppt/theme/theme1.xml><?xml version="1.0" encoding="utf-8"?>
<a:theme xmlns:a="http://schemas.openxmlformats.org/drawingml/2006/main" name="PREVUMO Field notes">
  <a:themeElements>
    <a:clrScheme name="PREVUMO Field notes">
      <a:dk1>
        <a:srgbClr val="1F3D2B"/>
      </a:dk1>
      <a:lt1>
        <a:srgbClr val="FFFDF8"/>
      </a:lt1>
      <a:dk2>
        <a:srgbClr val="5B6B5F"/>
      </a:dk2>
      <a:lt2>
        <a:srgbClr val="F3EBDD"/>
      </a:lt2>
      <a:accent1>
        <a:srgbClr val="2F6B45"/>
      </a:accent1>
      <a:accent2>
        <a:srgbClr val="E07A2E"/>
      </a:accent2>
      <a:accent3>
        <a:srgbClr val="A63D1F"/>
      </a:accent3>
      <a:accent4>
        <a:srgbClr val="D6E4D3"/>
      </a:accent4>
      <a:accent5>
        <a:srgbClr val="F6D2B4"/>
      </a:accent5>
      <a:accent6>
        <a:srgbClr val="EDE4D3"/>
      </a:accent6>
      <a:hlink>
        <a:srgbClr val="2F6B45"/>
      </a:hlink>
      <a:folHlink>
        <a:srgbClr val="5B6B5F"/>
      </a:folHlink>
    </a:clrScheme>
    <a:fontScheme name="PREVUMO Field notes">
      <a:majorFont>
        <a:latin typeface="Space Grotes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Group 10</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PREVUMO pitch, GNG4120 Group 10</dc:title>
  <dc:subject>PptxGenJS Presentation</dc:subject>
  <dc:creator>Group 10</dc:creator>
  <cp:lastModifiedBy>Group 10</cp:lastModifiedBy>
  <cp:revision>1</cp:revision>
  <dcterms:created xsi:type="dcterms:W3CDTF">2026-10-23T18:51:54Z</dcterms:created>
  <dcterms:modified xsi:type="dcterms:W3CDTF">2026-10-23T18:51:54Z</dcterms:modified>
</cp:coreProperties>
</file>